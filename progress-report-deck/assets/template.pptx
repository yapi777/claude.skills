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23"/>
  </p:notesMasterIdLst>
  <p:handoutMasterIdLst>
    <p:handoutMasterId r:id="rId24"/>
  </p:handoutMasterIdLst>
  <p:sldIdLst>
    <p:sldId id="256" r:id="rId2"/>
    <p:sldId id="317" r:id="rId3"/>
    <p:sldId id="298" r:id="rId4"/>
    <p:sldId id="257" r:id="rId5"/>
    <p:sldId id="258" r:id="rId6"/>
    <p:sldId id="280" r:id="rId7"/>
    <p:sldId id="309" r:id="rId8"/>
    <p:sldId id="299" r:id="rId9"/>
    <p:sldId id="302" r:id="rId10"/>
    <p:sldId id="311" r:id="rId11"/>
    <p:sldId id="314" r:id="rId12"/>
    <p:sldId id="315" r:id="rId13"/>
    <p:sldId id="293" r:id="rId14"/>
    <p:sldId id="316" r:id="rId15"/>
    <p:sldId id="275" r:id="rId16"/>
    <p:sldId id="274" r:id="rId17"/>
    <p:sldId id="294" r:id="rId18"/>
    <p:sldId id="295" r:id="rId19"/>
    <p:sldId id="296" r:id="rId20"/>
    <p:sldId id="306" r:id="rId21"/>
    <p:sldId id="297"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F33531C-E25E-199D-4B0C-1E0FB7CAE4F1}" name="yuuma kuga" initials="yk" userId="36a6d1792890f8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68" autoAdjust="0"/>
    <p:restoredTop sz="94788" autoAdjust="0"/>
  </p:normalViewPr>
  <p:slideViewPr>
    <p:cSldViewPr snapToGrid="0">
      <p:cViewPr varScale="1">
        <p:scale>
          <a:sx n="61" d="100"/>
          <a:sy n="61" d="100"/>
        </p:scale>
        <p:origin x="60" y="124"/>
      </p:cViewPr>
      <p:guideLst/>
    </p:cSldViewPr>
  </p:slid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宇田川 泰 (学生)" userId="18991025997_tp_box_2" providerId="OAuth2" clId="{D72B6C62-1254-4BBE-B1A7-791E01AE98A3}"/>
    <pc:docChg chg="custSel delSld modSld">
      <pc:chgData name="宇田川 泰 (学生)" userId="18991025997_tp_box_2" providerId="OAuth2" clId="{D72B6C62-1254-4BBE-B1A7-791E01AE98A3}" dt="2026-04-20T04:35:26.593" v="394" actId="47"/>
      <pc:docMkLst>
        <pc:docMk/>
      </pc:docMkLst>
      <pc:sldChg chg="modSp mod">
        <pc:chgData name="宇田川 泰 (学生)" userId="18991025997_tp_box_2" providerId="OAuth2" clId="{D72B6C62-1254-4BBE-B1A7-791E01AE98A3}" dt="2026-04-20T04:35:04.013" v="389" actId="20577"/>
        <pc:sldMkLst>
          <pc:docMk/>
          <pc:sldMk cId="2129998457" sldId="280"/>
        </pc:sldMkLst>
        <pc:spChg chg="mod">
          <ac:chgData name="宇田川 泰 (学生)" userId="18991025997_tp_box_2" providerId="OAuth2" clId="{D72B6C62-1254-4BBE-B1A7-791E01AE98A3}" dt="2026-04-20T04:35:04.013" v="389" actId="20577"/>
          <ac:spMkLst>
            <pc:docMk/>
            <pc:sldMk cId="2129998457" sldId="280"/>
            <ac:spMk id="18" creationId="{78401294-43AD-76BF-81F0-01485936DA40}"/>
          </ac:spMkLst>
        </pc:spChg>
      </pc:sldChg>
      <pc:sldChg chg="modSp mod">
        <pc:chgData name="宇田川 泰 (学生)" userId="18991025997_tp_box_2" providerId="OAuth2" clId="{D72B6C62-1254-4BBE-B1A7-791E01AE98A3}" dt="2026-04-20T04:34:10.171" v="245" actId="20577"/>
        <pc:sldMkLst>
          <pc:docMk/>
          <pc:sldMk cId="2767840610" sldId="298"/>
        </pc:sldMkLst>
        <pc:spChg chg="mod">
          <ac:chgData name="宇田川 泰 (学生)" userId="18991025997_tp_box_2" providerId="OAuth2" clId="{D72B6C62-1254-4BBE-B1A7-791E01AE98A3}" dt="2026-04-20T04:34:10.171" v="245" actId="20577"/>
          <ac:spMkLst>
            <pc:docMk/>
            <pc:sldMk cId="2767840610" sldId="298"/>
            <ac:spMk id="3" creationId="{FFA8CDB6-48B5-C48B-D192-B65CF7A73D0F}"/>
          </ac:spMkLst>
        </pc:spChg>
      </pc:sldChg>
      <pc:sldChg chg="del">
        <pc:chgData name="宇田川 泰 (学生)" userId="18991025997_tp_box_2" providerId="OAuth2" clId="{D72B6C62-1254-4BBE-B1A7-791E01AE98A3}" dt="2026-04-20T04:35:08.817" v="390" actId="47"/>
        <pc:sldMkLst>
          <pc:docMk/>
          <pc:sldMk cId="3102712454" sldId="307"/>
        </pc:sldMkLst>
      </pc:sldChg>
      <pc:sldChg chg="del">
        <pc:chgData name="宇田川 泰 (学生)" userId="18991025997_tp_box_2" providerId="OAuth2" clId="{D72B6C62-1254-4BBE-B1A7-791E01AE98A3}" dt="2026-04-20T04:35:10.458" v="391" actId="47"/>
        <pc:sldMkLst>
          <pc:docMk/>
          <pc:sldMk cId="1512418842" sldId="308"/>
        </pc:sldMkLst>
      </pc:sldChg>
      <pc:sldChg chg="del">
        <pc:chgData name="宇田川 泰 (学生)" userId="18991025997_tp_box_2" providerId="OAuth2" clId="{D72B6C62-1254-4BBE-B1A7-791E01AE98A3}" dt="2026-04-20T04:35:12.210" v="392" actId="47"/>
        <pc:sldMkLst>
          <pc:docMk/>
          <pc:sldMk cId="2336861236" sldId="310"/>
        </pc:sldMkLst>
      </pc:sldChg>
      <pc:sldChg chg="del">
        <pc:chgData name="宇田川 泰 (学生)" userId="18991025997_tp_box_2" providerId="OAuth2" clId="{D72B6C62-1254-4BBE-B1A7-791E01AE98A3}" dt="2026-04-20T04:35:26.593" v="394" actId="47"/>
        <pc:sldMkLst>
          <pc:docMk/>
          <pc:sldMk cId="1732037861" sldId="312"/>
        </pc:sldMkLst>
      </pc:sldChg>
      <pc:sldChg chg="del">
        <pc:chgData name="宇田川 泰 (学生)" userId="18991025997_tp_box_2" providerId="OAuth2" clId="{D72B6C62-1254-4BBE-B1A7-791E01AE98A3}" dt="2026-04-20T04:35:24.368" v="393" actId="47"/>
        <pc:sldMkLst>
          <pc:docMk/>
          <pc:sldMk cId="80318298" sldId="313"/>
        </pc:sldMkLst>
      </pc:sldChg>
      <pc:sldChg chg="del">
        <pc:chgData name="宇田川 泰 (学生)" userId="18991025997_tp_box_2" providerId="OAuth2" clId="{D72B6C62-1254-4BBE-B1A7-791E01AE98A3}" dt="2026-04-20T04:32:33.326" v="0" actId="47"/>
        <pc:sldMkLst>
          <pc:docMk/>
          <pc:sldMk cId="889437300" sldId="31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F0D112BD-0861-0707-4ECE-B316E25DFE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FF17C018-42EF-48EF-F131-F04919C1FF8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DBD9A6-F313-4041-B99E-22BE69FF9555}" type="datetimeFigureOut">
              <a:rPr kumimoji="1" lang="ja-JP" altLang="en-US" smtClean="0"/>
              <a:t>2026/9/11</a:t>
            </a:fld>
            <a:endParaRPr kumimoji="1" lang="ja-JP" altLang="en-US"/>
          </a:p>
        </p:txBody>
      </p:sp>
      <p:sp>
        <p:nvSpPr>
          <p:cNvPr id="4" name="フッター プレースホルダー 3">
            <a:extLst>
              <a:ext uri="{FF2B5EF4-FFF2-40B4-BE49-F238E27FC236}">
                <a16:creationId xmlns:a16="http://schemas.microsoft.com/office/drawing/2014/main" id="{6D6ECE85-68D3-029F-C05C-72B8D264A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BBE1AE14-02B9-B072-B250-FCD7ADFBE8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559E34-D119-4E08-B138-6791D52E1BFF}" type="slidenum">
              <a:rPr kumimoji="1" lang="ja-JP" altLang="en-US" smtClean="0"/>
              <a:t>‹#›</a:t>
            </a:fld>
            <a:endParaRPr kumimoji="1" lang="ja-JP" altLang="en-US"/>
          </a:p>
        </p:txBody>
      </p:sp>
    </p:spTree>
    <p:extLst>
      <p:ext uri="{BB962C8B-B14F-4D97-AF65-F5344CB8AC3E}">
        <p14:creationId xmlns:p14="http://schemas.microsoft.com/office/powerpoint/2010/main" val="3438541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0E59FC-6738-4944-A1A7-6757FEC6F068}" type="datetimeFigureOut">
              <a:rPr kumimoji="1" lang="ja-JP" altLang="en-US" smtClean="0"/>
              <a:t>2026/9/11</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97D024-F610-4D0F-B9F2-6DBB36D76914}" type="slidenum">
              <a:rPr kumimoji="1" lang="ja-JP" altLang="en-US" smtClean="0"/>
              <a:t>‹#›</a:t>
            </a:fld>
            <a:endParaRPr kumimoji="1" lang="ja-JP" altLang="en-US"/>
          </a:p>
        </p:txBody>
      </p:sp>
    </p:spTree>
    <p:extLst>
      <p:ext uri="{BB962C8B-B14F-4D97-AF65-F5344CB8AC3E}">
        <p14:creationId xmlns:p14="http://schemas.microsoft.com/office/powerpoint/2010/main" val="6085328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それでは粒子追跡における不確実性を考慮した</a:t>
            </a:r>
            <a:r>
              <a:rPr kumimoji="1" lang="en-US" altLang="ja-JP" dirty="0"/>
              <a:t>GPR</a:t>
            </a:r>
            <a:r>
              <a:rPr kumimoji="1" lang="ja-JP" altLang="en-US" dirty="0"/>
              <a:t>に基づくトラック再構築手法の検討と題しまして、東京理科大学、電子システム工学科</a:t>
            </a:r>
            <a:r>
              <a:rPr kumimoji="1" lang="en-US" altLang="ja-JP" dirty="0"/>
              <a:t>b4</a:t>
            </a:r>
            <a:r>
              <a:rPr kumimoji="1" lang="ja-JP" altLang="en-US" dirty="0"/>
              <a:t>の宇田川泰から発表させていただきます。</a:t>
            </a:r>
          </a:p>
        </p:txBody>
      </p:sp>
      <p:sp>
        <p:nvSpPr>
          <p:cNvPr id="4" name="スライド番号プレースホルダー 3"/>
          <p:cNvSpPr>
            <a:spLocks noGrp="1"/>
          </p:cNvSpPr>
          <p:nvPr>
            <p:ph type="sldNum" sz="quarter" idx="5"/>
          </p:nvPr>
        </p:nvSpPr>
        <p:spPr/>
        <p:txBody>
          <a:bodyPr/>
          <a:lstStyle/>
          <a:p>
            <a:fld id="{D797D024-F610-4D0F-B9F2-6DBB36D76914}" type="slidenum">
              <a:rPr kumimoji="1" lang="ja-JP" altLang="en-US" smtClean="0"/>
              <a:t>0</a:t>
            </a:fld>
            <a:endParaRPr kumimoji="1" lang="ja-JP" altLang="en-US"/>
          </a:p>
        </p:txBody>
      </p:sp>
    </p:spTree>
    <p:extLst>
      <p:ext uri="{BB962C8B-B14F-4D97-AF65-F5344CB8AC3E}">
        <p14:creationId xmlns:p14="http://schemas.microsoft.com/office/powerpoint/2010/main" val="2357227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まず研究背景となります。</a:t>
            </a:r>
            <a:r>
              <a:rPr kumimoji="1" lang="en-US" altLang="ja-JP" dirty="0"/>
              <a:t>PIV/PTV</a:t>
            </a:r>
            <a:r>
              <a:rPr kumimoji="1" lang="ja-JP" altLang="en-US" dirty="0"/>
              <a:t>装置とは、流体中の粒子を観測することで</a:t>
            </a:r>
            <a:r>
              <a:rPr lang="ja-JP" altLang="en-US" sz="1200" dirty="0"/>
              <a:t>流体の運動特性を非接触で</a:t>
            </a:r>
            <a:r>
              <a:rPr lang="ja-JP" altLang="en-US" sz="1200" u="sng" dirty="0"/>
              <a:t>可視化・定量化</a:t>
            </a:r>
            <a:r>
              <a:rPr lang="ja-JP" altLang="en-US" sz="1200" dirty="0"/>
              <a:t>する計測技術になります。</a:t>
            </a:r>
            <a:r>
              <a:rPr lang="en-US" altLang="ja-JP" sz="1200" dirty="0"/>
              <a:t>PIV</a:t>
            </a:r>
            <a:r>
              <a:rPr lang="ja-JP" altLang="en-US" sz="1200" dirty="0"/>
              <a:t>は流体に、</a:t>
            </a:r>
            <a:r>
              <a:rPr lang="en-US" altLang="ja-JP" sz="1200" dirty="0"/>
              <a:t>PTV</a:t>
            </a:r>
            <a:r>
              <a:rPr lang="ja-JP" altLang="en-US" sz="1200" dirty="0"/>
              <a:t>は粒子に着目したものになります。</a:t>
            </a:r>
            <a:endParaRPr lang="en-US" altLang="ja-JP" sz="1200" dirty="0"/>
          </a:p>
          <a:p>
            <a:r>
              <a:rPr kumimoji="1" lang="ja-JP" altLang="en-US" sz="1200" dirty="0"/>
              <a:t>図の循環流路にトレーサー粒子と呼ばれる特殊粒子を流し込み、レーザーを照射することで流体の流れを観測できます。</a:t>
            </a:r>
            <a:endParaRPr kumimoji="1" lang="ja-JP" altLang="en-US" dirty="0"/>
          </a:p>
        </p:txBody>
      </p:sp>
      <p:sp>
        <p:nvSpPr>
          <p:cNvPr id="4" name="スライド番号プレースホルダー 3"/>
          <p:cNvSpPr>
            <a:spLocks noGrp="1"/>
          </p:cNvSpPr>
          <p:nvPr>
            <p:ph type="sldNum" sz="quarter" idx="5"/>
          </p:nvPr>
        </p:nvSpPr>
        <p:spPr/>
        <p:txBody>
          <a:bodyPr/>
          <a:lstStyle/>
          <a:p>
            <a:fld id="{D797D024-F610-4D0F-B9F2-6DBB36D76914}" type="slidenum">
              <a:rPr kumimoji="1" lang="ja-JP" altLang="en-US" smtClean="0"/>
              <a:t>3</a:t>
            </a:fld>
            <a:endParaRPr kumimoji="1" lang="ja-JP" altLang="en-US"/>
          </a:p>
        </p:txBody>
      </p:sp>
    </p:spTree>
    <p:extLst>
      <p:ext uri="{BB962C8B-B14F-4D97-AF65-F5344CB8AC3E}">
        <p14:creationId xmlns:p14="http://schemas.microsoft.com/office/powerpoint/2010/main" val="234374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a:t>
            </a:r>
            <a:r>
              <a:rPr kumimoji="1" lang="en-US" altLang="ja-JP" dirty="0"/>
              <a:t>SONY</a:t>
            </a:r>
            <a:r>
              <a:rPr kumimoji="1" lang="ja-JP" altLang="en-US" dirty="0"/>
              <a:t>のカメラで撮影した映像になります。左側から粒子が流入し、画像右側に流れていきます。中心部に障害物があることで、粒子の流れが変化していることがわかります。実際に動画を見てみると、障害物の左側では粒子が障害物を超えるように動き、右側では拡散している様子が見られます。このように粒子の動きを追跡することは、流体の運動を可視化するうえでとても大切になってきます。</a:t>
            </a:r>
          </a:p>
        </p:txBody>
      </p:sp>
      <p:sp>
        <p:nvSpPr>
          <p:cNvPr id="4" name="スライド番号プレースホルダー 3"/>
          <p:cNvSpPr>
            <a:spLocks noGrp="1"/>
          </p:cNvSpPr>
          <p:nvPr>
            <p:ph type="sldNum" sz="quarter" idx="5"/>
          </p:nvPr>
        </p:nvSpPr>
        <p:spPr/>
        <p:txBody>
          <a:bodyPr/>
          <a:lstStyle/>
          <a:p>
            <a:fld id="{D797D024-F610-4D0F-B9F2-6DBB36D76914}" type="slidenum">
              <a:rPr kumimoji="1" lang="ja-JP" altLang="en-US" smtClean="0"/>
              <a:t>4</a:t>
            </a:fld>
            <a:endParaRPr kumimoji="1" lang="ja-JP" altLang="en-US"/>
          </a:p>
        </p:txBody>
      </p:sp>
    </p:spTree>
    <p:extLst>
      <p:ext uri="{BB962C8B-B14F-4D97-AF65-F5344CB8AC3E}">
        <p14:creationId xmlns:p14="http://schemas.microsoft.com/office/powerpoint/2010/main" val="162148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しかし粒子追跡では、</a:t>
            </a:r>
            <a:r>
              <a:rPr kumimoji="1" lang="ja-JP" altLang="en-US" sz="1200" dirty="0"/>
              <a:t>粒子追跡では，光強度の減少や重なりによる</a:t>
            </a:r>
            <a:r>
              <a:rPr kumimoji="1" lang="ja-JP" altLang="en-US" sz="1200" b="1" dirty="0"/>
              <a:t>オクルージョン</a:t>
            </a:r>
            <a:r>
              <a:rPr kumimoji="1" lang="ja-JP" altLang="en-US" sz="1200" dirty="0"/>
              <a:t>、</a:t>
            </a:r>
            <a:endParaRPr kumimoji="1" lang="en-US" altLang="ja-JP" sz="1200" dirty="0"/>
          </a:p>
          <a:p>
            <a:r>
              <a:rPr kumimoji="1" lang="en-US" altLang="ja-JP" sz="1200" b="1" dirty="0"/>
              <a:t>   </a:t>
            </a:r>
            <a:r>
              <a:rPr kumimoji="1" lang="ja-JP" altLang="en-US" sz="1200" b="1" dirty="0"/>
              <a:t>誤マッチング</a:t>
            </a:r>
            <a:r>
              <a:rPr kumimoji="1" lang="ja-JP" altLang="en-US" sz="1200" dirty="0"/>
              <a:t>などが発生します。</a:t>
            </a:r>
            <a:endParaRPr kumimoji="1" lang="en-US" altLang="ja-JP" sz="1200" dirty="0"/>
          </a:p>
          <a:p>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そのため研究目的としては、オクルージョンに対する対策や手法を入れ込み、より正確にトラッキングできるような粒子追跡法を考えることを設定しています。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現在の小目標としては</a:t>
            </a:r>
          </a:p>
          <a:p>
            <a:r>
              <a:rPr kumimoji="1" lang="ja-JP" altLang="en-US" sz="1200" dirty="0"/>
              <a:t>実データで軌跡の正解データが用意できないため、シミュレーションデータを作成しようと考えています。</a:t>
            </a:r>
            <a:endParaRPr kumimoji="1" lang="en-US" altLang="ja-JP" sz="1200" dirty="0"/>
          </a:p>
          <a:p>
            <a:r>
              <a:rPr kumimoji="1" lang="ja-JP" altLang="en-US" sz="1200" dirty="0"/>
              <a:t>また、従来法で使用していなかった。明るさや粒子密度などの様々な特徴量を用いたアプローチを考えていきます。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D797D024-F610-4D0F-B9F2-6DBB36D76914}" type="slidenum">
              <a:rPr kumimoji="1" lang="ja-JP" altLang="en-US" smtClean="0"/>
              <a:t>5</a:t>
            </a:fld>
            <a:endParaRPr kumimoji="1" lang="ja-JP" altLang="en-US"/>
          </a:p>
        </p:txBody>
      </p:sp>
    </p:spTree>
    <p:extLst>
      <p:ext uri="{BB962C8B-B14F-4D97-AF65-F5344CB8AC3E}">
        <p14:creationId xmlns:p14="http://schemas.microsoft.com/office/powerpoint/2010/main" val="2194763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a:t>
            </a:r>
            <a:r>
              <a:rPr kumimoji="1" lang="en-US" altLang="ja-JP" dirty="0"/>
              <a:t>python</a:t>
            </a:r>
            <a:r>
              <a:rPr kumimoji="1" lang="ja-JP" altLang="en-US" dirty="0"/>
              <a:t>で作成したシミュレーションデータになります。</a:t>
            </a:r>
            <a:endParaRPr kumimoji="1" lang="en-US" altLang="ja-JP" dirty="0"/>
          </a:p>
          <a:p>
            <a:r>
              <a:rPr kumimoji="1" lang="ja-JP" altLang="en-US" dirty="0"/>
              <a:t>粒子数は</a:t>
            </a:r>
            <a:r>
              <a:rPr kumimoji="1" lang="en-US" altLang="ja-JP" dirty="0"/>
              <a:t>150</a:t>
            </a:r>
            <a:r>
              <a:rPr kumimoji="1" lang="ja-JP" altLang="en-US" dirty="0"/>
              <a:t>ほどに設定していて、中心部の障害物を避けて、拡散するような運動を再現したものになります。</a:t>
            </a:r>
          </a:p>
        </p:txBody>
      </p:sp>
      <p:sp>
        <p:nvSpPr>
          <p:cNvPr id="4" name="スライド番号プレースホルダー 3"/>
          <p:cNvSpPr>
            <a:spLocks noGrp="1"/>
          </p:cNvSpPr>
          <p:nvPr>
            <p:ph type="sldNum" sz="quarter" idx="5"/>
          </p:nvPr>
        </p:nvSpPr>
        <p:spPr/>
        <p:txBody>
          <a:bodyPr/>
          <a:lstStyle/>
          <a:p>
            <a:fld id="{D797D024-F610-4D0F-B9F2-6DBB36D76914}" type="slidenum">
              <a:rPr kumimoji="1" lang="ja-JP" altLang="en-US" smtClean="0"/>
              <a:t>7</a:t>
            </a:fld>
            <a:endParaRPr kumimoji="1" lang="ja-JP" altLang="en-US"/>
          </a:p>
        </p:txBody>
      </p:sp>
    </p:spTree>
    <p:extLst>
      <p:ext uri="{BB962C8B-B14F-4D97-AF65-F5344CB8AC3E}">
        <p14:creationId xmlns:p14="http://schemas.microsoft.com/office/powerpoint/2010/main" val="2837599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現在のシミュレーションの詳細がこちらになっています。</a:t>
            </a:r>
            <a:endParaRPr kumimoji="1" lang="en-US" altLang="ja-JP" dirty="0"/>
          </a:p>
          <a:p>
            <a:endParaRPr kumimoji="1" lang="en-US" altLang="ja-JP" dirty="0"/>
          </a:p>
          <a:p>
            <a:r>
              <a:rPr kumimoji="1" lang="ja-JP" altLang="en-US" dirty="0"/>
              <a:t>前回の英文輪講で</a:t>
            </a:r>
            <a:r>
              <a:rPr kumimoji="1" lang="en-US" altLang="ja-JP" dirty="0"/>
              <a:t>PIV/PTV</a:t>
            </a:r>
            <a:r>
              <a:rPr kumimoji="1" lang="ja-JP" altLang="en-US" dirty="0"/>
              <a:t>のデータセットがありそうだったので、現在のデータを保存しつつ導入を検討しています。</a:t>
            </a:r>
          </a:p>
        </p:txBody>
      </p:sp>
      <p:sp>
        <p:nvSpPr>
          <p:cNvPr id="4" name="スライド番号プレースホルダー 3"/>
          <p:cNvSpPr>
            <a:spLocks noGrp="1"/>
          </p:cNvSpPr>
          <p:nvPr>
            <p:ph type="sldNum" sz="quarter" idx="5"/>
          </p:nvPr>
        </p:nvSpPr>
        <p:spPr/>
        <p:txBody>
          <a:bodyPr/>
          <a:lstStyle/>
          <a:p>
            <a:fld id="{D797D024-F610-4D0F-B9F2-6DBB36D76914}" type="slidenum">
              <a:rPr kumimoji="1" lang="ja-JP" altLang="en-US" smtClean="0"/>
              <a:t>8</a:t>
            </a:fld>
            <a:endParaRPr kumimoji="1" lang="ja-JP" altLang="en-US"/>
          </a:p>
        </p:txBody>
      </p:sp>
    </p:spTree>
    <p:extLst>
      <p:ext uri="{BB962C8B-B14F-4D97-AF65-F5344CB8AC3E}">
        <p14:creationId xmlns:p14="http://schemas.microsoft.com/office/powerpoint/2010/main" val="2234406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6D2AB-184A-2FE6-C2EE-42067630E5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8F2A60B-6C77-A91C-1BCB-E812C8D600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B73F29-27F6-A2B3-8860-D8BD80C8FAF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DC3BC70-1EDD-2B92-FC34-9482BFAC1F87}"/>
              </a:ext>
            </a:extLst>
          </p:cNvPr>
          <p:cNvSpPr>
            <a:spLocks noGrp="1"/>
          </p:cNvSpPr>
          <p:nvPr>
            <p:ph type="sldNum" sz="quarter" idx="5"/>
          </p:nvPr>
        </p:nvSpPr>
        <p:spPr/>
        <p:txBody>
          <a:bodyPr/>
          <a:lstStyle/>
          <a:p>
            <a:fld id="{D797D024-F610-4D0F-B9F2-6DBB36D76914}" type="slidenum">
              <a:rPr kumimoji="1" lang="ja-JP" altLang="en-US" smtClean="0"/>
              <a:t>10</a:t>
            </a:fld>
            <a:endParaRPr kumimoji="1" lang="ja-JP" altLang="en-US"/>
          </a:p>
        </p:txBody>
      </p:sp>
    </p:spTree>
    <p:extLst>
      <p:ext uri="{BB962C8B-B14F-4D97-AF65-F5344CB8AC3E}">
        <p14:creationId xmlns:p14="http://schemas.microsoft.com/office/powerpoint/2010/main" val="730688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E8F44-6A78-2E6E-8AA8-12F20AC418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5362260-1FCA-BDB8-C89D-C66622DF328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5865097-567E-9D26-3036-D98377F4186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D2722C6-FC66-787F-0F8F-FE1224733134}"/>
              </a:ext>
            </a:extLst>
          </p:cNvPr>
          <p:cNvSpPr>
            <a:spLocks noGrp="1"/>
          </p:cNvSpPr>
          <p:nvPr>
            <p:ph type="sldNum" sz="quarter" idx="5"/>
          </p:nvPr>
        </p:nvSpPr>
        <p:spPr/>
        <p:txBody>
          <a:bodyPr/>
          <a:lstStyle/>
          <a:p>
            <a:fld id="{D797D024-F610-4D0F-B9F2-6DBB36D76914}" type="slidenum">
              <a:rPr kumimoji="1" lang="ja-JP" altLang="en-US" smtClean="0"/>
              <a:t>11</a:t>
            </a:fld>
            <a:endParaRPr kumimoji="1" lang="ja-JP" altLang="en-US"/>
          </a:p>
        </p:txBody>
      </p:sp>
    </p:spTree>
    <p:extLst>
      <p:ext uri="{BB962C8B-B14F-4D97-AF65-F5344CB8AC3E}">
        <p14:creationId xmlns:p14="http://schemas.microsoft.com/office/powerpoint/2010/main" val="1603733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8B1E8-005B-C9AB-835A-F162DEBADD3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F17DD6-EF03-5C80-C709-C0ECCD183C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C2E8A92-E3D4-BC42-F3AF-4BE9221247C7}"/>
              </a:ext>
            </a:extLst>
          </p:cNvPr>
          <p:cNvSpPr>
            <a:spLocks noGrp="1"/>
          </p:cNvSpPr>
          <p:nvPr>
            <p:ph type="body" idx="1"/>
          </p:nvPr>
        </p:nvSpPr>
        <p:spPr/>
        <p:txBody>
          <a:bodyPr/>
          <a:lstStyle/>
          <a:p>
            <a:r>
              <a:rPr kumimoji="1" lang="ja-JP" altLang="en-US" dirty="0"/>
              <a:t>こちらが私の従来法の処理フローとなります。</a:t>
            </a:r>
            <a:endParaRPr kumimoji="1" lang="en-US" altLang="ja-JP" dirty="0"/>
          </a:p>
          <a:p>
            <a:r>
              <a:rPr kumimoji="1" lang="en-US" altLang="ja-JP" dirty="0"/>
              <a:t>GPR</a:t>
            </a:r>
            <a:r>
              <a:rPr kumimoji="1" lang="ja-JP" altLang="en-US" dirty="0"/>
              <a:t>というベイズ的機械学習モデルを使用していて、粒子群データの速度場を構築して再トラックを行っていました。</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490D0B9E-3CB9-63DC-4717-2A810193D707}"/>
              </a:ext>
            </a:extLst>
          </p:cNvPr>
          <p:cNvSpPr>
            <a:spLocks noGrp="1"/>
          </p:cNvSpPr>
          <p:nvPr>
            <p:ph type="sldNum" sz="quarter" idx="5"/>
          </p:nvPr>
        </p:nvSpPr>
        <p:spPr/>
        <p:txBody>
          <a:bodyPr/>
          <a:lstStyle/>
          <a:p>
            <a:fld id="{D797D024-F610-4D0F-B9F2-6DBB36D76914}" type="slidenum">
              <a:rPr kumimoji="1" lang="ja-JP" altLang="en-US" smtClean="0"/>
              <a:t>12</a:t>
            </a:fld>
            <a:endParaRPr kumimoji="1" lang="ja-JP" altLang="en-US"/>
          </a:p>
        </p:txBody>
      </p:sp>
    </p:spTree>
    <p:extLst>
      <p:ext uri="{BB962C8B-B14F-4D97-AF65-F5344CB8AC3E}">
        <p14:creationId xmlns:p14="http://schemas.microsoft.com/office/powerpoint/2010/main" val="1120283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D797D024-F610-4D0F-B9F2-6DBB36D76914}" type="slidenum">
              <a:rPr kumimoji="1" lang="ja-JP" altLang="en-US" smtClean="0"/>
              <a:t>14</a:t>
            </a:fld>
            <a:endParaRPr kumimoji="1" lang="ja-JP" altLang="en-US"/>
          </a:p>
        </p:txBody>
      </p:sp>
    </p:spTree>
    <p:extLst>
      <p:ext uri="{BB962C8B-B14F-4D97-AF65-F5344CB8AC3E}">
        <p14:creationId xmlns:p14="http://schemas.microsoft.com/office/powerpoint/2010/main" val="1922456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以上で本発表を終わります。ご清聴ありがとうございました。</a:t>
            </a:r>
          </a:p>
        </p:txBody>
      </p:sp>
      <p:sp>
        <p:nvSpPr>
          <p:cNvPr id="4" name="スライド番号プレースホルダー 3"/>
          <p:cNvSpPr>
            <a:spLocks noGrp="1"/>
          </p:cNvSpPr>
          <p:nvPr>
            <p:ph type="sldNum" sz="quarter" idx="5"/>
          </p:nvPr>
        </p:nvSpPr>
        <p:spPr/>
        <p:txBody>
          <a:bodyPr/>
          <a:lstStyle/>
          <a:p>
            <a:fld id="{D797D024-F610-4D0F-B9F2-6DBB36D76914}" type="slidenum">
              <a:rPr kumimoji="1" lang="ja-JP" altLang="en-US" smtClean="0"/>
              <a:t>15</a:t>
            </a:fld>
            <a:endParaRPr kumimoji="1" lang="ja-JP" altLang="en-US"/>
          </a:p>
        </p:txBody>
      </p:sp>
    </p:spTree>
    <p:extLst>
      <p:ext uri="{BB962C8B-B14F-4D97-AF65-F5344CB8AC3E}">
        <p14:creationId xmlns:p14="http://schemas.microsoft.com/office/powerpoint/2010/main" val="2875673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下の図が従来法のトラッキングアルゴリズムになります。直近の過去位置を</a:t>
            </a:r>
            <a:r>
              <a:rPr kumimoji="1" lang="en-US" altLang="ja-JP" dirty="0"/>
              <a:t>GPR</a:t>
            </a:r>
            <a:r>
              <a:rPr kumimoji="1" lang="ja-JP" altLang="en-US" dirty="0"/>
              <a:t>モデルに入力することで、予測速度とその位置の不確かさを利用して、探索範囲を可変させています。</a:t>
            </a:r>
          </a:p>
        </p:txBody>
      </p:sp>
      <p:sp>
        <p:nvSpPr>
          <p:cNvPr id="4" name="スライド番号プレースホルダー 3"/>
          <p:cNvSpPr>
            <a:spLocks noGrp="1"/>
          </p:cNvSpPr>
          <p:nvPr>
            <p:ph type="sldNum" sz="quarter" idx="5"/>
          </p:nvPr>
        </p:nvSpPr>
        <p:spPr/>
        <p:txBody>
          <a:bodyPr/>
          <a:lstStyle/>
          <a:p>
            <a:fld id="{D797D024-F610-4D0F-B9F2-6DBB36D76914}" type="slidenum">
              <a:rPr kumimoji="1" lang="ja-JP" altLang="en-US" smtClean="0"/>
              <a:t>20</a:t>
            </a:fld>
            <a:endParaRPr kumimoji="1" lang="ja-JP" altLang="en-US"/>
          </a:p>
        </p:txBody>
      </p:sp>
    </p:spTree>
    <p:extLst>
      <p:ext uri="{BB962C8B-B14F-4D97-AF65-F5344CB8AC3E}">
        <p14:creationId xmlns:p14="http://schemas.microsoft.com/office/powerpoint/2010/main" val="987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4F5D8B9-DC73-DF8E-3EDA-5777A8F40437}"/>
              </a:ext>
            </a:extLst>
          </p:cNvPr>
          <p:cNvSpPr/>
          <p:nvPr userDrawn="1"/>
        </p:nvSpPr>
        <p:spPr>
          <a:xfrm>
            <a:off x="567129" y="718072"/>
            <a:ext cx="8009741" cy="542185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baseline="0">
                <a:latin typeface="メイリオ" panose="020B0604030504040204" pitchFamily="50" charset="-128"/>
                <a:ea typeface="メイリオ"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6B777350-5248-4521-ACA0-704A4EA40D17}" type="datetime1">
              <a:rPr kumimoji="1" lang="ja-JP" altLang="en-US" smtClean="0"/>
              <a:t>2026/9/11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3296758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547054" y="-74009"/>
            <a:ext cx="7725456" cy="987429"/>
          </a:xfrm>
        </p:spPr>
        <p:txBody>
          <a:bodyPr>
            <a:normAutofit/>
          </a:bodyPr>
          <a:lstStyle>
            <a:lvl1pPr>
              <a:defRPr sz="2800"/>
            </a:lvl1p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lvl1pPr>
              <a:defRPr baseline="0">
                <a:latin typeface="メイリオ" panose="020B0604030504040204" pitchFamily="50" charset="-128"/>
                <a:ea typeface="メイリオ" panose="020B0604030504040204" pitchFamily="50" charset="-128"/>
              </a:defRPr>
            </a:lvl1pPr>
            <a:lvl2pPr>
              <a:defRPr baseline="0">
                <a:latin typeface="メイリオ" panose="020B0604030504040204" pitchFamily="50" charset="-128"/>
                <a:ea typeface="メイリオ" panose="020B0604030504040204" pitchFamily="50" charset="-128"/>
              </a:defRPr>
            </a:lvl2pPr>
            <a:lvl3pPr>
              <a:defRPr baseline="0">
                <a:latin typeface="メイリオ" panose="020B0604030504040204" pitchFamily="50" charset="-128"/>
                <a:ea typeface="メイリオ" panose="020B0604030504040204" pitchFamily="50" charset="-128"/>
              </a:defRPr>
            </a:lvl3pPr>
            <a:lvl4pPr>
              <a:defRPr baseline="0">
                <a:latin typeface="メイリオ" panose="020B0604030504040204" pitchFamily="50" charset="-128"/>
                <a:ea typeface="メイリオ" panose="020B0604030504040204" pitchFamily="50" charset="-128"/>
              </a:defRPr>
            </a:lvl4pPr>
            <a:lvl5pPr>
              <a:defRPr baseline="0">
                <a:latin typeface="メイリオ" panose="020B0604030504040204" pitchFamily="50" charset="-128"/>
                <a:ea typeface="メイリオ" panose="020B0604030504040204"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E3858574-0D98-497E-A4C6-7B14ADE196AA}" type="datetime1">
              <a:rPr kumimoji="1" lang="ja-JP" altLang="en-US" smtClean="0"/>
              <a:t>2026/9/11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9" name="正方形/長方形 8">
            <a:extLst>
              <a:ext uri="{FF2B5EF4-FFF2-40B4-BE49-F238E27FC236}">
                <a16:creationId xmlns:a16="http://schemas.microsoft.com/office/drawing/2014/main" id="{525CEE3F-F582-0568-1E02-BD8386F190A4}"/>
              </a:ext>
            </a:extLst>
          </p:cNvPr>
          <p:cNvSpPr/>
          <p:nvPr userDrawn="1"/>
        </p:nvSpPr>
        <p:spPr>
          <a:xfrm>
            <a:off x="8272510" y="139849"/>
            <a:ext cx="570155" cy="55971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Slide Number Placeholder 5"/>
          <p:cNvSpPr>
            <a:spLocks noGrp="1"/>
          </p:cNvSpPr>
          <p:nvPr>
            <p:ph type="sldNum" sz="quarter" idx="12"/>
          </p:nvPr>
        </p:nvSpPr>
        <p:spPr>
          <a:xfrm>
            <a:off x="8230272" y="257138"/>
            <a:ext cx="570155" cy="365125"/>
          </a:xfrm>
        </p:spPr>
        <p:txBody>
          <a:bodyPr/>
          <a:lstStyle>
            <a:lvl1pPr>
              <a:defRPr sz="1800">
                <a:solidFill>
                  <a:schemeClr val="bg1"/>
                </a:solidFill>
              </a:defRPr>
            </a:lvl1pPr>
          </a:lstStyle>
          <a:p>
            <a:fld id="{F4F93977-CC68-4F92-83A3-0276DC4D9982}" type="slidenum">
              <a:rPr kumimoji="1" lang="ja-JP" altLang="en-US" smtClean="0"/>
              <a:pPr/>
              <a:t>‹#›</a:t>
            </a:fld>
            <a:endParaRPr kumimoji="1" lang="ja-JP" altLang="en-US" dirty="0"/>
          </a:p>
        </p:txBody>
      </p:sp>
      <p:cxnSp>
        <p:nvCxnSpPr>
          <p:cNvPr id="8" name="直線コネクタ 7">
            <a:extLst>
              <a:ext uri="{FF2B5EF4-FFF2-40B4-BE49-F238E27FC236}">
                <a16:creationId xmlns:a16="http://schemas.microsoft.com/office/drawing/2014/main" id="{F74E190E-3C79-FA97-8BB0-9BC2113D115A}"/>
              </a:ext>
            </a:extLst>
          </p:cNvPr>
          <p:cNvCxnSpPr>
            <a:cxnSpLocks/>
          </p:cNvCxnSpPr>
          <p:nvPr userDrawn="1"/>
        </p:nvCxnSpPr>
        <p:spPr>
          <a:xfrm>
            <a:off x="547054" y="673549"/>
            <a:ext cx="7262998" cy="0"/>
          </a:xfrm>
          <a:prstGeom prst="line">
            <a:avLst/>
          </a:prstGeom>
          <a:ln w="28575"/>
        </p:spPr>
        <p:style>
          <a:lnRef idx="2">
            <a:schemeClr val="accent1"/>
          </a:lnRef>
          <a:fillRef idx="0">
            <a:schemeClr val="accent1"/>
          </a:fillRef>
          <a:effectRef idx="1">
            <a:schemeClr val="accent1"/>
          </a:effectRef>
          <a:fontRef idx="minor">
            <a:schemeClr val="tx1"/>
          </a:fontRef>
        </p:style>
      </p:cxnSp>
      <p:sp>
        <p:nvSpPr>
          <p:cNvPr id="13" name="楕円 12">
            <a:extLst>
              <a:ext uri="{FF2B5EF4-FFF2-40B4-BE49-F238E27FC236}">
                <a16:creationId xmlns:a16="http://schemas.microsoft.com/office/drawing/2014/main" id="{51D0B2A8-3CD1-424B-210C-C02A3100A686}"/>
              </a:ext>
            </a:extLst>
          </p:cNvPr>
          <p:cNvSpPr/>
          <p:nvPr userDrawn="1"/>
        </p:nvSpPr>
        <p:spPr>
          <a:xfrm>
            <a:off x="7754039" y="544961"/>
            <a:ext cx="152745" cy="15460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43691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CBC5FC1-13A8-479C-94DC-AA8E5F8CD47B}" type="datetime1">
              <a:rPr kumimoji="1" lang="ja-JP" altLang="en-US" smtClean="0"/>
              <a:t>2026/9/11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4F93977-CC68-4F92-83A3-0276DC4D9982}" type="slidenum">
              <a:rPr kumimoji="1" lang="ja-JP" altLang="en-US" smtClean="0"/>
              <a:t>‹#›</a:t>
            </a:fld>
            <a:endParaRPr kumimoji="1" lang="ja-JP" altLang="en-US"/>
          </a:p>
        </p:txBody>
      </p:sp>
    </p:spTree>
    <p:extLst>
      <p:ext uri="{BB962C8B-B14F-4D97-AF65-F5344CB8AC3E}">
        <p14:creationId xmlns:p14="http://schemas.microsoft.com/office/powerpoint/2010/main" val="786741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46975A61-277B-413C-BA4A-2336D6AC6BBE}" type="datetime1">
              <a:rPr kumimoji="1" lang="ja-JP" altLang="en-US" smtClean="0"/>
              <a:t>2026/9/11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4F93977-CC68-4F92-83A3-0276DC4D9982}" type="slidenum">
              <a:rPr kumimoji="1" lang="ja-JP" altLang="en-US" smtClean="0"/>
              <a:t>‹#›</a:t>
            </a:fld>
            <a:endParaRPr kumimoji="1" lang="ja-JP" altLang="en-US"/>
          </a:p>
        </p:txBody>
      </p:sp>
    </p:spTree>
    <p:extLst>
      <p:ext uri="{BB962C8B-B14F-4D97-AF65-F5344CB8AC3E}">
        <p14:creationId xmlns:p14="http://schemas.microsoft.com/office/powerpoint/2010/main" val="2149927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A0A306E6-2BCA-4643-B506-307E84E4E6BD}" type="datetime1">
              <a:rPr kumimoji="1" lang="ja-JP" altLang="en-US" smtClean="0"/>
              <a:t>2026/9/11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F4F93977-CC68-4F92-83A3-0276DC4D9982}" type="slidenum">
              <a:rPr kumimoji="1" lang="ja-JP" altLang="en-US" smtClean="0"/>
              <a:t>‹#›</a:t>
            </a:fld>
            <a:endParaRPr kumimoji="1" lang="ja-JP" altLang="en-US"/>
          </a:p>
        </p:txBody>
      </p:sp>
    </p:spTree>
    <p:extLst>
      <p:ext uri="{BB962C8B-B14F-4D97-AF65-F5344CB8AC3E}">
        <p14:creationId xmlns:p14="http://schemas.microsoft.com/office/powerpoint/2010/main" val="1234906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D336DA0-BC58-4A7F-89B9-E98F76116D58}" type="datetime1">
              <a:rPr kumimoji="1" lang="ja-JP" altLang="en-US" smtClean="0"/>
              <a:t>2026/9/11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F4F93977-CC68-4F92-83A3-0276DC4D9982}" type="slidenum">
              <a:rPr kumimoji="1" lang="ja-JP" altLang="en-US" smtClean="0"/>
              <a:t>‹#›</a:t>
            </a:fld>
            <a:endParaRPr kumimoji="1" lang="ja-JP" altLang="en-US"/>
          </a:p>
        </p:txBody>
      </p:sp>
    </p:spTree>
    <p:extLst>
      <p:ext uri="{BB962C8B-B14F-4D97-AF65-F5344CB8AC3E}">
        <p14:creationId xmlns:p14="http://schemas.microsoft.com/office/powerpoint/2010/main" val="3918193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6C7747-1E45-4B8D-BB66-3F4FD6F64B04}" type="datetime1">
              <a:rPr kumimoji="1" lang="ja-JP" altLang="en-US" smtClean="0"/>
              <a:t>2026/9/11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F4F93977-CC68-4F92-83A3-0276DC4D9982}" type="slidenum">
              <a:rPr kumimoji="1" lang="ja-JP" altLang="en-US" smtClean="0"/>
              <a:t>‹#›</a:t>
            </a:fld>
            <a:endParaRPr kumimoji="1" lang="ja-JP" altLang="en-US"/>
          </a:p>
        </p:txBody>
      </p:sp>
    </p:spTree>
    <p:extLst>
      <p:ext uri="{BB962C8B-B14F-4D97-AF65-F5344CB8AC3E}">
        <p14:creationId xmlns:p14="http://schemas.microsoft.com/office/powerpoint/2010/main" val="2033834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D9EA33B1-651C-4568-B91C-F8CE8548ABBE}" type="datetime1">
              <a:rPr kumimoji="1" lang="ja-JP" altLang="en-US" smtClean="0"/>
              <a:t>2026/9/11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4F93977-CC68-4F92-83A3-0276DC4D9982}" type="slidenum">
              <a:rPr kumimoji="1" lang="ja-JP" altLang="en-US" smtClean="0"/>
              <a:t>‹#›</a:t>
            </a:fld>
            <a:endParaRPr kumimoji="1" lang="ja-JP" altLang="en-US"/>
          </a:p>
        </p:txBody>
      </p:sp>
    </p:spTree>
    <p:extLst>
      <p:ext uri="{BB962C8B-B14F-4D97-AF65-F5344CB8AC3E}">
        <p14:creationId xmlns:p14="http://schemas.microsoft.com/office/powerpoint/2010/main" val="3404546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8FE193CA-84D4-420A-9B16-00651040D0BE}" type="datetime1">
              <a:rPr kumimoji="1" lang="ja-JP" altLang="en-US" smtClean="0"/>
              <a:t>2026/9/11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4F93977-CC68-4F92-83A3-0276DC4D9982}" type="slidenum">
              <a:rPr kumimoji="1" lang="ja-JP" altLang="en-US" smtClean="0"/>
              <a:t>‹#›</a:t>
            </a:fld>
            <a:endParaRPr kumimoji="1" lang="ja-JP" altLang="en-US"/>
          </a:p>
        </p:txBody>
      </p:sp>
    </p:spTree>
    <p:extLst>
      <p:ext uri="{BB962C8B-B14F-4D97-AF65-F5344CB8AC3E}">
        <p14:creationId xmlns:p14="http://schemas.microsoft.com/office/powerpoint/2010/main" val="893802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71E7A48-DCC9-4CD7-B775-0FD21FBF09A2}" type="datetime1">
              <a:rPr kumimoji="1" lang="ja-JP" altLang="en-US" smtClean="0"/>
              <a:t>2026/9/11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4F93977-CC68-4F92-83A3-0276DC4D9982}" type="slidenum">
              <a:rPr kumimoji="1" lang="ja-JP" altLang="en-US" smtClean="0"/>
              <a:t>‹#›</a:t>
            </a:fld>
            <a:endParaRPr kumimoji="1" lang="ja-JP" altLang="en-US"/>
          </a:p>
        </p:txBody>
      </p:sp>
    </p:spTree>
    <p:extLst>
      <p:ext uri="{BB962C8B-B14F-4D97-AF65-F5344CB8AC3E}">
        <p14:creationId xmlns:p14="http://schemas.microsoft.com/office/powerpoint/2010/main" val="1766087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D729BC3-CB58-4A04-A397-AEAE738E621D}" type="datetime1">
              <a:rPr kumimoji="1" lang="ja-JP" altLang="en-US" smtClean="0"/>
              <a:t>2026/9/11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4F93977-CC68-4F92-83A3-0276DC4D9982}" type="slidenum">
              <a:rPr kumimoji="1" lang="ja-JP" altLang="en-US" smtClean="0"/>
              <a:t>‹#›</a:t>
            </a:fld>
            <a:endParaRPr kumimoji="1" lang="ja-JP" altLang="en-US"/>
          </a:p>
        </p:txBody>
      </p:sp>
    </p:spTree>
    <p:extLst>
      <p:ext uri="{BB962C8B-B14F-4D97-AF65-F5344CB8AC3E}">
        <p14:creationId xmlns:p14="http://schemas.microsoft.com/office/powerpoint/2010/main" val="2768529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71190"/>
            <a:ext cx="7886700" cy="1325563"/>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628650" y="1352289"/>
            <a:ext cx="7886700" cy="4351338"/>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11F5B5-A518-402F-B4D1-C8F5B581B8AD}" type="datetime1">
              <a:rPr kumimoji="1" lang="ja-JP" altLang="en-US" smtClean="0"/>
              <a:t>2026/9/11</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6816986"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F93977-CC68-4F92-83A3-0276DC4D9982}" type="slidenum">
              <a:rPr kumimoji="1" lang="ja-JP" altLang="en-US" smtClean="0"/>
              <a:t>‹#›</a:t>
            </a:fld>
            <a:endParaRPr kumimoji="1" lang="ja-JP" altLang="en-US" dirty="0"/>
          </a:p>
        </p:txBody>
      </p:sp>
    </p:spTree>
    <p:extLst>
      <p:ext uri="{BB962C8B-B14F-4D97-AF65-F5344CB8AC3E}">
        <p14:creationId xmlns:p14="http://schemas.microsoft.com/office/powerpoint/2010/main" val="31534141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kumimoji="1" sz="3600" b="0" i="0" u="none" kern="1200" baseline="0">
          <a:solidFill>
            <a:srgbClr val="002060"/>
          </a:solidFill>
          <a:latin typeface="メイリオ" panose="020B0604030504040204" pitchFamily="50" charset="-128"/>
          <a:ea typeface="メイリオ"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90.png"/><Relationship Id="rId7" Type="http://schemas.openxmlformats.org/officeDocument/2006/relationships/image" Target="../media/image19.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0.png"/><Relationship Id="rId9"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60.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AF8308-8797-AE0A-F051-9FC36353C6DC}"/>
              </a:ext>
            </a:extLst>
          </p:cNvPr>
          <p:cNvSpPr>
            <a:spLocks noGrp="1"/>
          </p:cNvSpPr>
          <p:nvPr>
            <p:ph type="ctrTitle"/>
          </p:nvPr>
        </p:nvSpPr>
        <p:spPr>
          <a:xfrm>
            <a:off x="685800" y="1532965"/>
            <a:ext cx="7772400" cy="2387600"/>
          </a:xfrm>
        </p:spPr>
        <p:txBody>
          <a:bodyPr>
            <a:normAutofit/>
          </a:bodyPr>
          <a:lstStyle/>
          <a:p>
            <a:r>
              <a:rPr lang="ja-JP" altLang="en-US" sz="3200" b="1" dirty="0"/>
              <a:t>進捗報告 </a:t>
            </a:r>
            <a:r>
              <a:rPr lang="en-US" altLang="ja-JP" sz="3200" b="1" dirty="0"/>
              <a:t>11</a:t>
            </a:r>
            <a:r>
              <a:rPr lang="ja-JP" altLang="en-US" sz="3200" b="1" dirty="0"/>
              <a:t>月</a:t>
            </a:r>
            <a:br>
              <a:rPr lang="ja-JP" altLang="en-US" sz="3200" b="1" dirty="0"/>
            </a:br>
            <a:endParaRPr kumimoji="1" lang="ja-JP" altLang="en-US" sz="3200" dirty="0"/>
          </a:p>
        </p:txBody>
      </p:sp>
      <p:sp>
        <p:nvSpPr>
          <p:cNvPr id="3" name="字幕 2">
            <a:extLst>
              <a:ext uri="{FF2B5EF4-FFF2-40B4-BE49-F238E27FC236}">
                <a16:creationId xmlns:a16="http://schemas.microsoft.com/office/drawing/2014/main" id="{ED7C82D5-E7D2-91CD-9FFC-8BEA952B4BF8}"/>
              </a:ext>
            </a:extLst>
          </p:cNvPr>
          <p:cNvSpPr>
            <a:spLocks noGrp="1"/>
          </p:cNvSpPr>
          <p:nvPr>
            <p:ph type="subTitle" idx="1"/>
          </p:nvPr>
        </p:nvSpPr>
        <p:spPr>
          <a:xfrm>
            <a:off x="1143000" y="3669273"/>
            <a:ext cx="6858000" cy="1655762"/>
          </a:xfrm>
        </p:spPr>
        <p:txBody>
          <a:bodyPr>
            <a:normAutofit/>
          </a:bodyPr>
          <a:lstStyle/>
          <a:p>
            <a:pPr algn="r"/>
            <a:r>
              <a:rPr lang="ja-JP" altLang="en-US" sz="1800" dirty="0"/>
              <a:t>東京理科大学　先進工学部　電子システム工学科　</a:t>
            </a:r>
            <a:endParaRPr lang="en-US" altLang="ja-JP" sz="1800" dirty="0"/>
          </a:p>
          <a:p>
            <a:pPr algn="r"/>
            <a:r>
              <a:rPr lang="ja-JP" altLang="en-US" sz="1800" dirty="0"/>
              <a:t>相川研究室 </a:t>
            </a:r>
            <a:r>
              <a:rPr lang="en-US" altLang="ja-JP" sz="1800" dirty="0"/>
              <a:t>B4 </a:t>
            </a:r>
          </a:p>
          <a:p>
            <a:pPr algn="r"/>
            <a:r>
              <a:rPr lang="ja-JP" altLang="en-US" sz="1800" dirty="0"/>
              <a:t>宇田川泰</a:t>
            </a:r>
            <a:endParaRPr kumimoji="1" lang="ja-JP" altLang="en-US" sz="1800" dirty="0"/>
          </a:p>
        </p:txBody>
      </p:sp>
    </p:spTree>
    <p:extLst>
      <p:ext uri="{BB962C8B-B14F-4D97-AF65-F5344CB8AC3E}">
        <p14:creationId xmlns:p14="http://schemas.microsoft.com/office/powerpoint/2010/main" val="2025935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804C57-8F54-8723-B396-D89953F0C8E9}"/>
              </a:ext>
            </a:extLst>
          </p:cNvPr>
          <p:cNvSpPr>
            <a:spLocks noGrp="1"/>
          </p:cNvSpPr>
          <p:nvPr>
            <p:ph type="title"/>
          </p:nvPr>
        </p:nvSpPr>
        <p:spPr/>
        <p:txBody>
          <a:bodyPr/>
          <a:lstStyle/>
          <a:p>
            <a:r>
              <a:rPr kumimoji="1" lang="ja-JP" altLang="en-US" dirty="0"/>
              <a:t>先月行ったこと</a:t>
            </a:r>
          </a:p>
        </p:txBody>
      </p:sp>
      <p:sp>
        <p:nvSpPr>
          <p:cNvPr id="4" name="スライド番号プレースホルダー 3">
            <a:extLst>
              <a:ext uri="{FF2B5EF4-FFF2-40B4-BE49-F238E27FC236}">
                <a16:creationId xmlns:a16="http://schemas.microsoft.com/office/drawing/2014/main" id="{4B687782-B52D-9D2A-4501-6A8816864561}"/>
              </a:ext>
            </a:extLst>
          </p:cNvPr>
          <p:cNvSpPr>
            <a:spLocks noGrp="1"/>
          </p:cNvSpPr>
          <p:nvPr>
            <p:ph type="sldNum" sz="quarter" idx="12"/>
          </p:nvPr>
        </p:nvSpPr>
        <p:spPr/>
        <p:txBody>
          <a:bodyPr/>
          <a:lstStyle/>
          <a:p>
            <a:fld id="{F4F93977-CC68-4F92-83A3-0276DC4D9982}" type="slidenum">
              <a:rPr kumimoji="1" lang="ja-JP" altLang="en-US" smtClean="0"/>
              <a:pPr/>
              <a:t>1</a:t>
            </a:fld>
            <a:endParaRPr kumimoji="1" lang="ja-JP" altLang="en-US" dirty="0"/>
          </a:p>
        </p:txBody>
      </p:sp>
      <p:sp>
        <p:nvSpPr>
          <p:cNvPr id="5" name="コンテンツ プレースホルダー 2">
            <a:extLst>
              <a:ext uri="{FF2B5EF4-FFF2-40B4-BE49-F238E27FC236}">
                <a16:creationId xmlns:a16="http://schemas.microsoft.com/office/drawing/2014/main" id="{5238B6CB-C854-22EF-EF7E-A488DFBE45CB}"/>
              </a:ext>
            </a:extLst>
          </p:cNvPr>
          <p:cNvSpPr>
            <a:spLocks noGrp="1"/>
          </p:cNvSpPr>
          <p:nvPr>
            <p:ph idx="1"/>
          </p:nvPr>
        </p:nvSpPr>
        <p:spPr>
          <a:xfrm>
            <a:off x="628650" y="1997747"/>
            <a:ext cx="7886700" cy="2439782"/>
          </a:xfrm>
        </p:spPr>
        <p:txBody>
          <a:bodyPr>
            <a:normAutofit/>
          </a:bodyPr>
          <a:lstStyle/>
          <a:p>
            <a:r>
              <a:rPr lang="en-US" altLang="ja-JP" dirty="0"/>
              <a:t>ITC-CSCC</a:t>
            </a:r>
            <a:r>
              <a:rPr lang="ja-JP" altLang="en-US" dirty="0"/>
              <a:t>国際学会で発表</a:t>
            </a:r>
            <a:endParaRPr lang="en-US" altLang="ja-JP" dirty="0"/>
          </a:p>
        </p:txBody>
      </p:sp>
    </p:spTree>
    <p:extLst>
      <p:ext uri="{BB962C8B-B14F-4D97-AF65-F5344CB8AC3E}">
        <p14:creationId xmlns:p14="http://schemas.microsoft.com/office/powerpoint/2010/main" val="489009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8959AC-E70D-7FF5-D32A-927178CA417B}"/>
              </a:ext>
            </a:extLst>
          </p:cNvPr>
          <p:cNvSpPr>
            <a:spLocks noGrp="1"/>
          </p:cNvSpPr>
          <p:nvPr>
            <p:ph type="title"/>
          </p:nvPr>
        </p:nvSpPr>
        <p:spPr/>
        <p:txBody>
          <a:bodyPr/>
          <a:lstStyle/>
          <a:p>
            <a:r>
              <a:rPr lang="ja-JP" altLang="en-US" dirty="0"/>
              <a:t>今月行ったこと</a:t>
            </a:r>
            <a:endParaRPr kumimoji="1" lang="ja-JP" altLang="en-US" dirty="0"/>
          </a:p>
        </p:txBody>
      </p:sp>
      <p:sp>
        <p:nvSpPr>
          <p:cNvPr id="3" name="コンテンツ プレースホルダー 2">
            <a:extLst>
              <a:ext uri="{FF2B5EF4-FFF2-40B4-BE49-F238E27FC236}">
                <a16:creationId xmlns:a16="http://schemas.microsoft.com/office/drawing/2014/main" id="{FFA8CDB6-48B5-C48B-D192-B65CF7A73D0F}"/>
              </a:ext>
            </a:extLst>
          </p:cNvPr>
          <p:cNvSpPr>
            <a:spLocks noGrp="1"/>
          </p:cNvSpPr>
          <p:nvPr>
            <p:ph idx="1"/>
          </p:nvPr>
        </p:nvSpPr>
        <p:spPr>
          <a:xfrm>
            <a:off x="628650" y="1997747"/>
            <a:ext cx="7886700" cy="2439782"/>
          </a:xfrm>
        </p:spPr>
        <p:txBody>
          <a:bodyPr>
            <a:normAutofit fontScale="85000" lnSpcReduction="10000"/>
          </a:bodyPr>
          <a:lstStyle/>
          <a:p>
            <a:r>
              <a:rPr lang="ja-JP" altLang="en-US" dirty="0"/>
              <a:t>特集号の執筆</a:t>
            </a:r>
            <a:endParaRPr lang="en-US" altLang="ja-JP" dirty="0"/>
          </a:p>
          <a:p>
            <a:endParaRPr lang="en-US" altLang="ja-JP" dirty="0"/>
          </a:p>
          <a:p>
            <a:r>
              <a:rPr lang="ja-JP" altLang="en-US" dirty="0"/>
              <a:t>差近傍マッチからハンガリアンマッチに変更してテスト</a:t>
            </a:r>
            <a:endParaRPr lang="en-US" altLang="ja-JP" dirty="0"/>
          </a:p>
          <a:p>
            <a:endParaRPr lang="en-US" altLang="ja-JP" dirty="0"/>
          </a:p>
          <a:p>
            <a:r>
              <a:rPr kumimoji="1" lang="ja-JP" altLang="en-US" b="1" dirty="0"/>
              <a:t>シミュレーションデータ</a:t>
            </a:r>
            <a:r>
              <a:rPr kumimoji="1" lang="ja-JP" altLang="en-US" dirty="0"/>
              <a:t>における面外運動要素の追加</a:t>
            </a:r>
            <a:endParaRPr lang="en-US" altLang="ja-JP" dirty="0"/>
          </a:p>
        </p:txBody>
      </p:sp>
      <p:sp>
        <p:nvSpPr>
          <p:cNvPr id="4" name="スライド番号プレースホルダー 3">
            <a:extLst>
              <a:ext uri="{FF2B5EF4-FFF2-40B4-BE49-F238E27FC236}">
                <a16:creationId xmlns:a16="http://schemas.microsoft.com/office/drawing/2014/main" id="{295CD339-6333-9328-BF08-A905C1100C7E}"/>
              </a:ext>
            </a:extLst>
          </p:cNvPr>
          <p:cNvSpPr>
            <a:spLocks noGrp="1"/>
          </p:cNvSpPr>
          <p:nvPr>
            <p:ph type="sldNum" sz="quarter" idx="12"/>
          </p:nvPr>
        </p:nvSpPr>
        <p:spPr/>
        <p:txBody>
          <a:bodyPr/>
          <a:lstStyle/>
          <a:p>
            <a:fld id="{F4F93977-CC68-4F92-83A3-0276DC4D9982}" type="slidenum">
              <a:rPr kumimoji="1" lang="ja-JP" altLang="en-US" smtClean="0"/>
              <a:pPr/>
              <a:t>2</a:t>
            </a:fld>
            <a:endParaRPr kumimoji="1" lang="ja-JP" altLang="en-US" dirty="0"/>
          </a:p>
        </p:txBody>
      </p:sp>
    </p:spTree>
    <p:extLst>
      <p:ext uri="{BB962C8B-B14F-4D97-AF65-F5344CB8AC3E}">
        <p14:creationId xmlns:p14="http://schemas.microsoft.com/office/powerpoint/2010/main" val="2767840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F1DB45-9A5F-EB00-7642-222FC2D1276A}"/>
              </a:ext>
            </a:extLst>
          </p:cNvPr>
          <p:cNvSpPr>
            <a:spLocks noGrp="1"/>
          </p:cNvSpPr>
          <p:nvPr>
            <p:ph type="title"/>
          </p:nvPr>
        </p:nvSpPr>
        <p:spPr/>
        <p:txBody>
          <a:bodyPr/>
          <a:lstStyle/>
          <a:p>
            <a:r>
              <a:rPr kumimoji="1" lang="ja-JP" altLang="en-US" dirty="0"/>
              <a:t>研究背景</a:t>
            </a:r>
            <a:r>
              <a:rPr kumimoji="1" lang="en-US" altLang="ja-JP" dirty="0"/>
              <a:t>(1/2)</a:t>
            </a:r>
            <a:endParaRPr kumimoji="1" lang="ja-JP" altLang="en-US" dirty="0"/>
          </a:p>
        </p:txBody>
      </p:sp>
      <p:sp>
        <p:nvSpPr>
          <p:cNvPr id="3" name="コンテンツ プレースホルダー 2">
            <a:extLst>
              <a:ext uri="{FF2B5EF4-FFF2-40B4-BE49-F238E27FC236}">
                <a16:creationId xmlns:a16="http://schemas.microsoft.com/office/drawing/2014/main" id="{14405312-F7BF-3B11-EE99-DDC23C463E5F}"/>
              </a:ext>
            </a:extLst>
          </p:cNvPr>
          <p:cNvSpPr>
            <a:spLocks noGrp="1"/>
          </p:cNvSpPr>
          <p:nvPr>
            <p:ph idx="1"/>
          </p:nvPr>
        </p:nvSpPr>
        <p:spPr>
          <a:xfrm>
            <a:off x="702223" y="1058000"/>
            <a:ext cx="7886700" cy="4351338"/>
          </a:xfrm>
        </p:spPr>
        <p:txBody>
          <a:bodyPr>
            <a:normAutofit/>
          </a:bodyPr>
          <a:lstStyle/>
          <a:p>
            <a:pPr>
              <a:buClr>
                <a:schemeClr val="tx2"/>
              </a:buClr>
            </a:pPr>
            <a:r>
              <a:rPr lang="en-US" altLang="ja-JP" sz="2000" b="1" dirty="0">
                <a:solidFill>
                  <a:schemeClr val="tx2"/>
                </a:solidFill>
              </a:rPr>
              <a:t>PIV/PTV</a:t>
            </a:r>
            <a:r>
              <a:rPr lang="ja-JP" altLang="en-US" sz="2000" b="1" dirty="0">
                <a:solidFill>
                  <a:schemeClr val="tx2"/>
                </a:solidFill>
              </a:rPr>
              <a:t>（粒子画像流速測定法：</a:t>
            </a:r>
            <a:r>
              <a:rPr lang="en-US" altLang="ja-JP" sz="2000" b="1" dirty="0">
                <a:solidFill>
                  <a:schemeClr val="tx2"/>
                </a:solidFill>
              </a:rPr>
              <a:t>Particle Image/Tracking Velocimetry</a:t>
            </a:r>
            <a:r>
              <a:rPr lang="ja-JP" altLang="en-US" sz="2000" b="1" dirty="0">
                <a:solidFill>
                  <a:schemeClr val="tx2"/>
                </a:solidFill>
              </a:rPr>
              <a:t>）</a:t>
            </a:r>
            <a:endParaRPr lang="en-US" altLang="ja-JP" sz="2000" b="1" dirty="0">
              <a:solidFill>
                <a:schemeClr val="tx2"/>
              </a:solidFill>
            </a:endParaRPr>
          </a:p>
          <a:p>
            <a:pPr marL="0" indent="0">
              <a:buNone/>
            </a:pPr>
            <a:r>
              <a:rPr lang="ja-JP" altLang="en-US" sz="2000" dirty="0"/>
              <a:t>　→ 流体の運動特性を非接触で</a:t>
            </a:r>
            <a:r>
              <a:rPr lang="ja-JP" altLang="en-US" sz="2000" u="sng" dirty="0"/>
              <a:t>可視化・定量化</a:t>
            </a:r>
            <a:r>
              <a:rPr lang="ja-JP" altLang="en-US" sz="2000" dirty="0"/>
              <a:t>する計測技術</a:t>
            </a:r>
            <a:r>
              <a:rPr lang="en-US" altLang="ja-JP" sz="2000" dirty="0"/>
              <a:t>[1]</a:t>
            </a:r>
          </a:p>
          <a:p>
            <a:endParaRPr kumimoji="1" lang="ja-JP" altLang="en-US" sz="2000" dirty="0"/>
          </a:p>
        </p:txBody>
      </p:sp>
      <p:sp>
        <p:nvSpPr>
          <p:cNvPr id="4" name="スライド番号プレースホルダー 3">
            <a:extLst>
              <a:ext uri="{FF2B5EF4-FFF2-40B4-BE49-F238E27FC236}">
                <a16:creationId xmlns:a16="http://schemas.microsoft.com/office/drawing/2014/main" id="{D08A1D58-0EE0-81B5-2EC6-9B2F2CEA1264}"/>
              </a:ext>
            </a:extLst>
          </p:cNvPr>
          <p:cNvSpPr>
            <a:spLocks noGrp="1"/>
          </p:cNvSpPr>
          <p:nvPr>
            <p:ph type="sldNum" sz="quarter" idx="12"/>
          </p:nvPr>
        </p:nvSpPr>
        <p:spPr/>
        <p:txBody>
          <a:bodyPr/>
          <a:lstStyle/>
          <a:p>
            <a:fld id="{F4F93977-CC68-4F92-83A3-0276DC4D9982}" type="slidenum">
              <a:rPr kumimoji="1" lang="ja-JP" altLang="en-US" smtClean="0"/>
              <a:pPr/>
              <a:t>3</a:t>
            </a:fld>
            <a:endParaRPr kumimoji="1" lang="ja-JP" altLang="en-US" dirty="0"/>
          </a:p>
        </p:txBody>
      </p:sp>
      <p:pic>
        <p:nvPicPr>
          <p:cNvPr id="25" name="図 24">
            <a:extLst>
              <a:ext uri="{FF2B5EF4-FFF2-40B4-BE49-F238E27FC236}">
                <a16:creationId xmlns:a16="http://schemas.microsoft.com/office/drawing/2014/main" id="{4EA71B18-2E8C-05BF-0A0E-95951413537D}"/>
              </a:ext>
            </a:extLst>
          </p:cNvPr>
          <p:cNvPicPr>
            <a:picLocks noChangeAspect="1"/>
          </p:cNvPicPr>
          <p:nvPr/>
        </p:nvPicPr>
        <p:blipFill>
          <a:blip r:embed="rId3"/>
          <a:stretch>
            <a:fillRect/>
          </a:stretch>
        </p:blipFill>
        <p:spPr>
          <a:xfrm>
            <a:off x="495958" y="2016967"/>
            <a:ext cx="8092965" cy="3950613"/>
          </a:xfrm>
          <a:prstGeom prst="rect">
            <a:avLst/>
          </a:prstGeom>
        </p:spPr>
      </p:pic>
      <p:sp>
        <p:nvSpPr>
          <p:cNvPr id="26" name="テキスト ボックス 25">
            <a:extLst>
              <a:ext uri="{FF2B5EF4-FFF2-40B4-BE49-F238E27FC236}">
                <a16:creationId xmlns:a16="http://schemas.microsoft.com/office/drawing/2014/main" id="{435D4E3F-B704-F8D9-84B4-7E919F613C9B}"/>
              </a:ext>
            </a:extLst>
          </p:cNvPr>
          <p:cNvSpPr txBox="1"/>
          <p:nvPr/>
        </p:nvSpPr>
        <p:spPr>
          <a:xfrm>
            <a:off x="263072" y="6251275"/>
            <a:ext cx="12929819" cy="461665"/>
          </a:xfrm>
          <a:prstGeom prst="rect">
            <a:avLst/>
          </a:prstGeom>
          <a:noFill/>
        </p:spPr>
        <p:txBody>
          <a:bodyPr wrap="square" rtlCol="0">
            <a:spAutoFit/>
          </a:bodyPr>
          <a:lstStyle/>
          <a:p>
            <a:r>
              <a:rPr lang="en-US" altLang="ja-JP" sz="1200" dirty="0">
                <a:latin typeface="Segoe UI" panose="020B0502040204020203" pitchFamily="34" charset="0"/>
                <a:ea typeface="メイリオ" panose="020B0604030504040204" pitchFamily="50" charset="-128"/>
              </a:rPr>
              <a:t>[1]</a:t>
            </a:r>
            <a:r>
              <a:rPr lang="ja-JP" altLang="en-US" sz="1200" dirty="0">
                <a:latin typeface="Segoe UI" panose="020B0502040204020203" pitchFamily="34" charset="0"/>
                <a:ea typeface="メイリオ" panose="020B0604030504040204" pitchFamily="50" charset="-128"/>
              </a:rPr>
              <a:t> </a:t>
            </a:r>
            <a:r>
              <a:rPr lang="en-US" altLang="ja-JP" sz="1200" b="1" dirty="0"/>
              <a:t>R. J. Adrian &amp; J. </a:t>
            </a:r>
            <a:r>
              <a:rPr lang="en-US" altLang="ja-JP" sz="1200" b="1" dirty="0" err="1"/>
              <a:t>Westerweel</a:t>
            </a:r>
            <a:r>
              <a:rPr lang="en-US" altLang="ja-JP" sz="1200" dirty="0"/>
              <a:t>,</a:t>
            </a:r>
            <a:br>
              <a:rPr lang="en-US" altLang="ja-JP" sz="1200" dirty="0"/>
            </a:br>
            <a:r>
              <a:rPr lang="en-US" altLang="ja-JP" sz="1200" i="1" dirty="0"/>
              <a:t>"Particle Image Velocimetry: A Practical Guide"</a:t>
            </a:r>
            <a:r>
              <a:rPr lang="en-US" altLang="ja-JP" sz="1200" dirty="0"/>
              <a:t>, Springer, 2011</a:t>
            </a:r>
            <a:endParaRPr kumimoji="1" lang="ja-JP" altLang="en-US" sz="1200" dirty="0">
              <a:latin typeface="Segoe UI" panose="020B0502040204020203" pitchFamily="34" charset="0"/>
              <a:ea typeface="メイリオ" panose="020B0604030504040204" pitchFamily="50" charset="-128"/>
            </a:endParaRPr>
          </a:p>
        </p:txBody>
      </p:sp>
      <p:sp>
        <p:nvSpPr>
          <p:cNvPr id="5" name="楕円 4">
            <a:extLst>
              <a:ext uri="{FF2B5EF4-FFF2-40B4-BE49-F238E27FC236}">
                <a16:creationId xmlns:a16="http://schemas.microsoft.com/office/drawing/2014/main" id="{15EAB361-4E40-8F8F-F260-6982788FC6EC}"/>
              </a:ext>
            </a:extLst>
          </p:cNvPr>
          <p:cNvSpPr/>
          <p:nvPr/>
        </p:nvSpPr>
        <p:spPr>
          <a:xfrm>
            <a:off x="4409782" y="3676587"/>
            <a:ext cx="359229" cy="631371"/>
          </a:xfrm>
          <a:prstGeom prst="ellipse">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73431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5688C0BA-45B4-6B40-B234-E722465E42E2}"/>
              </a:ext>
            </a:extLst>
          </p:cNvPr>
          <p:cNvSpPr/>
          <p:nvPr/>
        </p:nvSpPr>
        <p:spPr>
          <a:xfrm>
            <a:off x="2585223" y="5604746"/>
            <a:ext cx="4278032" cy="91440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4CB9989D-0AFF-9B8F-1F88-52BA828676FE}"/>
              </a:ext>
            </a:extLst>
          </p:cNvPr>
          <p:cNvSpPr>
            <a:spLocks noGrp="1"/>
          </p:cNvSpPr>
          <p:nvPr>
            <p:ph type="title"/>
          </p:nvPr>
        </p:nvSpPr>
        <p:spPr/>
        <p:txBody>
          <a:bodyPr/>
          <a:lstStyle/>
          <a:p>
            <a:r>
              <a:rPr lang="ja-JP" altLang="en-US" dirty="0"/>
              <a:t>研究背景</a:t>
            </a:r>
            <a:r>
              <a:rPr lang="en-US" altLang="ja-JP" dirty="0"/>
              <a:t>(2/2)</a:t>
            </a:r>
            <a:endParaRPr kumimoji="1" lang="ja-JP" altLang="en-US" dirty="0"/>
          </a:p>
        </p:txBody>
      </p:sp>
      <p:sp>
        <p:nvSpPr>
          <p:cNvPr id="4" name="スライド番号プレースホルダー 3">
            <a:extLst>
              <a:ext uri="{FF2B5EF4-FFF2-40B4-BE49-F238E27FC236}">
                <a16:creationId xmlns:a16="http://schemas.microsoft.com/office/drawing/2014/main" id="{B08D92CB-4EA5-9A4E-853E-287FD9467C15}"/>
              </a:ext>
            </a:extLst>
          </p:cNvPr>
          <p:cNvSpPr>
            <a:spLocks noGrp="1"/>
          </p:cNvSpPr>
          <p:nvPr>
            <p:ph type="sldNum" sz="quarter" idx="12"/>
          </p:nvPr>
        </p:nvSpPr>
        <p:spPr/>
        <p:txBody>
          <a:bodyPr/>
          <a:lstStyle/>
          <a:p>
            <a:fld id="{F4F93977-CC68-4F92-83A3-0276DC4D9982}" type="slidenum">
              <a:rPr kumimoji="1" lang="ja-JP" altLang="en-US" smtClean="0"/>
              <a:pPr/>
              <a:t>4</a:t>
            </a:fld>
            <a:endParaRPr kumimoji="1" lang="ja-JP" altLang="en-US" dirty="0"/>
          </a:p>
        </p:txBody>
      </p:sp>
      <p:pic>
        <p:nvPicPr>
          <p:cNvPr id="3" name="trimmed_video">
            <a:hlinkClick r:id="" action="ppaction://media"/>
            <a:extLst>
              <a:ext uri="{FF2B5EF4-FFF2-40B4-BE49-F238E27FC236}">
                <a16:creationId xmlns:a16="http://schemas.microsoft.com/office/drawing/2014/main" id="{3A1AA4C9-15C8-A12D-3F71-644CBE38EF7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043092" y="1269565"/>
            <a:ext cx="7057815" cy="4046481"/>
          </a:xfrm>
          <a:prstGeom prst="rect">
            <a:avLst/>
          </a:prstGeom>
        </p:spPr>
      </p:pic>
      <p:sp>
        <p:nvSpPr>
          <p:cNvPr id="6" name="テキスト ボックス 5">
            <a:extLst>
              <a:ext uri="{FF2B5EF4-FFF2-40B4-BE49-F238E27FC236}">
                <a16:creationId xmlns:a16="http://schemas.microsoft.com/office/drawing/2014/main" id="{6E9DA797-C53C-5C83-E361-5F42E7821AFF}"/>
              </a:ext>
            </a:extLst>
          </p:cNvPr>
          <p:cNvSpPr txBox="1"/>
          <p:nvPr/>
        </p:nvSpPr>
        <p:spPr>
          <a:xfrm>
            <a:off x="563148" y="5732664"/>
            <a:ext cx="886055" cy="369332"/>
          </a:xfrm>
          <a:prstGeom prst="rect">
            <a:avLst/>
          </a:prstGeom>
          <a:noFill/>
        </p:spPr>
        <p:txBody>
          <a:bodyPr wrap="square" rtlCol="0">
            <a:spAutoFit/>
          </a:bodyPr>
          <a:lstStyle/>
          <a:p>
            <a:r>
              <a:rPr kumimoji="1" lang="ja-JP" altLang="en-US" dirty="0"/>
              <a:t>障害物</a:t>
            </a:r>
          </a:p>
        </p:txBody>
      </p:sp>
      <p:sp>
        <p:nvSpPr>
          <p:cNvPr id="9" name="コンテンツ プレースホルダー 2">
            <a:extLst>
              <a:ext uri="{FF2B5EF4-FFF2-40B4-BE49-F238E27FC236}">
                <a16:creationId xmlns:a16="http://schemas.microsoft.com/office/drawing/2014/main" id="{6CF2F42A-38D3-9075-3E97-F2F3DEE6FF03}"/>
              </a:ext>
            </a:extLst>
          </p:cNvPr>
          <p:cNvSpPr txBox="1">
            <a:spLocks/>
          </p:cNvSpPr>
          <p:nvPr/>
        </p:nvSpPr>
        <p:spPr>
          <a:xfrm>
            <a:off x="2128343" y="913420"/>
            <a:ext cx="4734912" cy="369332"/>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800" dirty="0">
                <a:latin typeface="メイリオ" panose="020B0604030504040204" pitchFamily="50" charset="-128"/>
                <a:ea typeface="メイリオ" panose="020B0604030504040204" pitchFamily="50" charset="-128"/>
              </a:rPr>
              <a:t>SONY </a:t>
            </a:r>
            <a:r>
              <a:rPr lang="ja-JP" altLang="en-US" sz="1800" dirty="0">
                <a:latin typeface="メイリオ" panose="020B0604030504040204" pitchFamily="50" charset="-128"/>
                <a:ea typeface="メイリオ" panose="020B0604030504040204" pitchFamily="50" charset="-128"/>
              </a:rPr>
              <a:t>デジタルカメラ </a:t>
            </a:r>
            <a:r>
              <a:rPr lang="en-US" altLang="ja-JP" sz="1800" dirty="0">
                <a:latin typeface="メイリオ" panose="020B0604030504040204" pitchFamily="50" charset="-128"/>
                <a:ea typeface="メイリオ" panose="020B0604030504040204" pitchFamily="50" charset="-128"/>
              </a:rPr>
              <a:t>ZV-1F</a:t>
            </a:r>
            <a:r>
              <a:rPr lang="ja-JP" altLang="en-US" sz="1800" dirty="0">
                <a:latin typeface="メイリオ" panose="020B0604030504040204" pitchFamily="50" charset="-128"/>
                <a:ea typeface="メイリオ" panose="020B0604030504040204" pitchFamily="50" charset="-128"/>
              </a:rPr>
              <a:t>で撮影した映像</a:t>
            </a:r>
          </a:p>
        </p:txBody>
      </p:sp>
      <p:sp>
        <p:nvSpPr>
          <p:cNvPr id="12" name="矢印: 右 11">
            <a:extLst>
              <a:ext uri="{FF2B5EF4-FFF2-40B4-BE49-F238E27FC236}">
                <a16:creationId xmlns:a16="http://schemas.microsoft.com/office/drawing/2014/main" id="{3950FF40-B3D2-E7BA-F9E9-04FE854173F7}"/>
              </a:ext>
            </a:extLst>
          </p:cNvPr>
          <p:cNvSpPr/>
          <p:nvPr/>
        </p:nvSpPr>
        <p:spPr>
          <a:xfrm>
            <a:off x="84230" y="2957334"/>
            <a:ext cx="957836" cy="987429"/>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C8BCE896-5946-8155-3C21-E55BEFF8783B}"/>
              </a:ext>
            </a:extLst>
          </p:cNvPr>
          <p:cNvSpPr txBox="1"/>
          <p:nvPr/>
        </p:nvSpPr>
        <p:spPr>
          <a:xfrm>
            <a:off x="226488" y="2447760"/>
            <a:ext cx="641131" cy="369332"/>
          </a:xfrm>
          <a:prstGeom prst="rect">
            <a:avLst/>
          </a:prstGeom>
          <a:noFill/>
        </p:spPr>
        <p:txBody>
          <a:bodyPr wrap="square" rtlCol="0">
            <a:spAutoFit/>
          </a:bodyPr>
          <a:lstStyle/>
          <a:p>
            <a:r>
              <a:rPr kumimoji="1" lang="ja-JP" altLang="en-US" dirty="0">
                <a:latin typeface="メイリオ" panose="020B0604030504040204" pitchFamily="50" charset="-128"/>
                <a:ea typeface="メイリオ" panose="020B0604030504040204" pitchFamily="50" charset="-128"/>
              </a:rPr>
              <a:t>流入</a:t>
            </a:r>
          </a:p>
        </p:txBody>
      </p:sp>
      <p:cxnSp>
        <p:nvCxnSpPr>
          <p:cNvPr id="17" name="直線コネクタ 16">
            <a:extLst>
              <a:ext uri="{FF2B5EF4-FFF2-40B4-BE49-F238E27FC236}">
                <a16:creationId xmlns:a16="http://schemas.microsoft.com/office/drawing/2014/main" id="{C7BACA23-33EB-B306-9A67-CE19FD62F5C3}"/>
              </a:ext>
            </a:extLst>
          </p:cNvPr>
          <p:cNvCxnSpPr>
            <a:cxnSpLocks/>
          </p:cNvCxnSpPr>
          <p:nvPr/>
        </p:nvCxnSpPr>
        <p:spPr>
          <a:xfrm flipH="1">
            <a:off x="1387256" y="5054710"/>
            <a:ext cx="1483762" cy="796344"/>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sp>
        <p:nvSpPr>
          <p:cNvPr id="18" name="楕円 17">
            <a:extLst>
              <a:ext uri="{FF2B5EF4-FFF2-40B4-BE49-F238E27FC236}">
                <a16:creationId xmlns:a16="http://schemas.microsoft.com/office/drawing/2014/main" id="{BEA5FE93-AF73-E07A-A286-E45974004A2A}"/>
              </a:ext>
            </a:extLst>
          </p:cNvPr>
          <p:cNvSpPr/>
          <p:nvPr/>
        </p:nvSpPr>
        <p:spPr>
          <a:xfrm>
            <a:off x="547053" y="5646448"/>
            <a:ext cx="886055" cy="541764"/>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7E7C4C12-9D57-0A46-3942-EF8BD331D758}"/>
              </a:ext>
            </a:extLst>
          </p:cNvPr>
          <p:cNvSpPr txBox="1"/>
          <p:nvPr/>
        </p:nvSpPr>
        <p:spPr>
          <a:xfrm>
            <a:off x="2728121" y="5748053"/>
            <a:ext cx="4278032" cy="707886"/>
          </a:xfrm>
          <a:prstGeom prst="rect">
            <a:avLst/>
          </a:prstGeom>
          <a:noFill/>
        </p:spPr>
        <p:txBody>
          <a:bodyPr wrap="square" rtlCol="0">
            <a:spAutoFit/>
          </a:bodyPr>
          <a:lstStyle/>
          <a:p>
            <a:r>
              <a:rPr kumimoji="1" lang="ja-JP" altLang="en-US" sz="2000" b="1" dirty="0"/>
              <a:t>・障害物を超えると流れが変化</a:t>
            </a:r>
            <a:endParaRPr kumimoji="1" lang="en-US" altLang="ja-JP" sz="2000" b="1" dirty="0"/>
          </a:p>
          <a:p>
            <a:r>
              <a:rPr kumimoji="1" lang="ja-JP" altLang="en-US" sz="2000" b="1" dirty="0"/>
              <a:t>・粒子の動きを追跡することが大事</a:t>
            </a:r>
          </a:p>
        </p:txBody>
      </p:sp>
      <p:sp>
        <p:nvSpPr>
          <p:cNvPr id="7" name="正方形/長方形 6">
            <a:extLst>
              <a:ext uri="{FF2B5EF4-FFF2-40B4-BE49-F238E27FC236}">
                <a16:creationId xmlns:a16="http://schemas.microsoft.com/office/drawing/2014/main" id="{4A59C9D6-F592-57CA-C3C0-5BFDCB6013E7}"/>
              </a:ext>
            </a:extLst>
          </p:cNvPr>
          <p:cNvSpPr/>
          <p:nvPr/>
        </p:nvSpPr>
        <p:spPr>
          <a:xfrm>
            <a:off x="2871018" y="2453768"/>
            <a:ext cx="2167325" cy="2981990"/>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93909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3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mute="1">
                <p:cTn id="12" repeatCount="indefinite" fill="remove" display="0">
                  <p:stCondLst>
                    <p:cond delay="indefinite"/>
                  </p:stCondLst>
                </p:cTn>
                <p:tgtEl>
                  <p:spTgt spid="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26EC96-34B1-628F-745F-A7A211631D8B}"/>
              </a:ext>
            </a:extLst>
          </p:cNvPr>
          <p:cNvSpPr>
            <a:spLocks noGrp="1"/>
          </p:cNvSpPr>
          <p:nvPr>
            <p:ph type="title"/>
          </p:nvPr>
        </p:nvSpPr>
        <p:spPr/>
        <p:txBody>
          <a:bodyPr/>
          <a:lstStyle/>
          <a:p>
            <a:r>
              <a:rPr kumimoji="1" lang="ja-JP" altLang="en-US" dirty="0"/>
              <a:t>研究目的</a:t>
            </a:r>
          </a:p>
        </p:txBody>
      </p:sp>
      <p:sp>
        <p:nvSpPr>
          <p:cNvPr id="4" name="スライド番号プレースホルダー 3">
            <a:extLst>
              <a:ext uri="{FF2B5EF4-FFF2-40B4-BE49-F238E27FC236}">
                <a16:creationId xmlns:a16="http://schemas.microsoft.com/office/drawing/2014/main" id="{1CD21DEA-F746-0DC4-85E0-41E4C571946B}"/>
              </a:ext>
            </a:extLst>
          </p:cNvPr>
          <p:cNvSpPr>
            <a:spLocks noGrp="1"/>
          </p:cNvSpPr>
          <p:nvPr>
            <p:ph type="sldNum" sz="quarter" idx="12"/>
          </p:nvPr>
        </p:nvSpPr>
        <p:spPr/>
        <p:txBody>
          <a:bodyPr/>
          <a:lstStyle/>
          <a:p>
            <a:fld id="{F4F93977-CC68-4F92-83A3-0276DC4D9982}" type="slidenum">
              <a:rPr kumimoji="1" lang="ja-JP" altLang="en-US" smtClean="0"/>
              <a:pPr/>
              <a:t>5</a:t>
            </a:fld>
            <a:endParaRPr kumimoji="1" lang="ja-JP" altLang="en-US" dirty="0"/>
          </a:p>
        </p:txBody>
      </p:sp>
      <p:sp>
        <p:nvSpPr>
          <p:cNvPr id="3" name="テキスト ボックス 2">
            <a:extLst>
              <a:ext uri="{FF2B5EF4-FFF2-40B4-BE49-F238E27FC236}">
                <a16:creationId xmlns:a16="http://schemas.microsoft.com/office/drawing/2014/main" id="{1468E154-7BCD-0C0B-2C1F-44C6F5AE8D1D}"/>
              </a:ext>
            </a:extLst>
          </p:cNvPr>
          <p:cNvSpPr txBox="1"/>
          <p:nvPr/>
        </p:nvSpPr>
        <p:spPr>
          <a:xfrm>
            <a:off x="735672" y="2598003"/>
            <a:ext cx="7672655" cy="830997"/>
          </a:xfrm>
          <a:prstGeom prst="rect">
            <a:avLst/>
          </a:prstGeom>
          <a:solidFill>
            <a:schemeClr val="tx2">
              <a:lumMod val="25000"/>
              <a:lumOff val="75000"/>
            </a:schemeClr>
          </a:solidFill>
        </p:spPr>
        <p:txBody>
          <a:bodyPr wrap="square" rtlCol="0">
            <a:spAutoFit/>
          </a:bodyPr>
          <a:lstStyle/>
          <a:p>
            <a:r>
              <a:rPr kumimoji="1" lang="ja-JP" altLang="en-US" sz="2400" dirty="0"/>
              <a:t>オクルージョンに対する対策や手法を入れ込み、より正確にトラッキングできるような粒子追跡法を考える</a:t>
            </a:r>
          </a:p>
        </p:txBody>
      </p:sp>
      <p:sp>
        <p:nvSpPr>
          <p:cNvPr id="12" name="テキスト ボックス 11">
            <a:extLst>
              <a:ext uri="{FF2B5EF4-FFF2-40B4-BE49-F238E27FC236}">
                <a16:creationId xmlns:a16="http://schemas.microsoft.com/office/drawing/2014/main" id="{57A8D439-84EF-2F60-2EAA-1E4849085B14}"/>
              </a:ext>
            </a:extLst>
          </p:cNvPr>
          <p:cNvSpPr txBox="1"/>
          <p:nvPr/>
        </p:nvSpPr>
        <p:spPr>
          <a:xfrm>
            <a:off x="735672" y="2136338"/>
            <a:ext cx="923322" cy="461665"/>
          </a:xfrm>
          <a:prstGeom prst="rect">
            <a:avLst/>
          </a:prstGeom>
          <a:solidFill>
            <a:schemeClr val="accent1">
              <a:lumMod val="75000"/>
            </a:schemeClr>
          </a:solidFill>
        </p:spPr>
        <p:txBody>
          <a:bodyPr wrap="square" rtlCol="0">
            <a:spAutoFit/>
          </a:bodyPr>
          <a:lstStyle/>
          <a:p>
            <a:pPr algn="ctr"/>
            <a:r>
              <a:rPr kumimoji="1" lang="ja-JP" altLang="en-US" sz="2400" b="1" dirty="0">
                <a:solidFill>
                  <a:schemeClr val="bg1"/>
                </a:solidFill>
              </a:rPr>
              <a:t>目的</a:t>
            </a:r>
          </a:p>
        </p:txBody>
      </p:sp>
      <p:sp>
        <p:nvSpPr>
          <p:cNvPr id="14" name="テキスト ボックス 13">
            <a:extLst>
              <a:ext uri="{FF2B5EF4-FFF2-40B4-BE49-F238E27FC236}">
                <a16:creationId xmlns:a16="http://schemas.microsoft.com/office/drawing/2014/main" id="{A1687255-8022-BF02-AED4-472C2E8ABDF7}"/>
              </a:ext>
            </a:extLst>
          </p:cNvPr>
          <p:cNvSpPr txBox="1"/>
          <p:nvPr/>
        </p:nvSpPr>
        <p:spPr>
          <a:xfrm>
            <a:off x="547054" y="1084401"/>
            <a:ext cx="7956865" cy="707886"/>
          </a:xfrm>
          <a:prstGeom prst="rect">
            <a:avLst/>
          </a:prstGeom>
          <a:noFill/>
        </p:spPr>
        <p:txBody>
          <a:bodyPr wrap="square" rtlCol="0">
            <a:spAutoFit/>
          </a:bodyPr>
          <a:lstStyle/>
          <a:p>
            <a:r>
              <a:rPr kumimoji="1" lang="ja-JP" altLang="en-US" sz="2000" dirty="0"/>
              <a:t>・粒子追跡では，光強度の減少や重なりによる</a:t>
            </a:r>
            <a:r>
              <a:rPr kumimoji="1" lang="ja-JP" altLang="en-US" sz="2000" b="1" dirty="0"/>
              <a:t>オクルージョン</a:t>
            </a:r>
            <a:r>
              <a:rPr kumimoji="1" lang="ja-JP" altLang="en-US" sz="2000" dirty="0"/>
              <a:t>、</a:t>
            </a:r>
            <a:endParaRPr kumimoji="1" lang="en-US" altLang="ja-JP" sz="2000" dirty="0"/>
          </a:p>
          <a:p>
            <a:r>
              <a:rPr kumimoji="1" lang="en-US" altLang="ja-JP" sz="2000" b="1" dirty="0"/>
              <a:t>   </a:t>
            </a:r>
            <a:r>
              <a:rPr kumimoji="1" lang="ja-JP" altLang="en-US" sz="2000" b="1" dirty="0"/>
              <a:t>誤マッチング</a:t>
            </a:r>
            <a:r>
              <a:rPr kumimoji="1" lang="ja-JP" altLang="en-US" sz="2000" dirty="0"/>
              <a:t>などが発生</a:t>
            </a:r>
          </a:p>
        </p:txBody>
      </p:sp>
      <p:sp>
        <p:nvSpPr>
          <p:cNvPr id="18" name="テキスト ボックス 17">
            <a:extLst>
              <a:ext uri="{FF2B5EF4-FFF2-40B4-BE49-F238E27FC236}">
                <a16:creationId xmlns:a16="http://schemas.microsoft.com/office/drawing/2014/main" id="{78401294-43AD-76BF-81F0-01485936DA40}"/>
              </a:ext>
            </a:extLst>
          </p:cNvPr>
          <p:cNvSpPr txBox="1"/>
          <p:nvPr/>
        </p:nvSpPr>
        <p:spPr>
          <a:xfrm>
            <a:off x="735672" y="4468222"/>
            <a:ext cx="7868832" cy="1200329"/>
          </a:xfrm>
          <a:prstGeom prst="rect">
            <a:avLst/>
          </a:prstGeom>
          <a:solidFill>
            <a:schemeClr val="accent2">
              <a:lumMod val="20000"/>
              <a:lumOff val="80000"/>
            </a:schemeClr>
          </a:solidFill>
        </p:spPr>
        <p:txBody>
          <a:bodyPr wrap="square" rtlCol="0">
            <a:spAutoFit/>
          </a:bodyPr>
          <a:lstStyle/>
          <a:p>
            <a:r>
              <a:rPr kumimoji="1" lang="ja-JP" altLang="en-US" sz="2400" dirty="0"/>
              <a:t>・マッチング方式の変更</a:t>
            </a:r>
            <a:endParaRPr kumimoji="1" lang="en-US" altLang="ja-JP" sz="2400" dirty="0"/>
          </a:p>
          <a:p>
            <a:endParaRPr kumimoji="1" lang="en-US" altLang="ja-JP" sz="2400" dirty="0"/>
          </a:p>
          <a:p>
            <a:r>
              <a:rPr kumimoji="1" lang="ja-JP" altLang="en-US" sz="2400" dirty="0"/>
              <a:t>・シミュレーションデータに対して面外運動の追加</a:t>
            </a:r>
            <a:endParaRPr kumimoji="1" lang="en-US" altLang="ja-JP" sz="2400" dirty="0"/>
          </a:p>
        </p:txBody>
      </p:sp>
      <p:sp>
        <p:nvSpPr>
          <p:cNvPr id="19" name="テキスト ボックス 18">
            <a:extLst>
              <a:ext uri="{FF2B5EF4-FFF2-40B4-BE49-F238E27FC236}">
                <a16:creationId xmlns:a16="http://schemas.microsoft.com/office/drawing/2014/main" id="{CF79A438-7492-B09A-3F78-01C885F7CBB6}"/>
              </a:ext>
            </a:extLst>
          </p:cNvPr>
          <p:cNvSpPr txBox="1"/>
          <p:nvPr/>
        </p:nvSpPr>
        <p:spPr>
          <a:xfrm>
            <a:off x="735672" y="4006557"/>
            <a:ext cx="2254416" cy="461665"/>
          </a:xfrm>
          <a:prstGeom prst="rect">
            <a:avLst/>
          </a:prstGeom>
          <a:solidFill>
            <a:schemeClr val="accent2"/>
          </a:solidFill>
        </p:spPr>
        <p:txBody>
          <a:bodyPr wrap="square" rtlCol="0">
            <a:spAutoFit/>
          </a:bodyPr>
          <a:lstStyle/>
          <a:p>
            <a:pPr algn="ctr"/>
            <a:r>
              <a:rPr kumimoji="1" lang="ja-JP" altLang="en-US" sz="2400" b="1" dirty="0">
                <a:solidFill>
                  <a:schemeClr val="bg1"/>
                </a:solidFill>
              </a:rPr>
              <a:t>今回の小目標</a:t>
            </a:r>
          </a:p>
        </p:txBody>
      </p:sp>
    </p:spTree>
    <p:extLst>
      <p:ext uri="{BB962C8B-B14F-4D97-AF65-F5344CB8AC3E}">
        <p14:creationId xmlns:p14="http://schemas.microsoft.com/office/powerpoint/2010/main" val="2129998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7F2B0C-D9F1-8C4E-B2BB-ECF9941972F5}"/>
              </a:ext>
            </a:extLst>
          </p:cNvPr>
          <p:cNvSpPr>
            <a:spLocks noGrp="1"/>
          </p:cNvSpPr>
          <p:nvPr>
            <p:ph type="title"/>
          </p:nvPr>
        </p:nvSpPr>
        <p:spPr/>
        <p:txBody>
          <a:bodyPr/>
          <a:lstStyle/>
          <a:p>
            <a:r>
              <a:rPr kumimoji="1" lang="en-US" altLang="ja-JP" dirty="0"/>
              <a:t>FED-PV</a:t>
            </a:r>
            <a:endParaRPr kumimoji="1" lang="ja-JP" altLang="en-US" dirty="0"/>
          </a:p>
        </p:txBody>
      </p:sp>
      <p:sp>
        <p:nvSpPr>
          <p:cNvPr id="3" name="コンテンツ プレースホルダー 2">
            <a:extLst>
              <a:ext uri="{FF2B5EF4-FFF2-40B4-BE49-F238E27FC236}">
                <a16:creationId xmlns:a16="http://schemas.microsoft.com/office/drawing/2014/main" id="{09A1D788-AD4C-7290-A323-A264A5B513E2}"/>
              </a:ext>
            </a:extLst>
          </p:cNvPr>
          <p:cNvSpPr>
            <a:spLocks noGrp="1"/>
          </p:cNvSpPr>
          <p:nvPr>
            <p:ph idx="1"/>
          </p:nvPr>
        </p:nvSpPr>
        <p:spPr>
          <a:xfrm>
            <a:off x="628650" y="1089194"/>
            <a:ext cx="7886700" cy="530299"/>
          </a:xfrm>
        </p:spPr>
        <p:txBody>
          <a:bodyPr>
            <a:normAutofit fontScale="77500" lnSpcReduction="20000"/>
          </a:bodyPr>
          <a:lstStyle/>
          <a:p>
            <a:pPr marL="0" indent="0">
              <a:buNone/>
            </a:pPr>
            <a:r>
              <a:rPr lang="ja-JP" altLang="en-US" sz="2400" dirty="0"/>
              <a:t>利点</a:t>
            </a:r>
            <a:r>
              <a:rPr lang="en-US" altLang="ja-JP" sz="2400" dirty="0"/>
              <a:t>:</a:t>
            </a:r>
            <a:r>
              <a:rPr kumimoji="1" lang="ja-JP" altLang="en-US" sz="2400" b="1" dirty="0"/>
              <a:t>様々なパラメータ</a:t>
            </a:r>
            <a:r>
              <a:rPr kumimoji="1" lang="en-US" altLang="ja-JP" sz="2400" dirty="0"/>
              <a:t>(</a:t>
            </a:r>
            <a:r>
              <a:rPr kumimoji="1" lang="ja-JP" altLang="en-US" sz="2400" dirty="0"/>
              <a:t>粒子密度</a:t>
            </a:r>
            <a:r>
              <a:rPr kumimoji="1" lang="en-US" altLang="ja-JP" sz="2400" dirty="0"/>
              <a:t>,</a:t>
            </a:r>
            <a:r>
              <a:rPr kumimoji="1" lang="ja-JP" altLang="en-US" sz="2400" dirty="0"/>
              <a:t>輝度</a:t>
            </a:r>
            <a:r>
              <a:rPr kumimoji="1" lang="en-US" altLang="ja-JP" sz="2400" dirty="0"/>
              <a:t>,</a:t>
            </a:r>
            <a:r>
              <a:rPr kumimoji="1" lang="ja-JP" altLang="en-US" sz="2400" dirty="0"/>
              <a:t>粒子サイズ</a:t>
            </a:r>
            <a:r>
              <a:rPr kumimoji="1" lang="en-US" altLang="ja-JP" sz="2400" dirty="0"/>
              <a:t>,etc..)</a:t>
            </a:r>
            <a:r>
              <a:rPr kumimoji="1" lang="ja-JP" altLang="en-US" sz="2400" dirty="0"/>
              <a:t>を調整可能</a:t>
            </a:r>
          </a:p>
        </p:txBody>
      </p:sp>
      <p:sp>
        <p:nvSpPr>
          <p:cNvPr id="4" name="スライド番号プレースホルダー 3">
            <a:extLst>
              <a:ext uri="{FF2B5EF4-FFF2-40B4-BE49-F238E27FC236}">
                <a16:creationId xmlns:a16="http://schemas.microsoft.com/office/drawing/2014/main" id="{5C53F2A8-E0E8-CEE9-FE1D-A0ADBEEF9536}"/>
              </a:ext>
            </a:extLst>
          </p:cNvPr>
          <p:cNvSpPr>
            <a:spLocks noGrp="1"/>
          </p:cNvSpPr>
          <p:nvPr>
            <p:ph type="sldNum" sz="quarter" idx="12"/>
          </p:nvPr>
        </p:nvSpPr>
        <p:spPr/>
        <p:txBody>
          <a:bodyPr/>
          <a:lstStyle/>
          <a:p>
            <a:fld id="{F4F93977-CC68-4F92-83A3-0276DC4D9982}" type="slidenum">
              <a:rPr kumimoji="1" lang="ja-JP" altLang="en-US" smtClean="0"/>
              <a:pPr/>
              <a:t>6</a:t>
            </a:fld>
            <a:endParaRPr kumimoji="1" lang="ja-JP" altLang="en-US" dirty="0"/>
          </a:p>
        </p:txBody>
      </p:sp>
      <p:pic>
        <p:nvPicPr>
          <p:cNvPr id="6" name="図 5" descr="背景パターン&#10;&#10;AI 生成コンテンツは誤りを含む可能性があります。">
            <a:extLst>
              <a:ext uri="{FF2B5EF4-FFF2-40B4-BE49-F238E27FC236}">
                <a16:creationId xmlns:a16="http://schemas.microsoft.com/office/drawing/2014/main" id="{89E9AFFA-65F6-CC77-B441-EA5032B6F2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3352" y="2086424"/>
            <a:ext cx="2752166" cy="2752166"/>
          </a:xfrm>
          <a:prstGeom prst="rect">
            <a:avLst/>
          </a:prstGeom>
        </p:spPr>
      </p:pic>
      <p:pic>
        <p:nvPicPr>
          <p:cNvPr id="8" name="図 7" descr="背景パターン&#10;&#10;AI 生成コンテンツは誤りを含む可能性があります。">
            <a:extLst>
              <a:ext uri="{FF2B5EF4-FFF2-40B4-BE49-F238E27FC236}">
                <a16:creationId xmlns:a16="http://schemas.microsoft.com/office/drawing/2014/main" id="{CFE68BF7-E76C-18A7-4DDD-5C612BD590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8722" y="2086424"/>
            <a:ext cx="2752166" cy="2752166"/>
          </a:xfrm>
          <a:prstGeom prst="rect">
            <a:avLst/>
          </a:prstGeom>
        </p:spPr>
      </p:pic>
      <p:sp>
        <p:nvSpPr>
          <p:cNvPr id="9" name="テキスト ボックス 8">
            <a:extLst>
              <a:ext uri="{FF2B5EF4-FFF2-40B4-BE49-F238E27FC236}">
                <a16:creationId xmlns:a16="http://schemas.microsoft.com/office/drawing/2014/main" id="{B0A678FF-11B9-43F0-7696-31CB0DAD4BFB}"/>
              </a:ext>
            </a:extLst>
          </p:cNvPr>
          <p:cNvSpPr txBox="1"/>
          <p:nvPr/>
        </p:nvSpPr>
        <p:spPr>
          <a:xfrm>
            <a:off x="1775012" y="4945770"/>
            <a:ext cx="3859306" cy="369332"/>
          </a:xfrm>
          <a:prstGeom prst="rect">
            <a:avLst/>
          </a:prstGeom>
          <a:noFill/>
        </p:spPr>
        <p:txBody>
          <a:bodyPr wrap="square" rtlCol="0">
            <a:spAutoFit/>
          </a:bodyPr>
          <a:lstStyle/>
          <a:p>
            <a:r>
              <a:rPr kumimoji="1" lang="ja-JP" altLang="en-US" dirty="0"/>
              <a:t>デモ画像</a:t>
            </a:r>
          </a:p>
        </p:txBody>
      </p:sp>
      <p:sp>
        <p:nvSpPr>
          <p:cNvPr id="10" name="テキスト ボックス 9">
            <a:extLst>
              <a:ext uri="{FF2B5EF4-FFF2-40B4-BE49-F238E27FC236}">
                <a16:creationId xmlns:a16="http://schemas.microsoft.com/office/drawing/2014/main" id="{8363C722-9005-C8EE-5097-0BC1197FB027}"/>
              </a:ext>
            </a:extLst>
          </p:cNvPr>
          <p:cNvSpPr txBox="1"/>
          <p:nvPr/>
        </p:nvSpPr>
        <p:spPr>
          <a:xfrm>
            <a:off x="5217459" y="4895619"/>
            <a:ext cx="2124635" cy="369332"/>
          </a:xfrm>
          <a:prstGeom prst="rect">
            <a:avLst/>
          </a:prstGeom>
          <a:noFill/>
        </p:spPr>
        <p:txBody>
          <a:bodyPr wrap="square" rtlCol="0">
            <a:spAutoFit/>
          </a:bodyPr>
          <a:lstStyle/>
          <a:p>
            <a:r>
              <a:rPr kumimoji="1" lang="ja-JP" altLang="en-US" dirty="0"/>
              <a:t>カスタム画像</a:t>
            </a:r>
          </a:p>
        </p:txBody>
      </p:sp>
      <p:sp>
        <p:nvSpPr>
          <p:cNvPr id="11" name="テキスト ボックス 10">
            <a:extLst>
              <a:ext uri="{FF2B5EF4-FFF2-40B4-BE49-F238E27FC236}">
                <a16:creationId xmlns:a16="http://schemas.microsoft.com/office/drawing/2014/main" id="{27B17FC3-3A04-E4B9-AEED-DD83ED824839}"/>
              </a:ext>
            </a:extLst>
          </p:cNvPr>
          <p:cNvSpPr txBox="1"/>
          <p:nvPr/>
        </p:nvSpPr>
        <p:spPr>
          <a:xfrm>
            <a:off x="1437981" y="1503919"/>
            <a:ext cx="6074503" cy="369332"/>
          </a:xfrm>
          <a:prstGeom prst="rect">
            <a:avLst/>
          </a:prstGeom>
          <a:noFill/>
        </p:spPr>
        <p:txBody>
          <a:bodyPr wrap="square" rtlCol="0">
            <a:spAutoFit/>
          </a:bodyPr>
          <a:lstStyle/>
          <a:p>
            <a:r>
              <a:rPr kumimoji="1" lang="ja-JP" altLang="en-US" dirty="0"/>
              <a:t>粒子数を減らして</a:t>
            </a:r>
            <a:r>
              <a:rPr kumimoji="1" lang="en-US" altLang="ja-JP" dirty="0"/>
              <a:t>,</a:t>
            </a:r>
            <a:r>
              <a:rPr kumimoji="1" lang="ja-JP" altLang="en-US" dirty="0"/>
              <a:t>粒子サイズを拡大してみる</a:t>
            </a:r>
            <a:endParaRPr kumimoji="1" lang="en-US" altLang="ja-JP" dirty="0"/>
          </a:p>
        </p:txBody>
      </p:sp>
      <p:sp>
        <p:nvSpPr>
          <p:cNvPr id="12" name="矢印: 右 11">
            <a:extLst>
              <a:ext uri="{FF2B5EF4-FFF2-40B4-BE49-F238E27FC236}">
                <a16:creationId xmlns:a16="http://schemas.microsoft.com/office/drawing/2014/main" id="{D70F38AA-EA65-75D8-7863-6307A93B648C}"/>
              </a:ext>
            </a:extLst>
          </p:cNvPr>
          <p:cNvSpPr/>
          <p:nvPr/>
        </p:nvSpPr>
        <p:spPr>
          <a:xfrm>
            <a:off x="547054" y="1505701"/>
            <a:ext cx="824752" cy="3160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CD66EDF2-BE05-28A0-E3D5-D7AF0D756042}"/>
              </a:ext>
            </a:extLst>
          </p:cNvPr>
          <p:cNvSpPr txBox="1"/>
          <p:nvPr/>
        </p:nvSpPr>
        <p:spPr>
          <a:xfrm>
            <a:off x="1207245" y="5768806"/>
            <a:ext cx="6223643" cy="400110"/>
          </a:xfrm>
          <a:prstGeom prst="rect">
            <a:avLst/>
          </a:prstGeom>
          <a:solidFill>
            <a:schemeClr val="accent2">
              <a:lumMod val="20000"/>
              <a:lumOff val="80000"/>
            </a:schemeClr>
          </a:solidFill>
        </p:spPr>
        <p:txBody>
          <a:bodyPr wrap="square" rtlCol="0">
            <a:spAutoFit/>
          </a:bodyPr>
          <a:lstStyle/>
          <a:p>
            <a:r>
              <a:rPr kumimoji="1" lang="en-US" altLang="ja-JP" sz="2000" dirty="0"/>
              <a:t>PIV</a:t>
            </a:r>
            <a:r>
              <a:rPr kumimoji="1" lang="ja-JP" altLang="en-US" sz="2000" dirty="0"/>
              <a:t>だけでなく、</a:t>
            </a:r>
            <a:r>
              <a:rPr kumimoji="1" lang="en-US" altLang="ja-JP" sz="2000" b="1" dirty="0"/>
              <a:t>PTV</a:t>
            </a:r>
            <a:r>
              <a:rPr kumimoji="1" lang="ja-JP" altLang="en-US" sz="2000" dirty="0"/>
              <a:t>にも使用できそうなことを確認</a:t>
            </a:r>
          </a:p>
        </p:txBody>
      </p:sp>
    </p:spTree>
    <p:extLst>
      <p:ext uri="{BB962C8B-B14F-4D97-AF65-F5344CB8AC3E}">
        <p14:creationId xmlns:p14="http://schemas.microsoft.com/office/powerpoint/2010/main" val="142523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5173ED-7103-DA96-85FE-71E1FEB0572F}"/>
              </a:ext>
            </a:extLst>
          </p:cNvPr>
          <p:cNvSpPr>
            <a:spLocks noGrp="1"/>
          </p:cNvSpPr>
          <p:nvPr>
            <p:ph type="title"/>
          </p:nvPr>
        </p:nvSpPr>
        <p:spPr/>
        <p:txBody>
          <a:bodyPr/>
          <a:lstStyle/>
          <a:p>
            <a:r>
              <a:rPr kumimoji="1" lang="ja-JP" altLang="en-US" dirty="0"/>
              <a:t>シミュレーションデータ</a:t>
            </a:r>
          </a:p>
        </p:txBody>
      </p:sp>
      <p:sp>
        <p:nvSpPr>
          <p:cNvPr id="4" name="スライド番号プレースホルダー 3">
            <a:extLst>
              <a:ext uri="{FF2B5EF4-FFF2-40B4-BE49-F238E27FC236}">
                <a16:creationId xmlns:a16="http://schemas.microsoft.com/office/drawing/2014/main" id="{60076861-A68F-D445-5B62-D45C540298D4}"/>
              </a:ext>
            </a:extLst>
          </p:cNvPr>
          <p:cNvSpPr>
            <a:spLocks noGrp="1"/>
          </p:cNvSpPr>
          <p:nvPr>
            <p:ph type="sldNum" sz="quarter" idx="12"/>
          </p:nvPr>
        </p:nvSpPr>
        <p:spPr/>
        <p:txBody>
          <a:bodyPr/>
          <a:lstStyle/>
          <a:p>
            <a:fld id="{F4F93977-CC68-4F92-83A3-0276DC4D9982}" type="slidenum">
              <a:rPr kumimoji="1" lang="ja-JP" altLang="en-US" smtClean="0"/>
              <a:pPr/>
              <a:t>7</a:t>
            </a:fld>
            <a:endParaRPr kumimoji="1" lang="ja-JP" altLang="en-US" dirty="0"/>
          </a:p>
        </p:txBody>
      </p:sp>
      <p:pic>
        <p:nvPicPr>
          <p:cNvPr id="5" name="sim_output">
            <a:hlinkClick r:id="" action="ppaction://media"/>
            <a:extLst>
              <a:ext uri="{FF2B5EF4-FFF2-40B4-BE49-F238E27FC236}">
                <a16:creationId xmlns:a16="http://schemas.microsoft.com/office/drawing/2014/main" id="{41795D8D-AC3D-0FD2-7242-49CD1EE6FB7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037844" y="1385316"/>
            <a:ext cx="6544818" cy="3739896"/>
          </a:xfrm>
          <a:prstGeom prst="rect">
            <a:avLst/>
          </a:prstGeom>
        </p:spPr>
      </p:pic>
      <p:sp>
        <p:nvSpPr>
          <p:cNvPr id="6" name="フローチャート: 結合子 5">
            <a:extLst>
              <a:ext uri="{FF2B5EF4-FFF2-40B4-BE49-F238E27FC236}">
                <a16:creationId xmlns:a16="http://schemas.microsoft.com/office/drawing/2014/main" id="{DAC36E81-F904-CFB6-0765-13FD51060E31}"/>
              </a:ext>
            </a:extLst>
          </p:cNvPr>
          <p:cNvSpPr/>
          <p:nvPr/>
        </p:nvSpPr>
        <p:spPr>
          <a:xfrm>
            <a:off x="3520440" y="2478024"/>
            <a:ext cx="1563624" cy="1581912"/>
          </a:xfrm>
          <a:prstGeom prst="flowChartConnector">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E8E4CDE3-5F93-327E-35DF-1A84A1838344}"/>
              </a:ext>
            </a:extLst>
          </p:cNvPr>
          <p:cNvSpPr txBox="1"/>
          <p:nvPr/>
        </p:nvSpPr>
        <p:spPr>
          <a:xfrm>
            <a:off x="871490" y="892060"/>
            <a:ext cx="5550408" cy="369332"/>
          </a:xfrm>
          <a:prstGeom prst="rect">
            <a:avLst/>
          </a:prstGeom>
          <a:noFill/>
        </p:spPr>
        <p:txBody>
          <a:bodyPr wrap="square" rtlCol="0">
            <a:spAutoFit/>
          </a:bodyPr>
          <a:lstStyle/>
          <a:p>
            <a:r>
              <a:rPr kumimoji="1" lang="ja-JP" altLang="en-US" dirty="0"/>
              <a:t>・</a:t>
            </a:r>
            <a:r>
              <a:rPr kumimoji="1" lang="en-US" altLang="ja-JP" dirty="0"/>
              <a:t>Python</a:t>
            </a:r>
            <a:r>
              <a:rPr kumimoji="1" lang="ja-JP" altLang="en-US" dirty="0"/>
              <a:t>で作成したシミュレーションデータ</a:t>
            </a:r>
          </a:p>
        </p:txBody>
      </p:sp>
      <p:sp>
        <p:nvSpPr>
          <p:cNvPr id="8" name="テキスト ボックス 7">
            <a:extLst>
              <a:ext uri="{FF2B5EF4-FFF2-40B4-BE49-F238E27FC236}">
                <a16:creationId xmlns:a16="http://schemas.microsoft.com/office/drawing/2014/main" id="{30ADF720-6038-47F5-F1C6-3A8851D5E43A}"/>
              </a:ext>
            </a:extLst>
          </p:cNvPr>
          <p:cNvSpPr txBox="1"/>
          <p:nvPr/>
        </p:nvSpPr>
        <p:spPr>
          <a:xfrm>
            <a:off x="1130202" y="5817810"/>
            <a:ext cx="6883596" cy="400110"/>
          </a:xfrm>
          <a:prstGeom prst="rect">
            <a:avLst/>
          </a:prstGeom>
          <a:solidFill>
            <a:schemeClr val="accent2">
              <a:lumMod val="20000"/>
              <a:lumOff val="80000"/>
            </a:schemeClr>
          </a:solidFill>
        </p:spPr>
        <p:txBody>
          <a:bodyPr wrap="square" rtlCol="0">
            <a:spAutoFit/>
          </a:bodyPr>
          <a:lstStyle/>
          <a:p>
            <a:r>
              <a:rPr kumimoji="1" lang="ja-JP" altLang="en-US" sz="2000" dirty="0"/>
              <a:t>中心部の障害物を避けて，拡散するような運動を再現</a:t>
            </a:r>
          </a:p>
        </p:txBody>
      </p:sp>
    </p:spTree>
    <p:extLst>
      <p:ext uri="{BB962C8B-B14F-4D97-AF65-F5344CB8AC3E}">
        <p14:creationId xmlns:p14="http://schemas.microsoft.com/office/powerpoint/2010/main" val="207916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33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A40110-83C7-8D56-EABC-1CEBA4884C42}"/>
              </a:ext>
            </a:extLst>
          </p:cNvPr>
          <p:cNvSpPr>
            <a:spLocks noGrp="1"/>
          </p:cNvSpPr>
          <p:nvPr>
            <p:ph type="title"/>
          </p:nvPr>
        </p:nvSpPr>
        <p:spPr/>
        <p:txBody>
          <a:bodyPr/>
          <a:lstStyle/>
          <a:p>
            <a:r>
              <a:rPr lang="ja-JP" altLang="en-US" dirty="0"/>
              <a:t>シミュレーションデータ</a:t>
            </a:r>
            <a:endParaRPr kumimoji="1" lang="ja-JP" altLang="en-US" dirty="0"/>
          </a:p>
        </p:txBody>
      </p:sp>
      <p:sp>
        <p:nvSpPr>
          <p:cNvPr id="3" name="コンテンツ プレースホルダー 2">
            <a:extLst>
              <a:ext uri="{FF2B5EF4-FFF2-40B4-BE49-F238E27FC236}">
                <a16:creationId xmlns:a16="http://schemas.microsoft.com/office/drawing/2014/main" id="{B75AE8FC-FEF5-C7CE-FB9A-977AE10307D4}"/>
              </a:ext>
            </a:extLst>
          </p:cNvPr>
          <p:cNvSpPr>
            <a:spLocks noGrp="1"/>
          </p:cNvSpPr>
          <p:nvPr>
            <p:ph idx="1"/>
          </p:nvPr>
        </p:nvSpPr>
        <p:spPr>
          <a:xfrm>
            <a:off x="628648" y="1079595"/>
            <a:ext cx="8359903" cy="2082443"/>
          </a:xfrm>
        </p:spPr>
        <p:txBody>
          <a:bodyPr>
            <a:normAutofit fontScale="92500" lnSpcReduction="20000"/>
          </a:bodyPr>
          <a:lstStyle/>
          <a:p>
            <a:pPr marL="0" indent="0">
              <a:buNone/>
            </a:pPr>
            <a:r>
              <a:rPr kumimoji="1" lang="ja-JP" altLang="en-US" sz="2000" dirty="0"/>
              <a:t>現在のシミュレーション</a:t>
            </a:r>
            <a:endParaRPr kumimoji="1" lang="en-US" altLang="ja-JP" sz="2000" dirty="0"/>
          </a:p>
          <a:p>
            <a:pPr marL="0" indent="0">
              <a:buNone/>
            </a:pPr>
            <a:r>
              <a:rPr lang="ja-JP" altLang="en-US" sz="2000" dirty="0"/>
              <a:t>・粒子ごとに</a:t>
            </a:r>
            <a:r>
              <a:rPr lang="ja-JP" altLang="en-US" sz="2000" b="1" dirty="0"/>
              <a:t>確率</a:t>
            </a:r>
            <a:r>
              <a:rPr lang="ja-JP" altLang="en-US" sz="2000" dirty="0"/>
              <a:t>を与えることで、ランダムなオクルージョンが発生</a:t>
            </a:r>
            <a:endParaRPr lang="en-US" altLang="ja-JP" sz="2000" dirty="0"/>
          </a:p>
          <a:p>
            <a:pPr marL="0" indent="0">
              <a:buNone/>
            </a:pPr>
            <a:r>
              <a:rPr lang="ja-JP" altLang="en-US" sz="2000" dirty="0"/>
              <a:t>・粒子数やオクルージョン間隔などの</a:t>
            </a:r>
            <a:r>
              <a:rPr lang="ja-JP" altLang="en-US" sz="2000" b="1" dirty="0"/>
              <a:t>パラメータ</a:t>
            </a:r>
            <a:r>
              <a:rPr lang="ja-JP" altLang="en-US" sz="2000" dirty="0"/>
              <a:t>が調整可能</a:t>
            </a:r>
            <a:endParaRPr lang="en-US" altLang="ja-JP" sz="2000" dirty="0"/>
          </a:p>
          <a:p>
            <a:pPr marL="0" indent="0">
              <a:buNone/>
            </a:pPr>
            <a:r>
              <a:rPr lang="ja-JP" altLang="en-US" sz="2000" dirty="0"/>
              <a:t>・</a:t>
            </a:r>
            <a:r>
              <a:rPr lang="en-US" altLang="ja-JP" sz="2000" b="1" dirty="0"/>
              <a:t>Z</a:t>
            </a:r>
            <a:r>
              <a:rPr lang="ja-JP" altLang="en-US" sz="2000" b="1" dirty="0"/>
              <a:t>軸</a:t>
            </a:r>
            <a:r>
              <a:rPr lang="ja-JP" altLang="en-US" sz="2000" dirty="0"/>
              <a:t>を入れ込み、明るさの変化や重なりによる遮蔽に対応</a:t>
            </a:r>
            <a:endParaRPr lang="en-US" altLang="ja-JP" sz="2000" dirty="0"/>
          </a:p>
          <a:p>
            <a:pPr marL="0" indent="0">
              <a:buNone/>
            </a:pPr>
            <a:r>
              <a:rPr lang="ja-JP" altLang="en-US" sz="2000" dirty="0"/>
              <a:t>・</a:t>
            </a:r>
            <a:r>
              <a:rPr lang="en-US" altLang="ja-JP" sz="2000" b="1" dirty="0"/>
              <a:t>GT</a:t>
            </a:r>
            <a:r>
              <a:rPr lang="en-US" altLang="ja-JP" sz="2000" dirty="0"/>
              <a:t>(</a:t>
            </a:r>
            <a:r>
              <a:rPr lang="ja-JP" altLang="en-US" sz="2000" dirty="0"/>
              <a:t>正解データ</a:t>
            </a:r>
            <a:r>
              <a:rPr lang="en-US" altLang="ja-JP" sz="2000" dirty="0"/>
              <a:t>)</a:t>
            </a:r>
            <a:r>
              <a:rPr lang="ja-JP" altLang="en-US" sz="2000" dirty="0"/>
              <a:t>を生成可能</a:t>
            </a:r>
            <a:endParaRPr lang="en-US" altLang="ja-JP" sz="2000" dirty="0"/>
          </a:p>
          <a:p>
            <a:pPr marL="0" indent="0">
              <a:buNone/>
            </a:pPr>
            <a:r>
              <a:rPr lang="ja-JP" altLang="en-US" sz="2000" dirty="0"/>
              <a:t>・</a:t>
            </a:r>
            <a:r>
              <a:rPr lang="ja-JP" altLang="en-US" sz="2000" b="1" dirty="0"/>
              <a:t>拡張性</a:t>
            </a:r>
            <a:r>
              <a:rPr lang="ja-JP" altLang="en-US" sz="2000" dirty="0"/>
              <a:t>が高い</a:t>
            </a:r>
            <a:endParaRPr lang="en-US" altLang="ja-JP" sz="2000" dirty="0"/>
          </a:p>
        </p:txBody>
      </p:sp>
      <p:sp>
        <p:nvSpPr>
          <p:cNvPr id="4" name="スライド番号プレースホルダー 3">
            <a:extLst>
              <a:ext uri="{FF2B5EF4-FFF2-40B4-BE49-F238E27FC236}">
                <a16:creationId xmlns:a16="http://schemas.microsoft.com/office/drawing/2014/main" id="{754AD51E-9BA8-80A7-09F7-765380C7A795}"/>
              </a:ext>
            </a:extLst>
          </p:cNvPr>
          <p:cNvSpPr>
            <a:spLocks noGrp="1"/>
          </p:cNvSpPr>
          <p:nvPr>
            <p:ph type="sldNum" sz="quarter" idx="12"/>
          </p:nvPr>
        </p:nvSpPr>
        <p:spPr/>
        <p:txBody>
          <a:bodyPr/>
          <a:lstStyle/>
          <a:p>
            <a:fld id="{F4F93977-CC68-4F92-83A3-0276DC4D9982}" type="slidenum">
              <a:rPr kumimoji="1" lang="ja-JP" altLang="en-US" smtClean="0"/>
              <a:pPr/>
              <a:t>8</a:t>
            </a:fld>
            <a:endParaRPr kumimoji="1" lang="ja-JP" altLang="en-US" dirty="0"/>
          </a:p>
        </p:txBody>
      </p:sp>
      <p:sp>
        <p:nvSpPr>
          <p:cNvPr id="20" name="矢印: 下 19">
            <a:extLst>
              <a:ext uri="{FF2B5EF4-FFF2-40B4-BE49-F238E27FC236}">
                <a16:creationId xmlns:a16="http://schemas.microsoft.com/office/drawing/2014/main" id="{4B253962-4211-9B79-18D3-13A0365ABC49}"/>
              </a:ext>
            </a:extLst>
          </p:cNvPr>
          <p:cNvSpPr/>
          <p:nvPr/>
        </p:nvSpPr>
        <p:spPr>
          <a:xfrm>
            <a:off x="2035628" y="3311814"/>
            <a:ext cx="587829" cy="94187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857AC201-733A-4C82-D579-8A768CC4CC67}"/>
              </a:ext>
            </a:extLst>
          </p:cNvPr>
          <p:cNvSpPr txBox="1"/>
          <p:nvPr/>
        </p:nvSpPr>
        <p:spPr>
          <a:xfrm>
            <a:off x="2884641" y="3582697"/>
            <a:ext cx="6912429" cy="400110"/>
          </a:xfrm>
          <a:prstGeom prst="rect">
            <a:avLst/>
          </a:prstGeom>
          <a:noFill/>
        </p:spPr>
        <p:txBody>
          <a:bodyPr wrap="square" rtlCol="0">
            <a:spAutoFit/>
          </a:bodyPr>
          <a:lstStyle/>
          <a:p>
            <a:r>
              <a:rPr kumimoji="1" lang="ja-JP" altLang="en-US" sz="2000" dirty="0"/>
              <a:t>追跡アルゴリズムの評価を行うために</a:t>
            </a:r>
            <a:r>
              <a:rPr kumimoji="1" lang="en-US" altLang="ja-JP" sz="2000" dirty="0"/>
              <a:t>. . . .</a:t>
            </a:r>
            <a:endParaRPr kumimoji="1" lang="ja-JP" altLang="en-US" sz="2000" dirty="0"/>
          </a:p>
        </p:txBody>
      </p:sp>
      <p:sp>
        <p:nvSpPr>
          <p:cNvPr id="22" name="テキスト ボックス 21">
            <a:extLst>
              <a:ext uri="{FF2B5EF4-FFF2-40B4-BE49-F238E27FC236}">
                <a16:creationId xmlns:a16="http://schemas.microsoft.com/office/drawing/2014/main" id="{375BD665-0903-EAF1-371B-F08F2C0E44F1}"/>
              </a:ext>
            </a:extLst>
          </p:cNvPr>
          <p:cNvSpPr txBox="1"/>
          <p:nvPr/>
        </p:nvSpPr>
        <p:spPr>
          <a:xfrm>
            <a:off x="345294" y="4736649"/>
            <a:ext cx="8455133" cy="1015663"/>
          </a:xfrm>
          <a:prstGeom prst="rect">
            <a:avLst/>
          </a:prstGeom>
          <a:solidFill>
            <a:schemeClr val="accent2">
              <a:lumMod val="20000"/>
              <a:lumOff val="80000"/>
            </a:schemeClr>
          </a:solidFill>
        </p:spPr>
        <p:txBody>
          <a:bodyPr wrap="square" rtlCol="0">
            <a:spAutoFit/>
          </a:bodyPr>
          <a:lstStyle/>
          <a:p>
            <a:r>
              <a:rPr kumimoji="1" lang="en-US" altLang="ja-JP" sz="2000" dirty="0"/>
              <a:t>1.GT(</a:t>
            </a:r>
            <a:r>
              <a:rPr kumimoji="1" lang="ja-JP" altLang="en-US" sz="2000" dirty="0"/>
              <a:t>正解データ</a:t>
            </a:r>
            <a:r>
              <a:rPr kumimoji="1" lang="en-US" altLang="ja-JP" sz="2000" dirty="0"/>
              <a:t>)</a:t>
            </a:r>
            <a:r>
              <a:rPr kumimoji="1" lang="ja-JP" altLang="en-US" sz="2000" dirty="0"/>
              <a:t>と実際にトラッキングした粒子位置の対応付けを行う</a:t>
            </a:r>
            <a:endParaRPr kumimoji="1" lang="en-US" altLang="ja-JP" sz="2000" dirty="0"/>
          </a:p>
          <a:p>
            <a:endParaRPr kumimoji="1" lang="en-US" altLang="ja-JP" sz="2000" dirty="0"/>
          </a:p>
          <a:p>
            <a:r>
              <a:rPr kumimoji="1" lang="en-US" altLang="ja-JP" sz="2000" dirty="0"/>
              <a:t>2.</a:t>
            </a:r>
            <a:r>
              <a:rPr kumimoji="1" lang="ja-JP" altLang="en-US" sz="2000" dirty="0"/>
              <a:t>粒子の</a:t>
            </a:r>
            <a:r>
              <a:rPr kumimoji="1" lang="en-US" altLang="ja-JP" sz="2000" dirty="0"/>
              <a:t>ID</a:t>
            </a:r>
            <a:r>
              <a:rPr kumimoji="1" lang="ja-JP" altLang="en-US" sz="2000" dirty="0"/>
              <a:t>を用いて，様々な評価指標を作成</a:t>
            </a:r>
          </a:p>
        </p:txBody>
      </p:sp>
    </p:spTree>
    <p:extLst>
      <p:ext uri="{BB962C8B-B14F-4D97-AF65-F5344CB8AC3E}">
        <p14:creationId xmlns:p14="http://schemas.microsoft.com/office/powerpoint/2010/main" val="406330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C1A896-CB7E-BA95-CDD9-67C20D9DCEB6}"/>
              </a:ext>
            </a:extLst>
          </p:cNvPr>
          <p:cNvSpPr>
            <a:spLocks noGrp="1"/>
          </p:cNvSpPr>
          <p:nvPr>
            <p:ph type="title"/>
          </p:nvPr>
        </p:nvSpPr>
        <p:spPr/>
        <p:txBody>
          <a:bodyPr/>
          <a:lstStyle/>
          <a:p>
            <a:r>
              <a:rPr lang="ja-JP" altLang="en-US" dirty="0"/>
              <a:t>シミュレーションデータ</a:t>
            </a:r>
            <a:endParaRPr kumimoji="1" lang="ja-JP" altLang="en-US" dirty="0"/>
          </a:p>
        </p:txBody>
      </p:sp>
      <p:sp>
        <p:nvSpPr>
          <p:cNvPr id="4" name="スライド番号プレースホルダー 3">
            <a:extLst>
              <a:ext uri="{FF2B5EF4-FFF2-40B4-BE49-F238E27FC236}">
                <a16:creationId xmlns:a16="http://schemas.microsoft.com/office/drawing/2014/main" id="{460F38C1-135D-1BDF-558A-5088A9CED9D1}"/>
              </a:ext>
            </a:extLst>
          </p:cNvPr>
          <p:cNvSpPr>
            <a:spLocks noGrp="1"/>
          </p:cNvSpPr>
          <p:nvPr>
            <p:ph type="sldNum" sz="quarter" idx="12"/>
          </p:nvPr>
        </p:nvSpPr>
        <p:spPr/>
        <p:txBody>
          <a:bodyPr/>
          <a:lstStyle/>
          <a:p>
            <a:fld id="{F4F93977-CC68-4F92-83A3-0276DC4D9982}" type="slidenum">
              <a:rPr kumimoji="1" lang="ja-JP" altLang="en-US" smtClean="0"/>
              <a:pPr/>
              <a:t>9</a:t>
            </a:fld>
            <a:endParaRPr kumimoji="1" lang="ja-JP" altLang="en-US" dirty="0"/>
          </a:p>
        </p:txBody>
      </p:sp>
      <p:pic>
        <p:nvPicPr>
          <p:cNvPr id="5" name="図 4" descr="グラフ, 散布図&#10;&#10;AI 生成コンテンツは誤りを含む可能性があります。">
            <a:extLst>
              <a:ext uri="{FF2B5EF4-FFF2-40B4-BE49-F238E27FC236}">
                <a16:creationId xmlns:a16="http://schemas.microsoft.com/office/drawing/2014/main" id="{63CAD82A-4490-C55F-8FD3-EFE9C0DC3971}"/>
              </a:ext>
            </a:extLst>
          </p:cNvPr>
          <p:cNvPicPr>
            <a:picLocks noChangeAspect="1"/>
          </p:cNvPicPr>
          <p:nvPr/>
        </p:nvPicPr>
        <p:blipFill>
          <a:blip r:embed="rId2">
            <a:extLst>
              <a:ext uri="{28A0092B-C50C-407E-A947-70E740481C1C}">
                <a14:useLocalDpi xmlns:a14="http://schemas.microsoft.com/office/drawing/2010/main" val="0"/>
              </a:ext>
            </a:extLst>
          </a:blip>
          <a:srcRect l="3623" t="13841" r="3623" b="9825"/>
          <a:stretch>
            <a:fillRect/>
          </a:stretch>
        </p:blipFill>
        <p:spPr>
          <a:xfrm>
            <a:off x="4572000" y="1775895"/>
            <a:ext cx="4180115" cy="2866782"/>
          </a:xfrm>
          <a:prstGeom prst="rect">
            <a:avLst/>
          </a:prstGeom>
        </p:spPr>
      </p:pic>
      <p:pic>
        <p:nvPicPr>
          <p:cNvPr id="6" name="図 5" descr="グラフ&#10;&#10;AI 生成コンテンツは誤りを含む可能性があります。">
            <a:extLst>
              <a:ext uri="{FF2B5EF4-FFF2-40B4-BE49-F238E27FC236}">
                <a16:creationId xmlns:a16="http://schemas.microsoft.com/office/drawing/2014/main" id="{C4456BAC-4C6C-2065-15A4-F212BF1EAC7D}"/>
              </a:ext>
            </a:extLst>
          </p:cNvPr>
          <p:cNvPicPr>
            <a:picLocks noChangeAspect="1"/>
          </p:cNvPicPr>
          <p:nvPr/>
        </p:nvPicPr>
        <p:blipFill>
          <a:blip r:embed="rId3">
            <a:extLst>
              <a:ext uri="{28A0092B-C50C-407E-A947-70E740481C1C}">
                <a14:useLocalDpi xmlns:a14="http://schemas.microsoft.com/office/drawing/2010/main" val="0"/>
              </a:ext>
            </a:extLst>
          </a:blip>
          <a:srcRect l="3369" t="17320" r="3369" b="9070"/>
          <a:stretch>
            <a:fillRect/>
          </a:stretch>
        </p:blipFill>
        <p:spPr>
          <a:xfrm>
            <a:off x="0" y="1884752"/>
            <a:ext cx="4358472" cy="2866782"/>
          </a:xfrm>
          <a:prstGeom prst="rect">
            <a:avLst/>
          </a:prstGeom>
        </p:spPr>
      </p:pic>
      <p:sp>
        <p:nvSpPr>
          <p:cNvPr id="7" name="テキスト ボックス 6">
            <a:extLst>
              <a:ext uri="{FF2B5EF4-FFF2-40B4-BE49-F238E27FC236}">
                <a16:creationId xmlns:a16="http://schemas.microsoft.com/office/drawing/2014/main" id="{8A637A3B-A97B-580C-FFC1-D80E489936AB}"/>
              </a:ext>
            </a:extLst>
          </p:cNvPr>
          <p:cNvSpPr txBox="1"/>
          <p:nvPr/>
        </p:nvSpPr>
        <p:spPr>
          <a:xfrm>
            <a:off x="547054" y="1105563"/>
            <a:ext cx="6310946" cy="400110"/>
          </a:xfrm>
          <a:prstGeom prst="rect">
            <a:avLst/>
          </a:prstGeom>
          <a:noFill/>
        </p:spPr>
        <p:txBody>
          <a:bodyPr wrap="square" rtlCol="0">
            <a:spAutoFit/>
          </a:bodyPr>
          <a:lstStyle/>
          <a:p>
            <a:r>
              <a:rPr kumimoji="1" lang="ja-JP" altLang="en-US" b="1" dirty="0"/>
              <a:t>・</a:t>
            </a:r>
            <a:r>
              <a:rPr kumimoji="1" lang="en-US" altLang="ja-JP" sz="2000" b="1" dirty="0" err="1"/>
              <a:t>StarDist</a:t>
            </a:r>
            <a:r>
              <a:rPr kumimoji="1" lang="ja-JP" altLang="en-US" dirty="0"/>
              <a:t>であるフレームの粒子を検出してみた結果</a:t>
            </a:r>
          </a:p>
        </p:txBody>
      </p:sp>
      <p:sp>
        <p:nvSpPr>
          <p:cNvPr id="8" name="テキスト ボックス 7">
            <a:extLst>
              <a:ext uri="{FF2B5EF4-FFF2-40B4-BE49-F238E27FC236}">
                <a16:creationId xmlns:a16="http://schemas.microsoft.com/office/drawing/2014/main" id="{326E8687-1153-7809-FADF-D486CFCB7183}"/>
              </a:ext>
            </a:extLst>
          </p:cNvPr>
          <p:cNvSpPr txBox="1"/>
          <p:nvPr/>
        </p:nvSpPr>
        <p:spPr>
          <a:xfrm>
            <a:off x="1975884" y="4792059"/>
            <a:ext cx="2373086" cy="369332"/>
          </a:xfrm>
          <a:prstGeom prst="rect">
            <a:avLst/>
          </a:prstGeom>
          <a:noFill/>
        </p:spPr>
        <p:txBody>
          <a:bodyPr wrap="square" rtlCol="0">
            <a:spAutoFit/>
          </a:bodyPr>
          <a:lstStyle/>
          <a:p>
            <a:r>
              <a:rPr kumimoji="1" lang="ja-JP" altLang="en-US" dirty="0"/>
              <a:t>元画像</a:t>
            </a:r>
          </a:p>
        </p:txBody>
      </p:sp>
      <p:sp>
        <p:nvSpPr>
          <p:cNvPr id="9" name="テキスト ボックス 8">
            <a:extLst>
              <a:ext uri="{FF2B5EF4-FFF2-40B4-BE49-F238E27FC236}">
                <a16:creationId xmlns:a16="http://schemas.microsoft.com/office/drawing/2014/main" id="{C44000FA-F7E3-97E4-725A-7C194120999E}"/>
              </a:ext>
            </a:extLst>
          </p:cNvPr>
          <p:cNvSpPr txBox="1"/>
          <p:nvPr/>
        </p:nvSpPr>
        <p:spPr>
          <a:xfrm>
            <a:off x="6379029" y="4750470"/>
            <a:ext cx="2373086" cy="369332"/>
          </a:xfrm>
          <a:prstGeom prst="rect">
            <a:avLst/>
          </a:prstGeom>
          <a:noFill/>
        </p:spPr>
        <p:txBody>
          <a:bodyPr wrap="square" rtlCol="0">
            <a:spAutoFit/>
          </a:bodyPr>
          <a:lstStyle/>
          <a:p>
            <a:r>
              <a:rPr kumimoji="1" lang="ja-JP" altLang="en-US" dirty="0"/>
              <a:t>検出画像</a:t>
            </a:r>
          </a:p>
        </p:txBody>
      </p:sp>
      <p:sp>
        <p:nvSpPr>
          <p:cNvPr id="10" name="テキスト ボックス 9">
            <a:extLst>
              <a:ext uri="{FF2B5EF4-FFF2-40B4-BE49-F238E27FC236}">
                <a16:creationId xmlns:a16="http://schemas.microsoft.com/office/drawing/2014/main" id="{3AFBF5D4-FAAA-69A5-81F2-704D33F71A12}"/>
              </a:ext>
            </a:extLst>
          </p:cNvPr>
          <p:cNvSpPr txBox="1"/>
          <p:nvPr/>
        </p:nvSpPr>
        <p:spPr>
          <a:xfrm>
            <a:off x="93912" y="5505152"/>
            <a:ext cx="8956175" cy="369332"/>
          </a:xfrm>
          <a:prstGeom prst="rect">
            <a:avLst/>
          </a:prstGeom>
          <a:solidFill>
            <a:schemeClr val="accent2">
              <a:lumMod val="20000"/>
              <a:lumOff val="80000"/>
            </a:schemeClr>
          </a:solidFill>
        </p:spPr>
        <p:txBody>
          <a:bodyPr wrap="square" rtlCol="0">
            <a:spAutoFit/>
          </a:bodyPr>
          <a:lstStyle/>
          <a:p>
            <a:r>
              <a:rPr kumimoji="1" lang="ja-JP" altLang="en-US" dirty="0"/>
              <a:t>分離閾値</a:t>
            </a:r>
            <a:r>
              <a:rPr kumimoji="1" lang="en-US" altLang="ja-JP" dirty="0"/>
              <a:t>(</a:t>
            </a:r>
            <a:r>
              <a:rPr kumimoji="1" lang="en-US" altLang="ja-JP" dirty="0" err="1"/>
              <a:t>nms</a:t>
            </a:r>
            <a:r>
              <a:rPr kumimoji="1" lang="en-US" altLang="ja-JP" dirty="0"/>
              <a:t>)</a:t>
            </a:r>
            <a:r>
              <a:rPr kumimoji="1" lang="ja-JP" altLang="en-US" dirty="0"/>
              <a:t>を変更することで，近接している粒子を別粒子として検出できている</a:t>
            </a:r>
          </a:p>
        </p:txBody>
      </p:sp>
      <p:sp>
        <p:nvSpPr>
          <p:cNvPr id="11" name="テキスト ボックス 10">
            <a:extLst>
              <a:ext uri="{FF2B5EF4-FFF2-40B4-BE49-F238E27FC236}">
                <a16:creationId xmlns:a16="http://schemas.microsoft.com/office/drawing/2014/main" id="{6A7DF241-4FE3-0E9B-567D-8185337704CB}"/>
              </a:ext>
            </a:extLst>
          </p:cNvPr>
          <p:cNvSpPr txBox="1"/>
          <p:nvPr/>
        </p:nvSpPr>
        <p:spPr>
          <a:xfrm>
            <a:off x="1899556" y="6075168"/>
            <a:ext cx="5344885" cy="369332"/>
          </a:xfrm>
          <a:prstGeom prst="rect">
            <a:avLst/>
          </a:prstGeom>
          <a:noFill/>
        </p:spPr>
        <p:txBody>
          <a:bodyPr wrap="square" rtlCol="0">
            <a:spAutoFit/>
          </a:bodyPr>
          <a:lstStyle/>
          <a:p>
            <a:r>
              <a:rPr kumimoji="1" lang="en-US" altLang="ja-JP" dirty="0"/>
              <a:t>※</a:t>
            </a:r>
            <a:r>
              <a:rPr kumimoji="1" lang="ja-JP" altLang="en-US" dirty="0"/>
              <a:t>一部重なりすぎているものは誤検出あり</a:t>
            </a:r>
          </a:p>
        </p:txBody>
      </p:sp>
    </p:spTree>
    <p:extLst>
      <p:ext uri="{BB962C8B-B14F-4D97-AF65-F5344CB8AC3E}">
        <p14:creationId xmlns:p14="http://schemas.microsoft.com/office/powerpoint/2010/main" val="1718171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C8949-6AC0-570A-AD32-5A19931D64C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59A9AB-45AF-08B3-6D42-47BDFE6322F6}"/>
              </a:ext>
            </a:extLst>
          </p:cNvPr>
          <p:cNvSpPr>
            <a:spLocks noGrp="1"/>
          </p:cNvSpPr>
          <p:nvPr>
            <p:ph type="title"/>
          </p:nvPr>
        </p:nvSpPr>
        <p:spPr/>
        <p:txBody>
          <a:bodyPr/>
          <a:lstStyle/>
          <a:p>
            <a:r>
              <a:rPr lang="ja-JP" altLang="en-US" dirty="0"/>
              <a:t>シミュレーションデータ</a:t>
            </a:r>
            <a:endParaRPr kumimoji="1" lang="ja-JP" altLang="en-US" dirty="0"/>
          </a:p>
        </p:txBody>
      </p:sp>
      <p:sp>
        <p:nvSpPr>
          <p:cNvPr id="3" name="コンテンツ プレースホルダー 2">
            <a:extLst>
              <a:ext uri="{FF2B5EF4-FFF2-40B4-BE49-F238E27FC236}">
                <a16:creationId xmlns:a16="http://schemas.microsoft.com/office/drawing/2014/main" id="{7EA9383E-431F-6B92-801B-7185B6F29D8C}"/>
              </a:ext>
            </a:extLst>
          </p:cNvPr>
          <p:cNvSpPr>
            <a:spLocks noGrp="1"/>
          </p:cNvSpPr>
          <p:nvPr>
            <p:ph idx="1"/>
          </p:nvPr>
        </p:nvSpPr>
        <p:spPr>
          <a:xfrm>
            <a:off x="262642" y="953410"/>
            <a:ext cx="9044644" cy="4351338"/>
          </a:xfrm>
        </p:spPr>
        <p:txBody>
          <a:bodyPr>
            <a:normAutofit/>
          </a:bodyPr>
          <a:lstStyle/>
          <a:p>
            <a:pPr marL="0" indent="0">
              <a:buNone/>
            </a:pPr>
            <a:r>
              <a:rPr kumimoji="1" lang="ja-JP" altLang="en-US" sz="2400" dirty="0"/>
              <a:t>・</a:t>
            </a:r>
            <a:r>
              <a:rPr kumimoji="1" lang="ja-JP" altLang="en-US" sz="2400" b="1" dirty="0"/>
              <a:t>評価指標</a:t>
            </a:r>
            <a:r>
              <a:rPr kumimoji="1" lang="ja-JP" altLang="en-US" sz="2400" dirty="0"/>
              <a:t>について</a:t>
            </a:r>
            <a:endParaRPr kumimoji="1" lang="en-US" altLang="ja-JP" sz="2400" dirty="0"/>
          </a:p>
          <a:p>
            <a:pPr marL="0" indent="0">
              <a:buNone/>
            </a:pPr>
            <a:r>
              <a:rPr kumimoji="1" lang="ja-JP" altLang="en-US" sz="2400" dirty="0"/>
              <a:t>　</a:t>
            </a:r>
            <a:r>
              <a:rPr kumimoji="1" lang="ja-JP" altLang="en-US" sz="1800" dirty="0"/>
              <a:t>すべての粒子には </a:t>
            </a:r>
            <a:r>
              <a:rPr kumimoji="1" lang="en-US" altLang="ja-JP" sz="1800" dirty="0"/>
              <a:t>ID(</a:t>
            </a:r>
            <a:r>
              <a:rPr kumimoji="1" lang="ja-JP" altLang="en-US" sz="1800" dirty="0"/>
              <a:t>識別番号</a:t>
            </a:r>
            <a:r>
              <a:rPr lang="en-US" altLang="ja-JP" sz="1800" dirty="0"/>
              <a:t>)</a:t>
            </a:r>
            <a:r>
              <a:rPr lang="ja-JP" altLang="en-US" sz="1800" dirty="0"/>
              <a:t>が付与されており，</a:t>
            </a:r>
            <a:r>
              <a:rPr lang="en-US" altLang="ja-JP" sz="1800" dirty="0"/>
              <a:t>ID</a:t>
            </a:r>
            <a:r>
              <a:rPr lang="ja-JP" altLang="en-US" sz="1800" dirty="0"/>
              <a:t>の比較を行うことで評価</a:t>
            </a:r>
            <a:endParaRPr lang="en-US" altLang="ja-JP" sz="1800" dirty="0"/>
          </a:p>
        </p:txBody>
      </p:sp>
      <p:sp>
        <p:nvSpPr>
          <p:cNvPr id="4" name="スライド番号プレースホルダー 3">
            <a:extLst>
              <a:ext uri="{FF2B5EF4-FFF2-40B4-BE49-F238E27FC236}">
                <a16:creationId xmlns:a16="http://schemas.microsoft.com/office/drawing/2014/main" id="{4BE63F66-AFA5-2C09-51C1-6CB1637C2E2E}"/>
              </a:ext>
            </a:extLst>
          </p:cNvPr>
          <p:cNvSpPr>
            <a:spLocks noGrp="1"/>
          </p:cNvSpPr>
          <p:nvPr>
            <p:ph type="sldNum" sz="quarter" idx="12"/>
          </p:nvPr>
        </p:nvSpPr>
        <p:spPr/>
        <p:txBody>
          <a:bodyPr/>
          <a:lstStyle/>
          <a:p>
            <a:fld id="{F4F93977-CC68-4F92-83A3-0276DC4D9982}" type="slidenum">
              <a:rPr kumimoji="1" lang="ja-JP" altLang="en-US" smtClean="0"/>
              <a:pPr/>
              <a:t>10</a:t>
            </a:fld>
            <a:endParaRPr kumimoji="1" lang="ja-JP" altLang="en-US" dirty="0"/>
          </a:p>
        </p:txBody>
      </p:sp>
      <p:sp>
        <p:nvSpPr>
          <p:cNvPr id="7" name="テキスト ボックス 6">
            <a:extLst>
              <a:ext uri="{FF2B5EF4-FFF2-40B4-BE49-F238E27FC236}">
                <a16:creationId xmlns:a16="http://schemas.microsoft.com/office/drawing/2014/main" id="{85A70C17-4940-6F1E-C20C-FA49C8661D5A}"/>
              </a:ext>
            </a:extLst>
          </p:cNvPr>
          <p:cNvSpPr txBox="1"/>
          <p:nvPr/>
        </p:nvSpPr>
        <p:spPr>
          <a:xfrm>
            <a:off x="434318" y="3105834"/>
            <a:ext cx="10078037" cy="646331"/>
          </a:xfrm>
          <a:prstGeom prst="rect">
            <a:avLst/>
          </a:prstGeom>
          <a:noFill/>
        </p:spPr>
        <p:txBody>
          <a:bodyPr wrap="square" rtlCol="0">
            <a:spAutoFit/>
          </a:bodyPr>
          <a:lstStyle/>
          <a:p>
            <a:r>
              <a:rPr kumimoji="1" lang="ja-JP" altLang="en-US" b="1" dirty="0"/>
              <a:t>１</a:t>
            </a:r>
            <a:r>
              <a:rPr kumimoji="1" lang="en-US" altLang="ja-JP" b="1" dirty="0"/>
              <a:t>.</a:t>
            </a:r>
            <a:r>
              <a:rPr kumimoji="1" lang="ja-JP" altLang="en-US" b="1" dirty="0"/>
              <a:t>局所リンク率</a:t>
            </a:r>
            <a:r>
              <a:rPr kumimoji="1" lang="en-US" altLang="ja-JP" b="1" dirty="0"/>
              <a:t>(LSR) </a:t>
            </a:r>
            <a:r>
              <a:rPr kumimoji="1" lang="en-US" altLang="ja-JP" dirty="0"/>
              <a:t>: </a:t>
            </a:r>
            <a:r>
              <a:rPr kumimoji="1" lang="ja-JP" altLang="en-US" dirty="0"/>
              <a:t>ある粒子が二フレーム間でマッチした時，</a:t>
            </a:r>
            <a:r>
              <a:rPr kumimoji="1" lang="en-US" altLang="ja-JP" dirty="0"/>
              <a:t>GT</a:t>
            </a:r>
            <a:r>
              <a:rPr kumimoji="1" lang="ja-JP" altLang="en-US" dirty="0"/>
              <a:t>と</a:t>
            </a:r>
            <a:r>
              <a:rPr kumimoji="1" lang="en-US" altLang="ja-JP" dirty="0"/>
              <a:t>ID</a:t>
            </a:r>
            <a:r>
              <a:rPr kumimoji="1" lang="ja-JP" altLang="en-US" dirty="0"/>
              <a:t>が</a:t>
            </a:r>
            <a:endParaRPr kumimoji="1" lang="en-US" altLang="ja-JP" dirty="0"/>
          </a:p>
          <a:p>
            <a:r>
              <a:rPr kumimoji="1" lang="ja-JP" altLang="en-US" dirty="0"/>
              <a:t>　　　　　　　　　　一致している割合</a:t>
            </a:r>
            <a:r>
              <a:rPr kumimoji="1" lang="en-US" altLang="ja-JP" dirty="0"/>
              <a:t>(</a:t>
            </a:r>
            <a:r>
              <a:rPr kumimoji="1" lang="ja-JP" altLang="en-US" dirty="0"/>
              <a:t>一致したリンク数</a:t>
            </a:r>
            <a:r>
              <a:rPr kumimoji="1" lang="en-US" altLang="ja-JP" dirty="0"/>
              <a:t>/GT</a:t>
            </a:r>
            <a:r>
              <a:rPr kumimoji="1" lang="ja-JP" altLang="en-US" dirty="0"/>
              <a:t>全リンク</a:t>
            </a:r>
            <a:r>
              <a:rPr kumimoji="1" lang="en-US" altLang="ja-JP" dirty="0"/>
              <a:t>)</a:t>
            </a:r>
            <a:endParaRPr kumimoji="1" lang="ja-JP" altLang="en-US" dirty="0"/>
          </a:p>
        </p:txBody>
      </p:sp>
      <p:sp>
        <p:nvSpPr>
          <p:cNvPr id="5" name="矢印: 下 4">
            <a:extLst>
              <a:ext uri="{FF2B5EF4-FFF2-40B4-BE49-F238E27FC236}">
                <a16:creationId xmlns:a16="http://schemas.microsoft.com/office/drawing/2014/main" id="{7D9D896D-5C7C-0BD5-33CB-A4201D2C13C4}"/>
              </a:ext>
            </a:extLst>
          </p:cNvPr>
          <p:cNvSpPr/>
          <p:nvPr/>
        </p:nvSpPr>
        <p:spPr>
          <a:xfrm>
            <a:off x="4178050" y="1926596"/>
            <a:ext cx="463463" cy="81419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190452EA-75E0-A89B-F88F-BD0182FB1EF8}"/>
              </a:ext>
            </a:extLst>
          </p:cNvPr>
          <p:cNvSpPr txBox="1"/>
          <p:nvPr/>
        </p:nvSpPr>
        <p:spPr>
          <a:xfrm>
            <a:off x="434315" y="4235995"/>
            <a:ext cx="10078037" cy="646331"/>
          </a:xfrm>
          <a:prstGeom prst="rect">
            <a:avLst/>
          </a:prstGeom>
          <a:noFill/>
        </p:spPr>
        <p:txBody>
          <a:bodyPr wrap="square" rtlCol="0">
            <a:spAutoFit/>
          </a:bodyPr>
          <a:lstStyle/>
          <a:p>
            <a:r>
              <a:rPr kumimoji="1" lang="en-US" altLang="ja-JP" b="1" dirty="0"/>
              <a:t>2.</a:t>
            </a:r>
            <a:r>
              <a:rPr kumimoji="1" lang="en-US" altLang="ja-JP" b="1" dirty="0">
                <a:solidFill>
                  <a:srgbClr val="FF0000"/>
                </a:solidFill>
              </a:rPr>
              <a:t>ID</a:t>
            </a:r>
            <a:r>
              <a:rPr kumimoji="1" lang="ja-JP" altLang="en-US" b="1" dirty="0">
                <a:solidFill>
                  <a:srgbClr val="FF0000"/>
                </a:solidFill>
              </a:rPr>
              <a:t>継続率</a:t>
            </a:r>
            <a:r>
              <a:rPr kumimoji="1" lang="en-US" altLang="ja-JP" b="1" dirty="0">
                <a:solidFill>
                  <a:srgbClr val="FF0000"/>
                </a:solidFill>
              </a:rPr>
              <a:t>(</a:t>
            </a:r>
            <a:r>
              <a:rPr kumimoji="1" lang="en-US" altLang="ja-JP" b="1" dirty="0" err="1">
                <a:solidFill>
                  <a:srgbClr val="FF0000"/>
                </a:solidFill>
              </a:rPr>
              <a:t>IDconst</a:t>
            </a:r>
            <a:r>
              <a:rPr kumimoji="1" lang="en-US" altLang="ja-JP" b="1" dirty="0">
                <a:solidFill>
                  <a:srgbClr val="FF0000"/>
                </a:solidFill>
              </a:rPr>
              <a:t>)</a:t>
            </a:r>
            <a:r>
              <a:rPr kumimoji="1" lang="en-US" altLang="ja-JP" b="1" dirty="0"/>
              <a:t> </a:t>
            </a:r>
            <a:r>
              <a:rPr kumimoji="1" lang="en-US" altLang="ja-JP" dirty="0"/>
              <a:t>: </a:t>
            </a:r>
            <a:r>
              <a:rPr kumimoji="1" lang="ja-JP" altLang="en-US" dirty="0"/>
              <a:t>追跡した全軌跡に対して，</a:t>
            </a:r>
            <a:r>
              <a:rPr kumimoji="1" lang="en-US" altLang="ja-JP" dirty="0"/>
              <a:t>GT</a:t>
            </a:r>
            <a:r>
              <a:rPr kumimoji="1" lang="ja-JP" altLang="en-US" dirty="0"/>
              <a:t>の</a:t>
            </a:r>
            <a:r>
              <a:rPr kumimoji="1" lang="en-US" altLang="ja-JP" dirty="0"/>
              <a:t>ID</a:t>
            </a:r>
            <a:r>
              <a:rPr kumimoji="1" lang="ja-JP" altLang="en-US" dirty="0"/>
              <a:t>と，</a:t>
            </a:r>
            <a:endParaRPr kumimoji="1" lang="en-US" altLang="ja-JP" dirty="0"/>
          </a:p>
          <a:p>
            <a:r>
              <a:rPr kumimoji="1" lang="en-US" altLang="ja-JP" dirty="0"/>
              <a:t>					</a:t>
            </a:r>
            <a:r>
              <a:rPr kumimoji="1" lang="ja-JP" altLang="en-US" dirty="0"/>
              <a:t>　一定期間</a:t>
            </a:r>
            <a:r>
              <a:rPr kumimoji="1" lang="en-US" altLang="ja-JP" dirty="0"/>
              <a:t>(80%,95%,100%)</a:t>
            </a:r>
            <a:r>
              <a:rPr kumimoji="1" lang="ja-JP" altLang="en-US" dirty="0"/>
              <a:t>一致したものの割合</a:t>
            </a:r>
            <a:r>
              <a:rPr kumimoji="1" lang="en-US" altLang="ja-JP" dirty="0"/>
              <a:t> </a:t>
            </a:r>
            <a:endParaRPr kumimoji="1" lang="ja-JP" altLang="en-US" dirty="0"/>
          </a:p>
        </p:txBody>
      </p:sp>
      <p:sp>
        <p:nvSpPr>
          <p:cNvPr id="8" name="テキスト ボックス 7">
            <a:extLst>
              <a:ext uri="{FF2B5EF4-FFF2-40B4-BE49-F238E27FC236}">
                <a16:creationId xmlns:a16="http://schemas.microsoft.com/office/drawing/2014/main" id="{03603ADF-C3E4-ADF6-03B5-922ACC57691D}"/>
              </a:ext>
            </a:extLst>
          </p:cNvPr>
          <p:cNvSpPr txBox="1"/>
          <p:nvPr/>
        </p:nvSpPr>
        <p:spPr>
          <a:xfrm>
            <a:off x="434315" y="5573208"/>
            <a:ext cx="10078037" cy="923330"/>
          </a:xfrm>
          <a:prstGeom prst="rect">
            <a:avLst/>
          </a:prstGeom>
          <a:noFill/>
        </p:spPr>
        <p:txBody>
          <a:bodyPr wrap="square" rtlCol="0">
            <a:spAutoFit/>
          </a:bodyPr>
          <a:lstStyle/>
          <a:p>
            <a:r>
              <a:rPr kumimoji="1" lang="en-US" altLang="ja-JP" b="1" dirty="0"/>
              <a:t>3.</a:t>
            </a:r>
            <a:r>
              <a:rPr kumimoji="1" lang="ja-JP" altLang="en-US" b="1" dirty="0"/>
              <a:t>再出現</a:t>
            </a:r>
            <a:r>
              <a:rPr kumimoji="1" lang="en-US" altLang="ja-JP" b="1" dirty="0"/>
              <a:t>ID</a:t>
            </a:r>
            <a:r>
              <a:rPr kumimoji="1" lang="ja-JP" altLang="en-US" b="1" dirty="0"/>
              <a:t>継続率</a:t>
            </a:r>
            <a:r>
              <a:rPr kumimoji="1" lang="en-US" altLang="ja-JP" b="1" dirty="0"/>
              <a:t> </a:t>
            </a:r>
            <a:r>
              <a:rPr kumimoji="1" lang="en-US" altLang="ja-JP" dirty="0"/>
              <a:t>: </a:t>
            </a:r>
            <a:r>
              <a:rPr kumimoji="1" lang="ja-JP" altLang="en-US" dirty="0"/>
              <a:t>粒子が消失→再出現でマッチングした際の</a:t>
            </a:r>
            <a:r>
              <a:rPr kumimoji="1" lang="en-US" altLang="ja-JP" dirty="0"/>
              <a:t>GT</a:t>
            </a:r>
            <a:r>
              <a:rPr kumimoji="1" lang="ja-JP" altLang="en-US" dirty="0"/>
              <a:t>に対する正解率</a:t>
            </a:r>
            <a:endParaRPr kumimoji="1" lang="en-US" altLang="ja-JP" dirty="0"/>
          </a:p>
          <a:p>
            <a:r>
              <a:rPr kumimoji="1" lang="en-US" altLang="ja-JP" dirty="0"/>
              <a:t>                         </a:t>
            </a:r>
            <a:r>
              <a:rPr kumimoji="1" lang="ja-JP" altLang="en-US" dirty="0"/>
              <a:t>　</a:t>
            </a:r>
            <a:r>
              <a:rPr kumimoji="1" lang="en-US" altLang="ja-JP" dirty="0"/>
              <a:t>(</a:t>
            </a:r>
            <a:r>
              <a:rPr kumimoji="1" lang="ja-JP" altLang="en-US" dirty="0"/>
              <a:t>正解したリンク数</a:t>
            </a:r>
            <a:r>
              <a:rPr kumimoji="1" lang="en-US" altLang="ja-JP" dirty="0"/>
              <a:t>/GT</a:t>
            </a:r>
            <a:r>
              <a:rPr kumimoji="1" lang="ja-JP" altLang="en-US" dirty="0"/>
              <a:t>の消失→再出現パターン数</a:t>
            </a:r>
            <a:r>
              <a:rPr kumimoji="1" lang="en-US" altLang="ja-JP" dirty="0"/>
              <a:t>)</a:t>
            </a:r>
            <a:endParaRPr kumimoji="1" lang="ja-JP" altLang="en-US" dirty="0"/>
          </a:p>
          <a:p>
            <a:endParaRPr kumimoji="1" lang="ja-JP" altLang="en-US" dirty="0"/>
          </a:p>
        </p:txBody>
      </p:sp>
      <p:sp>
        <p:nvSpPr>
          <p:cNvPr id="9" name="矢印: 右 8">
            <a:extLst>
              <a:ext uri="{FF2B5EF4-FFF2-40B4-BE49-F238E27FC236}">
                <a16:creationId xmlns:a16="http://schemas.microsoft.com/office/drawing/2014/main" id="{D1D6626F-6E4F-70A5-AE74-ADA19189F720}"/>
              </a:ext>
            </a:extLst>
          </p:cNvPr>
          <p:cNvSpPr/>
          <p:nvPr/>
        </p:nvSpPr>
        <p:spPr>
          <a:xfrm>
            <a:off x="547054" y="4891239"/>
            <a:ext cx="1340285" cy="365046"/>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6FF5C98C-88AD-53B7-1E10-1E14B67E754A}"/>
              </a:ext>
            </a:extLst>
          </p:cNvPr>
          <p:cNvSpPr txBox="1"/>
          <p:nvPr/>
        </p:nvSpPr>
        <p:spPr>
          <a:xfrm>
            <a:off x="2059014" y="4937389"/>
            <a:ext cx="7532683" cy="400110"/>
          </a:xfrm>
          <a:prstGeom prst="rect">
            <a:avLst/>
          </a:prstGeom>
          <a:noFill/>
          <a:ln>
            <a:noFill/>
          </a:ln>
        </p:spPr>
        <p:txBody>
          <a:bodyPr wrap="square">
            <a:spAutoFit/>
          </a:bodyPr>
          <a:lstStyle/>
          <a:p>
            <a:r>
              <a:rPr lang="ja-JP" altLang="en-US" sz="2000" dirty="0">
                <a:solidFill>
                  <a:schemeClr val="accent2"/>
                </a:solidFill>
              </a:rPr>
              <a:t>追跡アルゴリズムの長期追跡に対する機能を確認するため</a:t>
            </a:r>
          </a:p>
        </p:txBody>
      </p:sp>
    </p:spTree>
    <p:extLst>
      <p:ext uri="{BB962C8B-B14F-4D97-AF65-F5344CB8AC3E}">
        <p14:creationId xmlns:p14="http://schemas.microsoft.com/office/powerpoint/2010/main" val="3764470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F0D5C-494C-804F-C3A0-0EB73E72AE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373995-316D-D972-2A4E-80828F124A5B}"/>
              </a:ext>
            </a:extLst>
          </p:cNvPr>
          <p:cNvSpPr>
            <a:spLocks noGrp="1"/>
          </p:cNvSpPr>
          <p:nvPr>
            <p:ph type="title"/>
          </p:nvPr>
        </p:nvSpPr>
        <p:spPr/>
        <p:txBody>
          <a:bodyPr/>
          <a:lstStyle/>
          <a:p>
            <a:r>
              <a:rPr lang="ja-JP" altLang="en-US" dirty="0"/>
              <a:t>シミュレーションデータ</a:t>
            </a:r>
            <a:endParaRPr kumimoji="1" lang="ja-JP" altLang="en-US" dirty="0"/>
          </a:p>
        </p:txBody>
      </p:sp>
      <p:sp>
        <p:nvSpPr>
          <p:cNvPr id="3" name="コンテンツ プレースホルダー 2">
            <a:extLst>
              <a:ext uri="{FF2B5EF4-FFF2-40B4-BE49-F238E27FC236}">
                <a16:creationId xmlns:a16="http://schemas.microsoft.com/office/drawing/2014/main" id="{970342BC-E69E-F6F6-0A93-61CD9CB550BC}"/>
              </a:ext>
            </a:extLst>
          </p:cNvPr>
          <p:cNvSpPr>
            <a:spLocks noGrp="1"/>
          </p:cNvSpPr>
          <p:nvPr>
            <p:ph idx="1"/>
          </p:nvPr>
        </p:nvSpPr>
        <p:spPr>
          <a:xfrm>
            <a:off x="262642" y="953410"/>
            <a:ext cx="9044644" cy="4351338"/>
          </a:xfrm>
        </p:spPr>
        <p:txBody>
          <a:bodyPr>
            <a:normAutofit/>
          </a:bodyPr>
          <a:lstStyle/>
          <a:p>
            <a:pPr marL="0" indent="0">
              <a:buNone/>
            </a:pPr>
            <a:r>
              <a:rPr kumimoji="1" lang="ja-JP" altLang="en-US" sz="2400" dirty="0"/>
              <a:t>・</a:t>
            </a:r>
            <a:r>
              <a:rPr kumimoji="1" lang="ja-JP" altLang="en-US" sz="2400" b="1" dirty="0"/>
              <a:t>評価指標</a:t>
            </a:r>
            <a:r>
              <a:rPr kumimoji="1" lang="ja-JP" altLang="en-US" sz="2400" dirty="0"/>
              <a:t>について</a:t>
            </a:r>
            <a:endParaRPr kumimoji="1" lang="en-US" altLang="ja-JP" sz="2400" dirty="0"/>
          </a:p>
          <a:p>
            <a:pPr marL="0" indent="0">
              <a:buNone/>
            </a:pPr>
            <a:r>
              <a:rPr kumimoji="1" lang="ja-JP" altLang="en-US" sz="2400" dirty="0"/>
              <a:t>　</a:t>
            </a:r>
            <a:r>
              <a:rPr kumimoji="1" lang="ja-JP" altLang="en-US" sz="1800" dirty="0"/>
              <a:t>すべての粒子には </a:t>
            </a:r>
            <a:r>
              <a:rPr kumimoji="1" lang="en-US" altLang="ja-JP" sz="1800" dirty="0"/>
              <a:t>ID(</a:t>
            </a:r>
            <a:r>
              <a:rPr kumimoji="1" lang="ja-JP" altLang="en-US" sz="1800" dirty="0"/>
              <a:t>識別番号</a:t>
            </a:r>
            <a:r>
              <a:rPr lang="en-US" altLang="ja-JP" sz="1800" dirty="0"/>
              <a:t>)</a:t>
            </a:r>
            <a:r>
              <a:rPr lang="ja-JP" altLang="en-US" sz="1800" dirty="0"/>
              <a:t>が付与されており，</a:t>
            </a:r>
            <a:r>
              <a:rPr lang="en-US" altLang="ja-JP" sz="1800" dirty="0"/>
              <a:t>ID</a:t>
            </a:r>
            <a:r>
              <a:rPr lang="ja-JP" altLang="en-US" sz="1800" dirty="0"/>
              <a:t>の比較を行うことで評価</a:t>
            </a:r>
            <a:endParaRPr lang="en-US" altLang="ja-JP" sz="1800" dirty="0"/>
          </a:p>
        </p:txBody>
      </p:sp>
      <p:sp>
        <p:nvSpPr>
          <p:cNvPr id="4" name="スライド番号プレースホルダー 3">
            <a:extLst>
              <a:ext uri="{FF2B5EF4-FFF2-40B4-BE49-F238E27FC236}">
                <a16:creationId xmlns:a16="http://schemas.microsoft.com/office/drawing/2014/main" id="{C772B04D-7956-4A47-73E5-9C8040CF07F5}"/>
              </a:ext>
            </a:extLst>
          </p:cNvPr>
          <p:cNvSpPr>
            <a:spLocks noGrp="1"/>
          </p:cNvSpPr>
          <p:nvPr>
            <p:ph type="sldNum" sz="quarter" idx="12"/>
          </p:nvPr>
        </p:nvSpPr>
        <p:spPr/>
        <p:txBody>
          <a:bodyPr/>
          <a:lstStyle/>
          <a:p>
            <a:fld id="{F4F93977-CC68-4F92-83A3-0276DC4D9982}" type="slidenum">
              <a:rPr kumimoji="1" lang="ja-JP" altLang="en-US" smtClean="0"/>
              <a:pPr/>
              <a:t>11</a:t>
            </a:fld>
            <a:endParaRPr kumimoji="1" lang="ja-JP" altLang="en-US" dirty="0"/>
          </a:p>
        </p:txBody>
      </p:sp>
      <p:sp>
        <p:nvSpPr>
          <p:cNvPr id="7" name="テキスト ボックス 6">
            <a:extLst>
              <a:ext uri="{FF2B5EF4-FFF2-40B4-BE49-F238E27FC236}">
                <a16:creationId xmlns:a16="http://schemas.microsoft.com/office/drawing/2014/main" id="{2DCCA38D-907C-FDA4-411E-A857725127EE}"/>
              </a:ext>
            </a:extLst>
          </p:cNvPr>
          <p:cNvSpPr txBox="1"/>
          <p:nvPr/>
        </p:nvSpPr>
        <p:spPr>
          <a:xfrm>
            <a:off x="434318" y="3105834"/>
            <a:ext cx="10078037" cy="646331"/>
          </a:xfrm>
          <a:prstGeom prst="rect">
            <a:avLst/>
          </a:prstGeom>
          <a:noFill/>
        </p:spPr>
        <p:txBody>
          <a:bodyPr wrap="square" rtlCol="0">
            <a:spAutoFit/>
          </a:bodyPr>
          <a:lstStyle/>
          <a:p>
            <a:r>
              <a:rPr kumimoji="1" lang="ja-JP" altLang="en-US" b="1" dirty="0"/>
              <a:t>１</a:t>
            </a:r>
            <a:r>
              <a:rPr kumimoji="1" lang="en-US" altLang="ja-JP" b="1" dirty="0"/>
              <a:t>.</a:t>
            </a:r>
            <a:r>
              <a:rPr kumimoji="1" lang="ja-JP" altLang="en-US" b="1" dirty="0"/>
              <a:t>局所リンク率</a:t>
            </a:r>
            <a:r>
              <a:rPr kumimoji="1" lang="en-US" altLang="ja-JP" b="1" dirty="0"/>
              <a:t>(LSR) </a:t>
            </a:r>
            <a:r>
              <a:rPr kumimoji="1" lang="en-US" altLang="ja-JP" dirty="0"/>
              <a:t>: </a:t>
            </a:r>
            <a:r>
              <a:rPr kumimoji="1" lang="ja-JP" altLang="en-US" dirty="0"/>
              <a:t>ある粒子が二フレーム間でマッチした時，</a:t>
            </a:r>
            <a:r>
              <a:rPr kumimoji="1" lang="en-US" altLang="ja-JP" dirty="0"/>
              <a:t>GT</a:t>
            </a:r>
            <a:r>
              <a:rPr kumimoji="1" lang="ja-JP" altLang="en-US" dirty="0"/>
              <a:t>と</a:t>
            </a:r>
            <a:r>
              <a:rPr kumimoji="1" lang="en-US" altLang="ja-JP" dirty="0"/>
              <a:t>ID</a:t>
            </a:r>
            <a:r>
              <a:rPr kumimoji="1" lang="ja-JP" altLang="en-US" dirty="0"/>
              <a:t>が</a:t>
            </a:r>
            <a:endParaRPr kumimoji="1" lang="en-US" altLang="ja-JP" dirty="0"/>
          </a:p>
          <a:p>
            <a:r>
              <a:rPr kumimoji="1" lang="ja-JP" altLang="en-US" dirty="0"/>
              <a:t>　　　　　　　　　　一致している割合</a:t>
            </a:r>
            <a:r>
              <a:rPr kumimoji="1" lang="en-US" altLang="ja-JP" dirty="0"/>
              <a:t>(</a:t>
            </a:r>
            <a:r>
              <a:rPr kumimoji="1" lang="ja-JP" altLang="en-US" dirty="0"/>
              <a:t>一致したリンク数</a:t>
            </a:r>
            <a:r>
              <a:rPr kumimoji="1" lang="en-US" altLang="ja-JP" dirty="0"/>
              <a:t>/GT</a:t>
            </a:r>
            <a:r>
              <a:rPr kumimoji="1" lang="ja-JP" altLang="en-US" dirty="0"/>
              <a:t>全リンク</a:t>
            </a:r>
            <a:r>
              <a:rPr kumimoji="1" lang="en-US" altLang="ja-JP" dirty="0"/>
              <a:t>)</a:t>
            </a:r>
            <a:endParaRPr kumimoji="1" lang="ja-JP" altLang="en-US" dirty="0"/>
          </a:p>
        </p:txBody>
      </p:sp>
      <p:sp>
        <p:nvSpPr>
          <p:cNvPr id="5" name="矢印: 下 4">
            <a:extLst>
              <a:ext uri="{FF2B5EF4-FFF2-40B4-BE49-F238E27FC236}">
                <a16:creationId xmlns:a16="http://schemas.microsoft.com/office/drawing/2014/main" id="{F8AC81BD-EB66-6BD1-B29B-2D03B0ED476C}"/>
              </a:ext>
            </a:extLst>
          </p:cNvPr>
          <p:cNvSpPr/>
          <p:nvPr/>
        </p:nvSpPr>
        <p:spPr>
          <a:xfrm>
            <a:off x="4178050" y="1926596"/>
            <a:ext cx="463463" cy="81419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F31C2942-BB04-7D0B-4066-5284EFE0FA50}"/>
              </a:ext>
            </a:extLst>
          </p:cNvPr>
          <p:cNvSpPr txBox="1"/>
          <p:nvPr/>
        </p:nvSpPr>
        <p:spPr>
          <a:xfrm>
            <a:off x="434315" y="4246881"/>
            <a:ext cx="10078037" cy="646331"/>
          </a:xfrm>
          <a:prstGeom prst="rect">
            <a:avLst/>
          </a:prstGeom>
          <a:noFill/>
        </p:spPr>
        <p:txBody>
          <a:bodyPr wrap="square" rtlCol="0">
            <a:spAutoFit/>
          </a:bodyPr>
          <a:lstStyle/>
          <a:p>
            <a:r>
              <a:rPr kumimoji="1" lang="en-US" altLang="ja-JP" b="1" dirty="0"/>
              <a:t>2.ID</a:t>
            </a:r>
            <a:r>
              <a:rPr kumimoji="1" lang="ja-JP" altLang="en-US" b="1" dirty="0"/>
              <a:t>継続率</a:t>
            </a:r>
            <a:r>
              <a:rPr kumimoji="1" lang="en-US" altLang="ja-JP" b="1" dirty="0"/>
              <a:t>(</a:t>
            </a:r>
            <a:r>
              <a:rPr kumimoji="1" lang="en-US" altLang="ja-JP" b="1" dirty="0" err="1"/>
              <a:t>IDconst</a:t>
            </a:r>
            <a:r>
              <a:rPr kumimoji="1" lang="en-US" altLang="ja-JP" b="1" dirty="0"/>
              <a:t>) </a:t>
            </a:r>
            <a:r>
              <a:rPr kumimoji="1" lang="en-US" altLang="ja-JP" dirty="0"/>
              <a:t>: </a:t>
            </a:r>
            <a:r>
              <a:rPr kumimoji="1" lang="ja-JP" altLang="en-US" dirty="0"/>
              <a:t>追跡した全軌跡に対して，</a:t>
            </a:r>
            <a:r>
              <a:rPr kumimoji="1" lang="en-US" altLang="ja-JP" dirty="0"/>
              <a:t>GT</a:t>
            </a:r>
            <a:r>
              <a:rPr kumimoji="1" lang="ja-JP" altLang="en-US" dirty="0"/>
              <a:t>の</a:t>
            </a:r>
            <a:r>
              <a:rPr kumimoji="1" lang="en-US" altLang="ja-JP" dirty="0"/>
              <a:t>ID</a:t>
            </a:r>
            <a:r>
              <a:rPr kumimoji="1" lang="ja-JP" altLang="en-US" dirty="0"/>
              <a:t>と，</a:t>
            </a:r>
            <a:endParaRPr kumimoji="1" lang="en-US" altLang="ja-JP" dirty="0"/>
          </a:p>
          <a:p>
            <a:r>
              <a:rPr kumimoji="1" lang="en-US" altLang="ja-JP" dirty="0"/>
              <a:t>					</a:t>
            </a:r>
            <a:r>
              <a:rPr kumimoji="1" lang="ja-JP" altLang="en-US" dirty="0"/>
              <a:t>　一定期間</a:t>
            </a:r>
            <a:r>
              <a:rPr kumimoji="1" lang="en-US" altLang="ja-JP" dirty="0"/>
              <a:t>(80%,95%,100%)</a:t>
            </a:r>
            <a:r>
              <a:rPr kumimoji="1" lang="ja-JP" altLang="en-US" dirty="0"/>
              <a:t>一致したものの割合</a:t>
            </a:r>
          </a:p>
        </p:txBody>
      </p:sp>
      <p:sp>
        <p:nvSpPr>
          <p:cNvPr id="8" name="テキスト ボックス 7">
            <a:extLst>
              <a:ext uri="{FF2B5EF4-FFF2-40B4-BE49-F238E27FC236}">
                <a16:creationId xmlns:a16="http://schemas.microsoft.com/office/drawing/2014/main" id="{95FA9DCC-137B-18C6-D5D8-DDC506EB8CC5}"/>
              </a:ext>
            </a:extLst>
          </p:cNvPr>
          <p:cNvSpPr txBox="1"/>
          <p:nvPr/>
        </p:nvSpPr>
        <p:spPr>
          <a:xfrm>
            <a:off x="434315" y="5573208"/>
            <a:ext cx="10078037" cy="646331"/>
          </a:xfrm>
          <a:prstGeom prst="rect">
            <a:avLst/>
          </a:prstGeom>
          <a:noFill/>
        </p:spPr>
        <p:txBody>
          <a:bodyPr wrap="square" rtlCol="0">
            <a:spAutoFit/>
          </a:bodyPr>
          <a:lstStyle/>
          <a:p>
            <a:r>
              <a:rPr kumimoji="1" lang="en-US" altLang="ja-JP" b="1" dirty="0"/>
              <a:t>3.</a:t>
            </a:r>
            <a:r>
              <a:rPr kumimoji="1" lang="ja-JP" altLang="en-US" b="1" dirty="0">
                <a:solidFill>
                  <a:srgbClr val="FF0000"/>
                </a:solidFill>
              </a:rPr>
              <a:t>再出現</a:t>
            </a:r>
            <a:r>
              <a:rPr kumimoji="1" lang="en-US" altLang="ja-JP" b="1" dirty="0">
                <a:solidFill>
                  <a:srgbClr val="FF0000"/>
                </a:solidFill>
              </a:rPr>
              <a:t>ID</a:t>
            </a:r>
            <a:r>
              <a:rPr kumimoji="1" lang="ja-JP" altLang="en-US" b="1" dirty="0">
                <a:solidFill>
                  <a:srgbClr val="FF0000"/>
                </a:solidFill>
              </a:rPr>
              <a:t>継続率</a:t>
            </a:r>
            <a:r>
              <a:rPr kumimoji="1" lang="en-US" altLang="ja-JP" b="1" dirty="0">
                <a:solidFill>
                  <a:srgbClr val="FF0000"/>
                </a:solidFill>
              </a:rPr>
              <a:t> </a:t>
            </a:r>
            <a:r>
              <a:rPr kumimoji="1" lang="en-US" altLang="ja-JP" dirty="0"/>
              <a:t>: </a:t>
            </a:r>
            <a:r>
              <a:rPr kumimoji="1" lang="ja-JP" altLang="en-US" dirty="0"/>
              <a:t>粒子が消失→再出現でマッチングした際の</a:t>
            </a:r>
            <a:r>
              <a:rPr kumimoji="1" lang="en-US" altLang="ja-JP" dirty="0"/>
              <a:t>GT</a:t>
            </a:r>
            <a:r>
              <a:rPr kumimoji="1" lang="ja-JP" altLang="en-US" dirty="0"/>
              <a:t>に対する正解率</a:t>
            </a:r>
            <a:endParaRPr kumimoji="1" lang="en-US" altLang="ja-JP" dirty="0"/>
          </a:p>
          <a:p>
            <a:r>
              <a:rPr kumimoji="1" lang="en-US" altLang="ja-JP" dirty="0"/>
              <a:t>                         </a:t>
            </a:r>
            <a:r>
              <a:rPr kumimoji="1" lang="ja-JP" altLang="en-US" dirty="0"/>
              <a:t>　</a:t>
            </a:r>
            <a:r>
              <a:rPr kumimoji="1" lang="en-US" altLang="ja-JP" dirty="0"/>
              <a:t>(</a:t>
            </a:r>
            <a:r>
              <a:rPr kumimoji="1" lang="ja-JP" altLang="en-US" dirty="0"/>
              <a:t>正解したリンク数</a:t>
            </a:r>
            <a:r>
              <a:rPr kumimoji="1" lang="en-US" altLang="ja-JP" dirty="0"/>
              <a:t>/GT</a:t>
            </a:r>
            <a:r>
              <a:rPr kumimoji="1" lang="ja-JP" altLang="en-US" dirty="0"/>
              <a:t>の消失→再出現パターン数</a:t>
            </a:r>
            <a:r>
              <a:rPr kumimoji="1" lang="en-US" altLang="ja-JP" dirty="0"/>
              <a:t>)</a:t>
            </a:r>
            <a:endParaRPr kumimoji="1" lang="ja-JP" altLang="en-US" dirty="0"/>
          </a:p>
        </p:txBody>
      </p:sp>
      <p:sp>
        <p:nvSpPr>
          <p:cNvPr id="11" name="矢印: 右 10">
            <a:extLst>
              <a:ext uri="{FF2B5EF4-FFF2-40B4-BE49-F238E27FC236}">
                <a16:creationId xmlns:a16="http://schemas.microsoft.com/office/drawing/2014/main" id="{E94DB5DA-2378-1474-8FA5-20F7E5373F13}"/>
              </a:ext>
            </a:extLst>
          </p:cNvPr>
          <p:cNvSpPr/>
          <p:nvPr/>
        </p:nvSpPr>
        <p:spPr>
          <a:xfrm>
            <a:off x="547054" y="6154602"/>
            <a:ext cx="1340285" cy="365046"/>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16970701-3C71-E11C-BDCC-200CA008CDA8}"/>
              </a:ext>
            </a:extLst>
          </p:cNvPr>
          <p:cNvSpPr txBox="1"/>
          <p:nvPr/>
        </p:nvSpPr>
        <p:spPr>
          <a:xfrm>
            <a:off x="2059014" y="6200752"/>
            <a:ext cx="7532683" cy="400110"/>
          </a:xfrm>
          <a:prstGeom prst="rect">
            <a:avLst/>
          </a:prstGeom>
          <a:noFill/>
          <a:ln>
            <a:noFill/>
          </a:ln>
        </p:spPr>
        <p:txBody>
          <a:bodyPr wrap="square">
            <a:spAutoFit/>
          </a:bodyPr>
          <a:lstStyle/>
          <a:p>
            <a:r>
              <a:rPr lang="ja-JP" altLang="en-US" sz="2000" dirty="0">
                <a:solidFill>
                  <a:schemeClr val="accent2"/>
                </a:solidFill>
              </a:rPr>
              <a:t>オクルージョンを起こした際の追跡性能を比較するため</a:t>
            </a:r>
          </a:p>
        </p:txBody>
      </p:sp>
    </p:spTree>
    <p:extLst>
      <p:ext uri="{BB962C8B-B14F-4D97-AF65-F5344CB8AC3E}">
        <p14:creationId xmlns:p14="http://schemas.microsoft.com/office/powerpoint/2010/main" val="1204120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1DA2A-3979-B94C-DB46-C899E2D588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19D6454-B12D-E2F1-CCB5-F00475A66DB6}"/>
              </a:ext>
            </a:extLst>
          </p:cNvPr>
          <p:cNvSpPr>
            <a:spLocks noGrp="1"/>
          </p:cNvSpPr>
          <p:nvPr>
            <p:ph type="title"/>
          </p:nvPr>
        </p:nvSpPr>
        <p:spPr/>
        <p:txBody>
          <a:bodyPr/>
          <a:lstStyle/>
          <a:p>
            <a:r>
              <a:rPr lang="ja-JP" altLang="en-US" dirty="0"/>
              <a:t>従来</a:t>
            </a:r>
            <a:r>
              <a:rPr kumimoji="1" lang="ja-JP" altLang="en-US" dirty="0"/>
              <a:t>法</a:t>
            </a:r>
            <a:r>
              <a:rPr kumimoji="1" lang="en-US" altLang="ja-JP" dirty="0"/>
              <a:t>(GPR</a:t>
            </a:r>
            <a:r>
              <a:rPr kumimoji="1" lang="ja-JP" altLang="en-US" dirty="0"/>
              <a:t>追跡</a:t>
            </a:r>
            <a:r>
              <a:rPr kumimoji="1"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C9849043-1399-86ED-8FE4-1161F4F7575F}"/>
              </a:ext>
            </a:extLst>
          </p:cNvPr>
          <p:cNvSpPr>
            <a:spLocks noGrp="1"/>
          </p:cNvSpPr>
          <p:nvPr>
            <p:ph type="sldNum" sz="quarter" idx="12"/>
          </p:nvPr>
        </p:nvSpPr>
        <p:spPr/>
        <p:txBody>
          <a:bodyPr/>
          <a:lstStyle/>
          <a:p>
            <a:fld id="{F4F93977-CC68-4F92-83A3-0276DC4D9982}" type="slidenum">
              <a:rPr kumimoji="1" lang="ja-JP" altLang="en-US" smtClean="0"/>
              <a:pPr/>
              <a:t>12</a:t>
            </a:fld>
            <a:endParaRPr kumimoji="1" lang="ja-JP" altLang="en-US"/>
          </a:p>
        </p:txBody>
      </p:sp>
      <p:sp>
        <p:nvSpPr>
          <p:cNvPr id="7" name="テキスト ボックス 6">
            <a:extLst>
              <a:ext uri="{FF2B5EF4-FFF2-40B4-BE49-F238E27FC236}">
                <a16:creationId xmlns:a16="http://schemas.microsoft.com/office/drawing/2014/main" id="{0152366B-04A8-973D-D46B-6617D85BFAE6}"/>
              </a:ext>
            </a:extLst>
          </p:cNvPr>
          <p:cNvSpPr txBox="1"/>
          <p:nvPr/>
        </p:nvSpPr>
        <p:spPr>
          <a:xfrm>
            <a:off x="652157" y="889812"/>
            <a:ext cx="2354317" cy="461665"/>
          </a:xfrm>
          <a:prstGeom prst="rect">
            <a:avLst/>
          </a:prstGeom>
          <a:noFill/>
        </p:spPr>
        <p:txBody>
          <a:bodyPr wrap="square" rtlCol="0">
            <a:spAutoFit/>
          </a:bodyPr>
          <a:lstStyle/>
          <a:p>
            <a:r>
              <a:rPr kumimoji="1" lang="ja-JP" altLang="en-US" sz="2400" dirty="0"/>
              <a:t>処理フロー</a:t>
            </a:r>
          </a:p>
        </p:txBody>
      </p:sp>
      <p:sp>
        <p:nvSpPr>
          <p:cNvPr id="6" name="正方形/長方形 5">
            <a:extLst>
              <a:ext uri="{FF2B5EF4-FFF2-40B4-BE49-F238E27FC236}">
                <a16:creationId xmlns:a16="http://schemas.microsoft.com/office/drawing/2014/main" id="{1673B29F-CFD8-BCC2-E143-9753D65B7DC3}"/>
              </a:ext>
            </a:extLst>
          </p:cNvPr>
          <p:cNvSpPr/>
          <p:nvPr/>
        </p:nvSpPr>
        <p:spPr>
          <a:xfrm>
            <a:off x="257473" y="2431763"/>
            <a:ext cx="2806626" cy="29893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F5118597-9D02-5516-D6C8-8C2D9438E5DF}"/>
              </a:ext>
            </a:extLst>
          </p:cNvPr>
          <p:cNvSpPr txBox="1"/>
          <p:nvPr/>
        </p:nvSpPr>
        <p:spPr>
          <a:xfrm>
            <a:off x="356859" y="2869822"/>
            <a:ext cx="2607417" cy="707886"/>
          </a:xfrm>
          <a:prstGeom prst="rect">
            <a:avLst/>
          </a:prstGeom>
          <a:noFill/>
        </p:spPr>
        <p:txBody>
          <a:bodyPr wrap="square" rtlCol="0">
            <a:spAutoFit/>
          </a:bodyPr>
          <a:lstStyle/>
          <a:p>
            <a:pPr algn="ctr"/>
            <a:r>
              <a:rPr kumimoji="1" lang="ja-JP" altLang="en-US" sz="2000" b="1">
                <a:solidFill>
                  <a:schemeClr val="bg1"/>
                </a:solidFill>
              </a:rPr>
              <a:t>粒子トラッキング</a:t>
            </a:r>
            <a:endParaRPr kumimoji="1" lang="en-US" altLang="ja-JP" sz="2000" b="1">
              <a:solidFill>
                <a:schemeClr val="bg1"/>
              </a:solidFill>
            </a:endParaRPr>
          </a:p>
          <a:p>
            <a:pPr algn="ctr"/>
            <a:r>
              <a:rPr kumimoji="1" lang="ja-JP" altLang="en-US" sz="2000" b="1">
                <a:solidFill>
                  <a:schemeClr val="bg1"/>
                </a:solidFill>
              </a:rPr>
              <a:t>前処理</a:t>
            </a:r>
            <a:endParaRPr kumimoji="1" lang="en-US" altLang="ja-JP" sz="2000" b="1">
              <a:solidFill>
                <a:schemeClr val="bg1"/>
              </a:solidFill>
            </a:endParaRPr>
          </a:p>
        </p:txBody>
      </p:sp>
      <p:sp>
        <p:nvSpPr>
          <p:cNvPr id="17" name="正方形/長方形 16">
            <a:extLst>
              <a:ext uri="{FF2B5EF4-FFF2-40B4-BE49-F238E27FC236}">
                <a16:creationId xmlns:a16="http://schemas.microsoft.com/office/drawing/2014/main" id="{E3A5956D-1BCE-07C6-8C76-46F448FBC9F0}"/>
              </a:ext>
            </a:extLst>
          </p:cNvPr>
          <p:cNvSpPr/>
          <p:nvPr/>
        </p:nvSpPr>
        <p:spPr>
          <a:xfrm>
            <a:off x="3064100" y="2431764"/>
            <a:ext cx="2995078" cy="29893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C01CBAB7-1CEC-DB6B-DD5D-B719672C267A}"/>
              </a:ext>
            </a:extLst>
          </p:cNvPr>
          <p:cNvSpPr txBox="1"/>
          <p:nvPr/>
        </p:nvSpPr>
        <p:spPr>
          <a:xfrm>
            <a:off x="3087784" y="2880654"/>
            <a:ext cx="2869900" cy="707886"/>
          </a:xfrm>
          <a:prstGeom prst="rect">
            <a:avLst/>
          </a:prstGeom>
          <a:noFill/>
        </p:spPr>
        <p:txBody>
          <a:bodyPr wrap="square" rtlCol="0">
            <a:spAutoFit/>
          </a:bodyPr>
          <a:lstStyle/>
          <a:p>
            <a:pPr algn="ctr"/>
            <a:r>
              <a:rPr kumimoji="1" lang="ja-JP" altLang="en-US" sz="2000" b="1">
                <a:solidFill>
                  <a:schemeClr val="bg1"/>
                </a:solidFill>
              </a:rPr>
              <a:t>ガウス過程回帰</a:t>
            </a:r>
            <a:r>
              <a:rPr kumimoji="1" lang="en-US" altLang="ja-JP" sz="2000" b="1">
                <a:solidFill>
                  <a:schemeClr val="bg1"/>
                </a:solidFill>
              </a:rPr>
              <a:t>(GPR)</a:t>
            </a:r>
            <a:r>
              <a:rPr kumimoji="1" lang="ja-JP" altLang="en-US" sz="2000" b="1">
                <a:solidFill>
                  <a:schemeClr val="bg1"/>
                </a:solidFill>
              </a:rPr>
              <a:t>による速度場推定</a:t>
            </a:r>
            <a:endParaRPr kumimoji="1" lang="en-US" altLang="ja-JP" sz="2000" b="1">
              <a:solidFill>
                <a:schemeClr val="bg1"/>
              </a:solidFill>
            </a:endParaRPr>
          </a:p>
        </p:txBody>
      </p:sp>
      <p:sp>
        <p:nvSpPr>
          <p:cNvPr id="18" name="正方形/長方形 17">
            <a:extLst>
              <a:ext uri="{FF2B5EF4-FFF2-40B4-BE49-F238E27FC236}">
                <a16:creationId xmlns:a16="http://schemas.microsoft.com/office/drawing/2014/main" id="{E1A463EC-420B-E17B-89CD-DB2EFDE45A74}"/>
              </a:ext>
            </a:extLst>
          </p:cNvPr>
          <p:cNvSpPr/>
          <p:nvPr/>
        </p:nvSpPr>
        <p:spPr>
          <a:xfrm>
            <a:off x="6059178" y="2431763"/>
            <a:ext cx="2842028" cy="298939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7E6B9C66-F241-7B5C-6E07-F05C8046A5DD}"/>
              </a:ext>
            </a:extLst>
          </p:cNvPr>
          <p:cNvSpPr txBox="1"/>
          <p:nvPr/>
        </p:nvSpPr>
        <p:spPr>
          <a:xfrm>
            <a:off x="6242476" y="2976512"/>
            <a:ext cx="3305503" cy="400110"/>
          </a:xfrm>
          <a:prstGeom prst="rect">
            <a:avLst/>
          </a:prstGeom>
          <a:noFill/>
        </p:spPr>
        <p:txBody>
          <a:bodyPr wrap="square" rtlCol="0">
            <a:spAutoFit/>
          </a:bodyPr>
          <a:lstStyle/>
          <a:p>
            <a:r>
              <a:rPr kumimoji="1" lang="en-US" altLang="ja-JP" sz="2000" b="1" dirty="0">
                <a:solidFill>
                  <a:schemeClr val="bg1"/>
                </a:solidFill>
              </a:rPr>
              <a:t>GPR+</a:t>
            </a:r>
            <a:r>
              <a:rPr kumimoji="1" lang="ja-JP" altLang="en-US" sz="2000" b="1" dirty="0">
                <a:solidFill>
                  <a:schemeClr val="bg1"/>
                </a:solidFill>
              </a:rPr>
              <a:t>時系列再構成</a:t>
            </a:r>
            <a:endParaRPr kumimoji="1" lang="en-US" altLang="ja-JP" sz="2000" b="1" dirty="0">
              <a:solidFill>
                <a:schemeClr val="bg1"/>
              </a:solidFill>
            </a:endParaRPr>
          </a:p>
        </p:txBody>
      </p:sp>
      <p:sp>
        <p:nvSpPr>
          <p:cNvPr id="20" name="テキスト ボックス 19">
            <a:extLst>
              <a:ext uri="{FF2B5EF4-FFF2-40B4-BE49-F238E27FC236}">
                <a16:creationId xmlns:a16="http://schemas.microsoft.com/office/drawing/2014/main" id="{F9D3CD9E-CE5B-B322-DC72-9FB4C08DC07A}"/>
              </a:ext>
            </a:extLst>
          </p:cNvPr>
          <p:cNvSpPr txBox="1"/>
          <p:nvPr/>
        </p:nvSpPr>
        <p:spPr>
          <a:xfrm>
            <a:off x="1007606" y="1877243"/>
            <a:ext cx="1433413" cy="646331"/>
          </a:xfrm>
          <a:prstGeom prst="rect">
            <a:avLst/>
          </a:prstGeom>
          <a:noFill/>
        </p:spPr>
        <p:txBody>
          <a:bodyPr wrap="square" rtlCol="0">
            <a:spAutoFit/>
          </a:bodyPr>
          <a:lstStyle/>
          <a:p>
            <a:r>
              <a:rPr kumimoji="1" lang="en-US" altLang="ja-JP" sz="2400" b="1">
                <a:solidFill>
                  <a:schemeClr val="accent1">
                    <a:lumMod val="60000"/>
                    <a:lumOff val="40000"/>
                  </a:schemeClr>
                </a:solidFill>
              </a:rPr>
              <a:t>STEP </a:t>
            </a:r>
            <a:r>
              <a:rPr kumimoji="1" lang="en-US" altLang="ja-JP" sz="3600" b="1">
                <a:solidFill>
                  <a:schemeClr val="accent1">
                    <a:lumMod val="60000"/>
                    <a:lumOff val="40000"/>
                  </a:schemeClr>
                </a:solidFill>
              </a:rPr>
              <a:t>1</a:t>
            </a:r>
            <a:endParaRPr kumimoji="1" lang="ja-JP" altLang="en-US" sz="2400" b="1">
              <a:solidFill>
                <a:schemeClr val="accent1">
                  <a:lumMod val="60000"/>
                  <a:lumOff val="40000"/>
                </a:schemeClr>
              </a:solidFill>
            </a:endParaRPr>
          </a:p>
        </p:txBody>
      </p:sp>
      <p:sp>
        <p:nvSpPr>
          <p:cNvPr id="23" name="テキスト ボックス 22">
            <a:extLst>
              <a:ext uri="{FF2B5EF4-FFF2-40B4-BE49-F238E27FC236}">
                <a16:creationId xmlns:a16="http://schemas.microsoft.com/office/drawing/2014/main" id="{5247B14C-8B2D-B6A7-940E-87A019BEA4EA}"/>
              </a:ext>
            </a:extLst>
          </p:cNvPr>
          <p:cNvSpPr txBox="1"/>
          <p:nvPr/>
        </p:nvSpPr>
        <p:spPr>
          <a:xfrm>
            <a:off x="3796547" y="1877242"/>
            <a:ext cx="1433413" cy="646331"/>
          </a:xfrm>
          <a:prstGeom prst="rect">
            <a:avLst/>
          </a:prstGeom>
          <a:noFill/>
        </p:spPr>
        <p:txBody>
          <a:bodyPr wrap="square" rtlCol="0">
            <a:spAutoFit/>
          </a:bodyPr>
          <a:lstStyle/>
          <a:p>
            <a:r>
              <a:rPr kumimoji="1" lang="en-US" altLang="ja-JP" sz="2400" b="1">
                <a:solidFill>
                  <a:schemeClr val="tx2">
                    <a:lumMod val="50000"/>
                    <a:lumOff val="50000"/>
                  </a:schemeClr>
                </a:solidFill>
              </a:rPr>
              <a:t>STEP </a:t>
            </a:r>
            <a:r>
              <a:rPr kumimoji="1" lang="en-US" altLang="ja-JP" sz="3600" b="1">
                <a:solidFill>
                  <a:schemeClr val="tx2">
                    <a:lumMod val="50000"/>
                    <a:lumOff val="50000"/>
                  </a:schemeClr>
                </a:solidFill>
              </a:rPr>
              <a:t>2</a:t>
            </a:r>
            <a:endParaRPr kumimoji="1" lang="ja-JP" altLang="en-US" sz="2400" b="1">
              <a:solidFill>
                <a:schemeClr val="tx2">
                  <a:lumMod val="50000"/>
                  <a:lumOff val="50000"/>
                </a:schemeClr>
              </a:solidFill>
            </a:endParaRPr>
          </a:p>
        </p:txBody>
      </p:sp>
      <p:sp>
        <p:nvSpPr>
          <p:cNvPr id="24" name="テキスト ボックス 23">
            <a:extLst>
              <a:ext uri="{FF2B5EF4-FFF2-40B4-BE49-F238E27FC236}">
                <a16:creationId xmlns:a16="http://schemas.microsoft.com/office/drawing/2014/main" id="{D91ADBEE-EA8D-EF14-A35C-04626D47F52E}"/>
              </a:ext>
            </a:extLst>
          </p:cNvPr>
          <p:cNvSpPr txBox="1"/>
          <p:nvPr/>
        </p:nvSpPr>
        <p:spPr>
          <a:xfrm>
            <a:off x="6806273" y="1877241"/>
            <a:ext cx="1433413" cy="646331"/>
          </a:xfrm>
          <a:prstGeom prst="rect">
            <a:avLst/>
          </a:prstGeom>
          <a:noFill/>
        </p:spPr>
        <p:txBody>
          <a:bodyPr wrap="square" rtlCol="0">
            <a:spAutoFit/>
          </a:bodyPr>
          <a:lstStyle/>
          <a:p>
            <a:r>
              <a:rPr kumimoji="1" lang="en-US" altLang="ja-JP" sz="2400" b="1">
                <a:solidFill>
                  <a:schemeClr val="accent1"/>
                </a:solidFill>
              </a:rPr>
              <a:t>STEP </a:t>
            </a:r>
            <a:r>
              <a:rPr kumimoji="1" lang="en-US" altLang="ja-JP" sz="3600" b="1">
                <a:solidFill>
                  <a:schemeClr val="accent1"/>
                </a:solidFill>
              </a:rPr>
              <a:t>3</a:t>
            </a:r>
            <a:endParaRPr kumimoji="1" lang="ja-JP" altLang="en-US" sz="2400" b="1">
              <a:solidFill>
                <a:schemeClr val="accent1"/>
              </a:solidFill>
            </a:endParaRPr>
          </a:p>
        </p:txBody>
      </p:sp>
      <p:sp>
        <p:nvSpPr>
          <p:cNvPr id="25" name="テキスト ボックス 24">
            <a:extLst>
              <a:ext uri="{FF2B5EF4-FFF2-40B4-BE49-F238E27FC236}">
                <a16:creationId xmlns:a16="http://schemas.microsoft.com/office/drawing/2014/main" id="{34368949-4912-B1B8-9983-A7A009E0B2EB}"/>
              </a:ext>
            </a:extLst>
          </p:cNvPr>
          <p:cNvSpPr txBox="1"/>
          <p:nvPr/>
        </p:nvSpPr>
        <p:spPr>
          <a:xfrm>
            <a:off x="331690" y="3942746"/>
            <a:ext cx="2685281" cy="1200329"/>
          </a:xfrm>
          <a:prstGeom prst="rect">
            <a:avLst/>
          </a:prstGeom>
          <a:noFill/>
        </p:spPr>
        <p:txBody>
          <a:bodyPr wrap="square" rtlCol="0">
            <a:spAutoFit/>
          </a:bodyPr>
          <a:lstStyle/>
          <a:p>
            <a:r>
              <a:rPr kumimoji="1" lang="ja-JP" altLang="en-US" dirty="0">
                <a:solidFill>
                  <a:schemeClr val="bg1"/>
                </a:solidFill>
              </a:rPr>
              <a:t>・粒子検出</a:t>
            </a:r>
            <a:r>
              <a:rPr kumimoji="1" lang="en-US" altLang="ja-JP" dirty="0">
                <a:solidFill>
                  <a:schemeClr val="bg1"/>
                </a:solidFill>
              </a:rPr>
              <a:t>(</a:t>
            </a:r>
            <a:r>
              <a:rPr kumimoji="1" lang="en-US" altLang="ja-JP" dirty="0" err="1">
                <a:solidFill>
                  <a:schemeClr val="bg1"/>
                </a:solidFill>
              </a:rPr>
              <a:t>StarDist</a:t>
            </a:r>
            <a:r>
              <a:rPr kumimoji="1" lang="en-US" altLang="ja-JP" dirty="0">
                <a:solidFill>
                  <a:schemeClr val="bg1"/>
                </a:solidFill>
              </a:rPr>
              <a:t>)</a:t>
            </a:r>
          </a:p>
          <a:p>
            <a:r>
              <a:rPr kumimoji="1" lang="ja-JP" altLang="en-US" dirty="0">
                <a:solidFill>
                  <a:schemeClr val="bg1"/>
                </a:solidFill>
              </a:rPr>
              <a:t>・粒子追跡</a:t>
            </a:r>
            <a:endParaRPr kumimoji="1" lang="en-US" altLang="ja-JP" dirty="0">
              <a:solidFill>
                <a:schemeClr val="bg1"/>
              </a:solidFill>
            </a:endParaRPr>
          </a:p>
          <a:p>
            <a:r>
              <a:rPr kumimoji="1" lang="ja-JP" altLang="en-US" dirty="0">
                <a:solidFill>
                  <a:schemeClr val="bg1"/>
                </a:solidFill>
              </a:rPr>
              <a:t>　</a:t>
            </a:r>
            <a:r>
              <a:rPr kumimoji="1" lang="en-US" altLang="ja-JP" dirty="0">
                <a:solidFill>
                  <a:schemeClr val="bg1"/>
                </a:solidFill>
              </a:rPr>
              <a:t>(</a:t>
            </a:r>
            <a:r>
              <a:rPr kumimoji="1" lang="ja-JP" altLang="en-US" dirty="0">
                <a:solidFill>
                  <a:schemeClr val="bg1"/>
                </a:solidFill>
              </a:rPr>
              <a:t>線形予測</a:t>
            </a:r>
            <a:r>
              <a:rPr kumimoji="1" lang="en-US" altLang="ja-JP" dirty="0">
                <a:solidFill>
                  <a:schemeClr val="bg1"/>
                </a:solidFill>
              </a:rPr>
              <a:t>+</a:t>
            </a:r>
            <a:r>
              <a:rPr kumimoji="1" lang="ja-JP" altLang="en-US" dirty="0">
                <a:solidFill>
                  <a:schemeClr val="bg1"/>
                </a:solidFill>
              </a:rPr>
              <a:t>近傍探索</a:t>
            </a:r>
            <a:r>
              <a:rPr kumimoji="1" lang="en-US" altLang="ja-JP" dirty="0">
                <a:solidFill>
                  <a:schemeClr val="bg1"/>
                </a:solidFill>
              </a:rPr>
              <a:t>)</a:t>
            </a:r>
          </a:p>
          <a:p>
            <a:r>
              <a:rPr kumimoji="1" lang="ja-JP" altLang="en-US" dirty="0">
                <a:solidFill>
                  <a:schemeClr val="bg1"/>
                </a:solidFill>
              </a:rPr>
              <a:t>・フラグメント生成</a:t>
            </a:r>
            <a:endParaRPr kumimoji="1" lang="en-US" altLang="ja-JP" sz="2000" dirty="0">
              <a:solidFill>
                <a:schemeClr val="bg1"/>
              </a:solidFill>
            </a:endParaRPr>
          </a:p>
        </p:txBody>
      </p:sp>
      <p:cxnSp>
        <p:nvCxnSpPr>
          <p:cNvPr id="27" name="直線コネクタ 26">
            <a:extLst>
              <a:ext uri="{FF2B5EF4-FFF2-40B4-BE49-F238E27FC236}">
                <a16:creationId xmlns:a16="http://schemas.microsoft.com/office/drawing/2014/main" id="{2EF8F146-EA4A-C818-487E-61E43FF04BCD}"/>
              </a:ext>
            </a:extLst>
          </p:cNvPr>
          <p:cNvCxnSpPr/>
          <p:nvPr/>
        </p:nvCxnSpPr>
        <p:spPr>
          <a:xfrm>
            <a:off x="652157" y="3680362"/>
            <a:ext cx="210628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8DDC4B07-D5D2-3C45-D5DC-EFE6B57858D2}"/>
              </a:ext>
            </a:extLst>
          </p:cNvPr>
          <p:cNvSpPr txBox="1"/>
          <p:nvPr/>
        </p:nvSpPr>
        <p:spPr>
          <a:xfrm>
            <a:off x="3179309" y="4037429"/>
            <a:ext cx="2869900" cy="888705"/>
          </a:xfrm>
          <a:prstGeom prst="rect">
            <a:avLst/>
          </a:prstGeom>
          <a:noFill/>
        </p:spPr>
        <p:txBody>
          <a:bodyPr wrap="square" rtlCol="0">
            <a:spAutoFit/>
          </a:bodyPr>
          <a:lstStyle/>
          <a:p>
            <a:pPr>
              <a:lnSpc>
                <a:spcPct val="150000"/>
              </a:lnSpc>
            </a:pPr>
            <a:r>
              <a:rPr kumimoji="1" lang="ja-JP" altLang="en-US">
                <a:solidFill>
                  <a:schemeClr val="bg1"/>
                </a:solidFill>
              </a:rPr>
              <a:t>・</a:t>
            </a:r>
            <a:r>
              <a:rPr kumimoji="1" lang="en-US" altLang="ja-JP">
                <a:solidFill>
                  <a:schemeClr val="bg1"/>
                </a:solidFill>
              </a:rPr>
              <a:t>GPR</a:t>
            </a:r>
            <a:r>
              <a:rPr kumimoji="1" lang="ja-JP" altLang="en-US">
                <a:solidFill>
                  <a:schemeClr val="bg1"/>
                </a:solidFill>
              </a:rPr>
              <a:t>による学習</a:t>
            </a:r>
            <a:endParaRPr kumimoji="1" lang="en-US" altLang="ja-JP">
              <a:solidFill>
                <a:schemeClr val="bg1"/>
              </a:solidFill>
            </a:endParaRPr>
          </a:p>
          <a:p>
            <a:pPr>
              <a:lnSpc>
                <a:spcPct val="150000"/>
              </a:lnSpc>
            </a:pPr>
            <a:r>
              <a:rPr kumimoji="1" lang="ja-JP" altLang="en-US">
                <a:solidFill>
                  <a:schemeClr val="bg1"/>
                </a:solidFill>
              </a:rPr>
              <a:t>・連続的な速度場推定</a:t>
            </a:r>
          </a:p>
        </p:txBody>
      </p:sp>
      <p:cxnSp>
        <p:nvCxnSpPr>
          <p:cNvPr id="29" name="直線コネクタ 28">
            <a:extLst>
              <a:ext uri="{FF2B5EF4-FFF2-40B4-BE49-F238E27FC236}">
                <a16:creationId xmlns:a16="http://schemas.microsoft.com/office/drawing/2014/main" id="{ED37FA1B-E13B-1C70-BEF6-E6514803062E}"/>
              </a:ext>
            </a:extLst>
          </p:cNvPr>
          <p:cNvCxnSpPr/>
          <p:nvPr/>
        </p:nvCxnSpPr>
        <p:spPr>
          <a:xfrm>
            <a:off x="3458313" y="3680362"/>
            <a:ext cx="210628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0" name="テキスト ボックス 29">
            <a:extLst>
              <a:ext uri="{FF2B5EF4-FFF2-40B4-BE49-F238E27FC236}">
                <a16:creationId xmlns:a16="http://schemas.microsoft.com/office/drawing/2014/main" id="{F727857D-4732-E16F-AAD4-7502F09098C3}"/>
              </a:ext>
            </a:extLst>
          </p:cNvPr>
          <p:cNvSpPr txBox="1"/>
          <p:nvPr/>
        </p:nvSpPr>
        <p:spPr>
          <a:xfrm>
            <a:off x="6242476" y="4018792"/>
            <a:ext cx="3305503" cy="1231106"/>
          </a:xfrm>
          <a:prstGeom prst="rect">
            <a:avLst/>
          </a:prstGeom>
          <a:noFill/>
        </p:spPr>
        <p:txBody>
          <a:bodyPr wrap="square" rtlCol="0">
            <a:spAutoFit/>
          </a:bodyPr>
          <a:lstStyle/>
          <a:p>
            <a:r>
              <a:rPr kumimoji="1" lang="ja-JP" altLang="en-US">
                <a:solidFill>
                  <a:schemeClr val="bg1"/>
                </a:solidFill>
              </a:rPr>
              <a:t>・</a:t>
            </a:r>
            <a:r>
              <a:rPr kumimoji="1" lang="en-US" altLang="ja-JP">
                <a:solidFill>
                  <a:schemeClr val="bg1"/>
                </a:solidFill>
              </a:rPr>
              <a:t>GPR</a:t>
            </a:r>
            <a:r>
              <a:rPr kumimoji="1" lang="ja-JP" altLang="en-US">
                <a:solidFill>
                  <a:schemeClr val="bg1"/>
                </a:solidFill>
              </a:rPr>
              <a:t>による位置予測</a:t>
            </a:r>
            <a:endParaRPr kumimoji="1" lang="en-US" altLang="ja-JP">
              <a:solidFill>
                <a:schemeClr val="bg1"/>
              </a:solidFill>
            </a:endParaRPr>
          </a:p>
          <a:p>
            <a:r>
              <a:rPr kumimoji="1" lang="ja-JP" altLang="en-US">
                <a:solidFill>
                  <a:schemeClr val="bg1"/>
                </a:solidFill>
              </a:rPr>
              <a:t>・不確かさに応じた</a:t>
            </a:r>
            <a:endParaRPr kumimoji="1" lang="en-US" altLang="ja-JP">
              <a:solidFill>
                <a:schemeClr val="bg1"/>
              </a:solidFill>
            </a:endParaRPr>
          </a:p>
          <a:p>
            <a:r>
              <a:rPr kumimoji="1" lang="ja-JP" altLang="en-US">
                <a:solidFill>
                  <a:schemeClr val="bg1"/>
                </a:solidFill>
              </a:rPr>
              <a:t>　動的調整</a:t>
            </a:r>
            <a:endParaRPr kumimoji="1" lang="en-US" altLang="ja-JP">
              <a:solidFill>
                <a:schemeClr val="bg1"/>
              </a:solidFill>
            </a:endParaRPr>
          </a:p>
          <a:p>
            <a:r>
              <a:rPr kumimoji="1" lang="ja-JP" altLang="en-US">
                <a:solidFill>
                  <a:schemeClr val="bg1"/>
                </a:solidFill>
              </a:rPr>
              <a:t>・イベント分類</a:t>
            </a:r>
          </a:p>
        </p:txBody>
      </p:sp>
      <p:cxnSp>
        <p:nvCxnSpPr>
          <p:cNvPr id="31" name="直線コネクタ 30">
            <a:extLst>
              <a:ext uri="{FF2B5EF4-FFF2-40B4-BE49-F238E27FC236}">
                <a16:creationId xmlns:a16="http://schemas.microsoft.com/office/drawing/2014/main" id="{A62E6E55-A716-1547-A597-7E5995A14164}"/>
              </a:ext>
            </a:extLst>
          </p:cNvPr>
          <p:cNvCxnSpPr/>
          <p:nvPr/>
        </p:nvCxnSpPr>
        <p:spPr>
          <a:xfrm>
            <a:off x="6469837" y="3680362"/>
            <a:ext cx="210628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3" name="三角形 32">
            <a:extLst>
              <a:ext uri="{FF2B5EF4-FFF2-40B4-BE49-F238E27FC236}">
                <a16:creationId xmlns:a16="http://schemas.microsoft.com/office/drawing/2014/main" id="{2B4DD07D-7AB8-F13A-1D3B-1285851EEC33}"/>
              </a:ext>
            </a:extLst>
          </p:cNvPr>
          <p:cNvSpPr/>
          <p:nvPr/>
        </p:nvSpPr>
        <p:spPr>
          <a:xfrm rot="5400000">
            <a:off x="2726268" y="3691266"/>
            <a:ext cx="811823" cy="416625"/>
          </a:xfrm>
          <a:prstGeom prs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三角形 33">
            <a:extLst>
              <a:ext uri="{FF2B5EF4-FFF2-40B4-BE49-F238E27FC236}">
                <a16:creationId xmlns:a16="http://schemas.microsoft.com/office/drawing/2014/main" id="{696C0471-7F75-E4D9-C631-372A3C6930F6}"/>
              </a:ext>
            </a:extLst>
          </p:cNvPr>
          <p:cNvSpPr/>
          <p:nvPr/>
        </p:nvSpPr>
        <p:spPr>
          <a:xfrm rot="5400000">
            <a:off x="5735070" y="3690493"/>
            <a:ext cx="811823" cy="416625"/>
          </a:xfrm>
          <a:prstGeom prst="triangl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BD7D8989-2989-C50B-6C7C-90282D3217CD}"/>
              </a:ext>
            </a:extLst>
          </p:cNvPr>
          <p:cNvCxnSpPr>
            <a:cxnSpLocks/>
            <a:stCxn id="6" idx="2"/>
          </p:cNvCxnSpPr>
          <p:nvPr/>
        </p:nvCxnSpPr>
        <p:spPr>
          <a:xfrm>
            <a:off x="1660786" y="5421158"/>
            <a:ext cx="3422" cy="531586"/>
          </a:xfrm>
          <a:prstGeom prst="line">
            <a:avLst/>
          </a:prstGeom>
          <a:ln w="381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9EF001FA-E24B-4040-3EF3-2960C4E71873}"/>
              </a:ext>
            </a:extLst>
          </p:cNvPr>
          <p:cNvCxnSpPr>
            <a:cxnSpLocks/>
          </p:cNvCxnSpPr>
          <p:nvPr/>
        </p:nvCxnSpPr>
        <p:spPr>
          <a:xfrm>
            <a:off x="1660786" y="5952744"/>
            <a:ext cx="2801486" cy="0"/>
          </a:xfrm>
          <a:prstGeom prst="line">
            <a:avLst/>
          </a:prstGeom>
          <a:ln w="381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32" name="直線矢印コネクタ 31">
            <a:extLst>
              <a:ext uri="{FF2B5EF4-FFF2-40B4-BE49-F238E27FC236}">
                <a16:creationId xmlns:a16="http://schemas.microsoft.com/office/drawing/2014/main" id="{9A609D97-21E8-A516-5BD7-F7DFE5FFABDD}"/>
              </a:ext>
            </a:extLst>
          </p:cNvPr>
          <p:cNvCxnSpPr/>
          <p:nvPr/>
        </p:nvCxnSpPr>
        <p:spPr>
          <a:xfrm flipV="1">
            <a:off x="4462272" y="5421158"/>
            <a:ext cx="0" cy="531586"/>
          </a:xfrm>
          <a:prstGeom prst="straightConnector1">
            <a:avLst/>
          </a:prstGeom>
          <a:ln w="3810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5" name="テキスト ボックス 34">
            <a:extLst>
              <a:ext uri="{FF2B5EF4-FFF2-40B4-BE49-F238E27FC236}">
                <a16:creationId xmlns:a16="http://schemas.microsoft.com/office/drawing/2014/main" id="{B524A3FD-9B5D-6439-AA72-7D207A237E74}"/>
              </a:ext>
            </a:extLst>
          </p:cNvPr>
          <p:cNvSpPr txBox="1"/>
          <p:nvPr/>
        </p:nvSpPr>
        <p:spPr>
          <a:xfrm>
            <a:off x="2420276" y="5768078"/>
            <a:ext cx="1335016" cy="369332"/>
          </a:xfrm>
          <a:prstGeom prst="rect">
            <a:avLst/>
          </a:prstGeom>
          <a:solidFill>
            <a:schemeClr val="accent1">
              <a:lumMod val="40000"/>
              <a:lumOff val="60000"/>
            </a:schemeClr>
          </a:solidFill>
          <a:ln w="19050">
            <a:solidFill>
              <a:schemeClr val="accent1">
                <a:lumMod val="40000"/>
                <a:lumOff val="60000"/>
              </a:schemeClr>
            </a:solidFill>
          </a:ln>
        </p:spPr>
        <p:txBody>
          <a:bodyPr wrap="square" rtlCol="0">
            <a:spAutoFit/>
          </a:bodyPr>
          <a:lstStyle/>
          <a:p>
            <a:r>
              <a:rPr kumimoji="1" lang="ja-JP" altLang="en-US"/>
              <a:t>速度データ</a:t>
            </a:r>
          </a:p>
        </p:txBody>
      </p:sp>
      <p:cxnSp>
        <p:nvCxnSpPr>
          <p:cNvPr id="36" name="直線コネクタ 35">
            <a:extLst>
              <a:ext uri="{FF2B5EF4-FFF2-40B4-BE49-F238E27FC236}">
                <a16:creationId xmlns:a16="http://schemas.microsoft.com/office/drawing/2014/main" id="{90B50795-F469-E33C-53D3-29B03DF1E632}"/>
              </a:ext>
            </a:extLst>
          </p:cNvPr>
          <p:cNvCxnSpPr>
            <a:cxnSpLocks/>
          </p:cNvCxnSpPr>
          <p:nvPr/>
        </p:nvCxnSpPr>
        <p:spPr>
          <a:xfrm>
            <a:off x="4887804" y="5434107"/>
            <a:ext cx="3422" cy="531586"/>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1961D6A4-8954-D18C-1B97-D83FAF75991D}"/>
              </a:ext>
            </a:extLst>
          </p:cNvPr>
          <p:cNvCxnSpPr>
            <a:cxnSpLocks/>
          </p:cNvCxnSpPr>
          <p:nvPr/>
        </p:nvCxnSpPr>
        <p:spPr>
          <a:xfrm>
            <a:off x="4887804" y="5965693"/>
            <a:ext cx="2801486" cy="0"/>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8" name="直線矢印コネクタ 37">
            <a:extLst>
              <a:ext uri="{FF2B5EF4-FFF2-40B4-BE49-F238E27FC236}">
                <a16:creationId xmlns:a16="http://schemas.microsoft.com/office/drawing/2014/main" id="{328B42BD-2742-F4FB-4308-724633B28FAB}"/>
              </a:ext>
            </a:extLst>
          </p:cNvPr>
          <p:cNvCxnSpPr/>
          <p:nvPr/>
        </p:nvCxnSpPr>
        <p:spPr>
          <a:xfrm flipV="1">
            <a:off x="7689290" y="5434107"/>
            <a:ext cx="0" cy="531586"/>
          </a:xfrm>
          <a:prstGeom prst="straightConnector1">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9" name="テキスト ボックス 38">
            <a:extLst>
              <a:ext uri="{FF2B5EF4-FFF2-40B4-BE49-F238E27FC236}">
                <a16:creationId xmlns:a16="http://schemas.microsoft.com/office/drawing/2014/main" id="{AC07330E-1836-FEC1-B63E-84E381E429D1}"/>
              </a:ext>
            </a:extLst>
          </p:cNvPr>
          <p:cNvSpPr txBox="1"/>
          <p:nvPr/>
        </p:nvSpPr>
        <p:spPr>
          <a:xfrm>
            <a:off x="5681705" y="5793976"/>
            <a:ext cx="1124568" cy="369332"/>
          </a:xfrm>
          <a:prstGeom prst="rect">
            <a:avLst/>
          </a:prstGeom>
          <a:solidFill>
            <a:schemeClr val="tx2">
              <a:lumMod val="50000"/>
              <a:lumOff val="50000"/>
            </a:schemeClr>
          </a:solidFill>
          <a:ln w="19050">
            <a:noFill/>
          </a:ln>
        </p:spPr>
        <p:txBody>
          <a:bodyPr wrap="square" rtlCol="0">
            <a:spAutoFit/>
          </a:bodyPr>
          <a:lstStyle/>
          <a:p>
            <a:r>
              <a:rPr kumimoji="1" lang="en-US" altLang="ja-JP"/>
              <a:t>GPR</a:t>
            </a:r>
            <a:r>
              <a:rPr kumimoji="1" lang="ja-JP" altLang="en-US"/>
              <a:t>出力</a:t>
            </a:r>
          </a:p>
        </p:txBody>
      </p:sp>
      <p:cxnSp>
        <p:nvCxnSpPr>
          <p:cNvPr id="40" name="直線コネクタ 39">
            <a:extLst>
              <a:ext uri="{FF2B5EF4-FFF2-40B4-BE49-F238E27FC236}">
                <a16:creationId xmlns:a16="http://schemas.microsoft.com/office/drawing/2014/main" id="{B01488CA-64B2-FAEF-393F-E27EB7ADE6F7}"/>
              </a:ext>
            </a:extLst>
          </p:cNvPr>
          <p:cNvCxnSpPr>
            <a:cxnSpLocks/>
          </p:cNvCxnSpPr>
          <p:nvPr/>
        </p:nvCxnSpPr>
        <p:spPr>
          <a:xfrm>
            <a:off x="2698438" y="1423145"/>
            <a:ext cx="0" cy="1010409"/>
          </a:xfrm>
          <a:prstGeom prst="line">
            <a:avLst/>
          </a:prstGeom>
          <a:ln w="381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BFBA330A-AD9E-05B1-FC56-645145AF910E}"/>
              </a:ext>
            </a:extLst>
          </p:cNvPr>
          <p:cNvCxnSpPr>
            <a:cxnSpLocks/>
          </p:cNvCxnSpPr>
          <p:nvPr/>
        </p:nvCxnSpPr>
        <p:spPr>
          <a:xfrm flipV="1">
            <a:off x="2684315" y="1416837"/>
            <a:ext cx="3664979" cy="18923"/>
          </a:xfrm>
          <a:prstGeom prst="line">
            <a:avLst/>
          </a:prstGeom>
          <a:ln w="381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42" name="直線矢印コネクタ 41">
            <a:extLst>
              <a:ext uri="{FF2B5EF4-FFF2-40B4-BE49-F238E27FC236}">
                <a16:creationId xmlns:a16="http://schemas.microsoft.com/office/drawing/2014/main" id="{C5B51718-5C4D-3A7B-117B-459AAFBE04B2}"/>
              </a:ext>
            </a:extLst>
          </p:cNvPr>
          <p:cNvCxnSpPr>
            <a:cxnSpLocks/>
          </p:cNvCxnSpPr>
          <p:nvPr/>
        </p:nvCxnSpPr>
        <p:spPr>
          <a:xfrm>
            <a:off x="6336259" y="1399006"/>
            <a:ext cx="0" cy="1034548"/>
          </a:xfrm>
          <a:prstGeom prst="straightConnector1">
            <a:avLst/>
          </a:prstGeom>
          <a:ln w="3810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3" name="テキスト ボックス 42">
            <a:extLst>
              <a:ext uri="{FF2B5EF4-FFF2-40B4-BE49-F238E27FC236}">
                <a16:creationId xmlns:a16="http://schemas.microsoft.com/office/drawing/2014/main" id="{B7084F5F-E799-2578-6F1B-1DFCFCE922CB}"/>
              </a:ext>
            </a:extLst>
          </p:cNvPr>
          <p:cNvSpPr txBox="1"/>
          <p:nvPr/>
        </p:nvSpPr>
        <p:spPr>
          <a:xfrm>
            <a:off x="3923328" y="1254370"/>
            <a:ext cx="1124568" cy="369332"/>
          </a:xfrm>
          <a:prstGeom prst="rect">
            <a:avLst/>
          </a:prstGeom>
          <a:solidFill>
            <a:schemeClr val="accent1">
              <a:lumMod val="40000"/>
              <a:lumOff val="60000"/>
            </a:schemeClr>
          </a:solidFill>
          <a:ln w="19050">
            <a:solidFill>
              <a:schemeClr val="accent1">
                <a:lumMod val="40000"/>
                <a:lumOff val="60000"/>
              </a:schemeClr>
            </a:solidFill>
          </a:ln>
        </p:spPr>
        <p:txBody>
          <a:bodyPr wrap="square" rtlCol="0">
            <a:spAutoFit/>
          </a:bodyPr>
          <a:lstStyle/>
          <a:p>
            <a:r>
              <a:rPr kumimoji="1" lang="ja-JP" altLang="en-US"/>
              <a:t>粒子位置</a:t>
            </a:r>
          </a:p>
        </p:txBody>
      </p:sp>
    </p:spTree>
    <p:extLst>
      <p:ext uri="{BB962C8B-B14F-4D97-AF65-F5344CB8AC3E}">
        <p14:creationId xmlns:p14="http://schemas.microsoft.com/office/powerpoint/2010/main" val="2985729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B349C6-597A-EC4D-9FE9-4FBDF55FAD7D}"/>
              </a:ext>
            </a:extLst>
          </p:cNvPr>
          <p:cNvSpPr>
            <a:spLocks noGrp="1"/>
          </p:cNvSpPr>
          <p:nvPr>
            <p:ph type="title"/>
          </p:nvPr>
        </p:nvSpPr>
        <p:spPr/>
        <p:txBody>
          <a:bodyPr/>
          <a:lstStyle/>
          <a:p>
            <a:r>
              <a:rPr kumimoji="1" lang="ja-JP" altLang="en-US" dirty="0"/>
              <a:t>シミュレーション結果</a:t>
            </a:r>
          </a:p>
        </p:txBody>
      </p:sp>
      <p:sp>
        <p:nvSpPr>
          <p:cNvPr id="4" name="スライド番号プレースホルダー 3">
            <a:extLst>
              <a:ext uri="{FF2B5EF4-FFF2-40B4-BE49-F238E27FC236}">
                <a16:creationId xmlns:a16="http://schemas.microsoft.com/office/drawing/2014/main" id="{02EEF598-76E1-EABB-4F08-F59B21FC913A}"/>
              </a:ext>
            </a:extLst>
          </p:cNvPr>
          <p:cNvSpPr>
            <a:spLocks noGrp="1"/>
          </p:cNvSpPr>
          <p:nvPr>
            <p:ph type="sldNum" sz="quarter" idx="12"/>
          </p:nvPr>
        </p:nvSpPr>
        <p:spPr/>
        <p:txBody>
          <a:bodyPr/>
          <a:lstStyle/>
          <a:p>
            <a:fld id="{F4F93977-CC68-4F92-83A3-0276DC4D9982}" type="slidenum">
              <a:rPr kumimoji="1" lang="ja-JP" altLang="en-US" smtClean="0"/>
              <a:pPr/>
              <a:t>13</a:t>
            </a:fld>
            <a:endParaRPr kumimoji="1" lang="ja-JP" altLang="en-US" dirty="0"/>
          </a:p>
        </p:txBody>
      </p:sp>
      <p:graphicFrame>
        <p:nvGraphicFramePr>
          <p:cNvPr id="5" name="表 4">
            <a:extLst>
              <a:ext uri="{FF2B5EF4-FFF2-40B4-BE49-F238E27FC236}">
                <a16:creationId xmlns:a16="http://schemas.microsoft.com/office/drawing/2014/main" id="{04BF24DC-CEDD-C71E-B5B2-AE69C147ADFE}"/>
              </a:ext>
            </a:extLst>
          </p:cNvPr>
          <p:cNvGraphicFramePr>
            <a:graphicFrameLocks noGrp="1"/>
          </p:cNvGraphicFramePr>
          <p:nvPr>
            <p:extLst>
              <p:ext uri="{D42A27DB-BD31-4B8C-83A1-F6EECF244321}">
                <p14:modId xmlns:p14="http://schemas.microsoft.com/office/powerpoint/2010/main" val="159455540"/>
              </p:ext>
            </p:extLst>
          </p:nvPr>
        </p:nvGraphicFramePr>
        <p:xfrm>
          <a:off x="375692" y="1709057"/>
          <a:ext cx="8528821" cy="4787834"/>
        </p:xfrm>
        <a:graphic>
          <a:graphicData uri="http://schemas.openxmlformats.org/drawingml/2006/table">
            <a:tbl>
              <a:tblPr firstRow="1">
                <a:tableStyleId>{5C22544A-7EE6-4342-B048-85BDC9FD1C3A}</a:tableStyleId>
              </a:tblPr>
              <a:tblGrid>
                <a:gridCol w="1921194">
                  <a:extLst>
                    <a:ext uri="{9D8B030D-6E8A-4147-A177-3AD203B41FA5}">
                      <a16:colId xmlns:a16="http://schemas.microsoft.com/office/drawing/2014/main" val="3446170899"/>
                    </a:ext>
                  </a:extLst>
                </a:gridCol>
                <a:gridCol w="1284514">
                  <a:extLst>
                    <a:ext uri="{9D8B030D-6E8A-4147-A177-3AD203B41FA5}">
                      <a16:colId xmlns:a16="http://schemas.microsoft.com/office/drawing/2014/main" val="953456485"/>
                    </a:ext>
                  </a:extLst>
                </a:gridCol>
                <a:gridCol w="2242457">
                  <a:extLst>
                    <a:ext uri="{9D8B030D-6E8A-4147-A177-3AD203B41FA5}">
                      <a16:colId xmlns:a16="http://schemas.microsoft.com/office/drawing/2014/main" val="4036304236"/>
                    </a:ext>
                  </a:extLst>
                </a:gridCol>
                <a:gridCol w="1219200">
                  <a:extLst>
                    <a:ext uri="{9D8B030D-6E8A-4147-A177-3AD203B41FA5}">
                      <a16:colId xmlns:a16="http://schemas.microsoft.com/office/drawing/2014/main" val="2793707478"/>
                    </a:ext>
                  </a:extLst>
                </a:gridCol>
                <a:gridCol w="1861456">
                  <a:extLst>
                    <a:ext uri="{9D8B030D-6E8A-4147-A177-3AD203B41FA5}">
                      <a16:colId xmlns:a16="http://schemas.microsoft.com/office/drawing/2014/main" val="1894076945"/>
                    </a:ext>
                  </a:extLst>
                </a:gridCol>
              </a:tblGrid>
              <a:tr h="1123663">
                <a:tc>
                  <a:txBody>
                    <a:bodyPr/>
                    <a:lstStyle/>
                    <a:p>
                      <a:pPr algn="ctr"/>
                      <a:endParaRPr kumimoji="1" lang="ja-JP" altLang="en-US" dirty="0"/>
                    </a:p>
                  </a:txBody>
                  <a:tcPr anchor="ctr"/>
                </a:tc>
                <a:tc>
                  <a:txBody>
                    <a:bodyPr/>
                    <a:lstStyle/>
                    <a:p>
                      <a:pPr algn="ctr"/>
                      <a:r>
                        <a:rPr kumimoji="1" lang="en-US" altLang="ja-JP" dirty="0"/>
                        <a:t>LSR</a:t>
                      </a:r>
                      <a:endParaRPr kumimoji="1" lang="ja-JP" altLang="en-US" dirty="0"/>
                    </a:p>
                  </a:txBody>
                  <a:tcPr anchor="ctr"/>
                </a:tc>
                <a:tc>
                  <a:txBody>
                    <a:bodyPr/>
                    <a:lstStyle/>
                    <a:p>
                      <a:pPr algn="ctr"/>
                      <a:r>
                        <a:rPr kumimoji="1" lang="en-US" altLang="ja-JP" dirty="0"/>
                        <a:t>ID</a:t>
                      </a:r>
                      <a:r>
                        <a:rPr kumimoji="1" lang="ja-JP" altLang="en-US" dirty="0"/>
                        <a:t>継続率</a:t>
                      </a:r>
                    </a:p>
                  </a:txBody>
                  <a:tcPr anchor="ctr"/>
                </a:tc>
                <a:tc>
                  <a:txBody>
                    <a:bodyPr/>
                    <a:lstStyle/>
                    <a:p>
                      <a:pPr algn="ctr"/>
                      <a:r>
                        <a:rPr kumimoji="1" lang="ja-JP" altLang="en-US" dirty="0"/>
                        <a:t>再出現</a:t>
                      </a:r>
                      <a:r>
                        <a:rPr kumimoji="1" lang="en-US" altLang="ja-JP" dirty="0"/>
                        <a:t>ID</a:t>
                      </a:r>
                    </a:p>
                    <a:p>
                      <a:pPr algn="ctr"/>
                      <a:r>
                        <a:rPr kumimoji="1" lang="ja-JP" altLang="en-US" dirty="0"/>
                        <a:t>継続率</a:t>
                      </a:r>
                    </a:p>
                  </a:txBody>
                  <a:tcPr anchor="ctr"/>
                </a:tc>
                <a:tc>
                  <a:txBody>
                    <a:bodyPr/>
                    <a:lstStyle/>
                    <a:p>
                      <a:pPr algn="ctr"/>
                      <a:r>
                        <a:rPr kumimoji="1" lang="ja-JP" altLang="en-US" dirty="0"/>
                        <a:t>平均トラック長</a:t>
                      </a:r>
                    </a:p>
                  </a:txBody>
                  <a:tcPr anchor="ctr"/>
                </a:tc>
                <a:extLst>
                  <a:ext uri="{0D108BD9-81ED-4DB2-BD59-A6C34878D82A}">
                    <a16:rowId xmlns:a16="http://schemas.microsoft.com/office/drawing/2014/main" val="3984904158"/>
                  </a:ext>
                </a:extLst>
              </a:tr>
              <a:tr h="1820516">
                <a:tc>
                  <a:txBody>
                    <a:bodyPr/>
                    <a:lstStyle/>
                    <a:p>
                      <a:pPr algn="ctr"/>
                      <a:r>
                        <a:rPr kumimoji="1" lang="ja-JP" altLang="en-US" sz="2800" b="1" dirty="0">
                          <a:solidFill>
                            <a:schemeClr val="bg1"/>
                          </a:solidFill>
                        </a:rPr>
                        <a:t>線形予測</a:t>
                      </a:r>
                    </a:p>
                  </a:txBody>
                  <a:tcPr anchor="ctr">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kumimoji="1" lang="en-US" altLang="ja-JP" dirty="0"/>
                        <a:t>0.7886</a:t>
                      </a:r>
                      <a:endParaRPr kumimoji="1" lang="ja-JP" altLang="en-US" dirty="0"/>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dirty="0"/>
                        <a:t>0.7001(ALL)</a:t>
                      </a:r>
                    </a:p>
                    <a:p>
                      <a:pPr algn="ctr"/>
                      <a:endParaRPr kumimoji="1" lang="en-US" altLang="ja-JP" dirty="0"/>
                    </a:p>
                    <a:p>
                      <a:pPr algn="ctr"/>
                      <a:r>
                        <a:rPr kumimoji="1" lang="en-US" altLang="ja-JP" dirty="0"/>
                        <a:t>0.7198(&gt;95%)</a:t>
                      </a:r>
                    </a:p>
                    <a:p>
                      <a:pPr algn="ctr"/>
                      <a:endParaRPr kumimoji="1" lang="en-US" altLang="ja-JP" dirty="0"/>
                    </a:p>
                    <a:p>
                      <a:pPr algn="ctr"/>
                      <a:r>
                        <a:rPr kumimoji="1" lang="en-US" altLang="ja-JP" dirty="0"/>
                        <a:t>0.7902(&gt;80%)</a:t>
                      </a:r>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dirty="0"/>
                        <a:t>0.2613</a:t>
                      </a:r>
                      <a:endParaRPr kumimoji="1" lang="ja-JP" altLang="en-US" dirty="0"/>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dirty="0"/>
                        <a:t>13</a:t>
                      </a:r>
                      <a:endParaRPr kumimoji="1" lang="ja-JP" altLang="en-US"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1205966"/>
                  </a:ext>
                </a:extLst>
              </a:tr>
              <a:tr h="1843655">
                <a:tc>
                  <a:txBody>
                    <a:bodyPr/>
                    <a:lstStyle/>
                    <a:p>
                      <a:pPr algn="ctr"/>
                      <a:r>
                        <a:rPr kumimoji="1" lang="en-US" altLang="ja-JP" sz="2800" b="1" dirty="0">
                          <a:solidFill>
                            <a:schemeClr val="bg1"/>
                          </a:solidFill>
                        </a:rPr>
                        <a:t>GPR</a:t>
                      </a:r>
                      <a:r>
                        <a:rPr kumimoji="1" lang="ja-JP" altLang="en-US" sz="2800" b="1" dirty="0">
                          <a:solidFill>
                            <a:schemeClr val="bg1"/>
                          </a:solidFill>
                        </a:rPr>
                        <a:t>追跡</a:t>
                      </a:r>
                    </a:p>
                  </a:txBody>
                  <a:tcPr anchor="ctr">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ctr"/>
                      <a:r>
                        <a:rPr kumimoji="1" lang="en-US" altLang="ja-JP" dirty="0"/>
                        <a:t>0.8088</a:t>
                      </a:r>
                      <a:endParaRPr kumimoji="1" lang="ja-JP" altLang="en-US" dirty="0"/>
                    </a:p>
                  </a:txBody>
                  <a:tcPr anchor="ctr">
                    <a:lnT w="12700" cap="flat" cmpd="sng" algn="ctr">
                      <a:solidFill>
                        <a:schemeClr val="tx1"/>
                      </a:solidFill>
                      <a:prstDash val="solid"/>
                      <a:round/>
                      <a:headEnd type="none" w="med" len="med"/>
                      <a:tailEnd type="none" w="med" len="med"/>
                    </a:lnT>
                  </a:tcPr>
                </a:tc>
                <a:tc>
                  <a:txBody>
                    <a:bodyPr/>
                    <a:lstStyle/>
                    <a:p>
                      <a:pPr algn="ctr"/>
                      <a:r>
                        <a:rPr kumimoji="1" lang="en-US" altLang="ja-JP" dirty="0"/>
                        <a:t>0.8105(ALL)</a:t>
                      </a:r>
                    </a:p>
                    <a:p>
                      <a:pPr algn="ctr"/>
                      <a:endParaRPr kumimoji="1" lang="en-US" altLang="ja-JP" dirty="0"/>
                    </a:p>
                    <a:p>
                      <a:pPr algn="ctr"/>
                      <a:r>
                        <a:rPr kumimoji="1" lang="en-US" altLang="ja-JP" dirty="0"/>
                        <a:t>0.8340(&gt;95%)</a:t>
                      </a:r>
                    </a:p>
                    <a:p>
                      <a:pPr algn="ctr"/>
                      <a:endParaRPr kumimoji="1" lang="en-US" altLang="ja-JP" dirty="0"/>
                    </a:p>
                    <a:p>
                      <a:pPr algn="ctr"/>
                      <a:r>
                        <a:rPr kumimoji="1" lang="en-US" altLang="ja-JP" dirty="0"/>
                        <a:t>0.8741(&gt;80%)</a:t>
                      </a:r>
                      <a:endParaRPr kumimoji="1" lang="ja-JP" altLang="en-US" dirty="0"/>
                    </a:p>
                  </a:txBody>
                  <a:tcPr anchor="ctr">
                    <a:lnT w="12700" cap="flat" cmpd="sng" algn="ctr">
                      <a:solidFill>
                        <a:schemeClr val="tx1"/>
                      </a:solidFill>
                      <a:prstDash val="solid"/>
                      <a:round/>
                      <a:headEnd type="none" w="med" len="med"/>
                      <a:tailEnd type="none" w="med" len="med"/>
                    </a:lnT>
                  </a:tcPr>
                </a:tc>
                <a:tc>
                  <a:txBody>
                    <a:bodyPr/>
                    <a:lstStyle/>
                    <a:p>
                      <a:pPr algn="ctr"/>
                      <a:r>
                        <a:rPr kumimoji="1" lang="en-US" altLang="ja-JP" dirty="0"/>
                        <a:t>0.3620</a:t>
                      </a:r>
                    </a:p>
                  </a:txBody>
                  <a:tcPr anchor="ctr">
                    <a:lnT w="12700" cap="flat" cmpd="sng" algn="ctr">
                      <a:solidFill>
                        <a:schemeClr val="tx1"/>
                      </a:solidFill>
                      <a:prstDash val="solid"/>
                      <a:round/>
                      <a:headEnd type="none" w="med" len="med"/>
                      <a:tailEnd type="none" w="med" len="med"/>
                    </a:lnT>
                  </a:tcPr>
                </a:tc>
                <a:tc>
                  <a:txBody>
                    <a:bodyPr/>
                    <a:lstStyle/>
                    <a:p>
                      <a:pPr algn="ctr"/>
                      <a:r>
                        <a:rPr kumimoji="1" lang="en-US" altLang="ja-JP" dirty="0"/>
                        <a:t>18</a:t>
                      </a:r>
                      <a:endParaRPr kumimoji="1" lang="ja-JP" altLang="en-US"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64957148"/>
                  </a:ext>
                </a:extLst>
              </a:tr>
            </a:tbl>
          </a:graphicData>
        </a:graphic>
      </p:graphicFrame>
      <p:sp>
        <p:nvSpPr>
          <p:cNvPr id="6" name="テキスト ボックス 5">
            <a:extLst>
              <a:ext uri="{FF2B5EF4-FFF2-40B4-BE49-F238E27FC236}">
                <a16:creationId xmlns:a16="http://schemas.microsoft.com/office/drawing/2014/main" id="{CC7BF975-FEF0-40C0-9030-FF1825A29522}"/>
              </a:ext>
            </a:extLst>
          </p:cNvPr>
          <p:cNvSpPr txBox="1"/>
          <p:nvPr/>
        </p:nvSpPr>
        <p:spPr>
          <a:xfrm>
            <a:off x="426678" y="1044512"/>
            <a:ext cx="7845832" cy="400110"/>
          </a:xfrm>
          <a:prstGeom prst="rect">
            <a:avLst/>
          </a:prstGeom>
          <a:noFill/>
        </p:spPr>
        <p:txBody>
          <a:bodyPr wrap="square" rtlCol="0">
            <a:spAutoFit/>
          </a:bodyPr>
          <a:lstStyle/>
          <a:p>
            <a:r>
              <a:rPr kumimoji="1" lang="ja-JP" altLang="en-US" sz="2000" dirty="0"/>
              <a:t>・時系列ベースの</a:t>
            </a:r>
            <a:r>
              <a:rPr kumimoji="1" lang="en-US" altLang="ja-JP" sz="2000" dirty="0"/>
              <a:t>(</a:t>
            </a:r>
            <a:r>
              <a:rPr kumimoji="1" lang="ja-JP" altLang="en-US" sz="2000" dirty="0"/>
              <a:t>線形予測</a:t>
            </a:r>
            <a:r>
              <a:rPr kumimoji="1" lang="en-US" altLang="ja-JP" sz="2000" dirty="0"/>
              <a:t>+</a:t>
            </a:r>
            <a:r>
              <a:rPr kumimoji="1" lang="ja-JP" altLang="en-US" sz="2000" dirty="0"/>
              <a:t>近傍探索</a:t>
            </a:r>
            <a:r>
              <a:rPr kumimoji="1" lang="en-US" altLang="ja-JP" sz="2000" dirty="0"/>
              <a:t>)</a:t>
            </a:r>
            <a:r>
              <a:rPr kumimoji="1" lang="ja-JP" altLang="en-US" sz="2000" dirty="0"/>
              <a:t>と</a:t>
            </a:r>
            <a:r>
              <a:rPr kumimoji="1" lang="en-US" altLang="ja-JP" sz="2000" dirty="0"/>
              <a:t>GPR</a:t>
            </a:r>
            <a:r>
              <a:rPr kumimoji="1" lang="ja-JP" altLang="en-US" sz="2000" dirty="0"/>
              <a:t>追跡を比較</a:t>
            </a:r>
          </a:p>
        </p:txBody>
      </p:sp>
    </p:spTree>
    <p:extLst>
      <p:ext uri="{BB962C8B-B14F-4D97-AF65-F5344CB8AC3E}">
        <p14:creationId xmlns:p14="http://schemas.microsoft.com/office/powerpoint/2010/main" val="3540644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E7AC165E-D3B9-E037-49B5-19391A7E8979}"/>
              </a:ext>
            </a:extLst>
          </p:cNvPr>
          <p:cNvSpPr/>
          <p:nvPr/>
        </p:nvSpPr>
        <p:spPr>
          <a:xfrm>
            <a:off x="313208" y="4410149"/>
            <a:ext cx="8487218" cy="2394360"/>
          </a:xfrm>
          <a:prstGeom prst="rect">
            <a:avLst/>
          </a:prstGeom>
          <a:no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DCA32B79-DFB5-C79F-4CD3-4F68E6D8DFF0}"/>
              </a:ext>
            </a:extLst>
          </p:cNvPr>
          <p:cNvSpPr/>
          <p:nvPr/>
        </p:nvSpPr>
        <p:spPr>
          <a:xfrm>
            <a:off x="717785" y="1310667"/>
            <a:ext cx="1172983" cy="463343"/>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7092639-B4EB-7440-5F2F-6B5027817EB9}"/>
              </a:ext>
            </a:extLst>
          </p:cNvPr>
          <p:cNvSpPr>
            <a:spLocks noGrp="1"/>
          </p:cNvSpPr>
          <p:nvPr>
            <p:ph type="title"/>
          </p:nvPr>
        </p:nvSpPr>
        <p:spPr/>
        <p:txBody>
          <a:bodyPr/>
          <a:lstStyle/>
          <a:p>
            <a:r>
              <a:rPr lang="ja-JP" altLang="en-US" dirty="0"/>
              <a:t>まとめ・課題</a:t>
            </a:r>
            <a:endParaRPr kumimoji="1" lang="ja-JP" altLang="en-US" dirty="0"/>
          </a:p>
        </p:txBody>
      </p:sp>
      <p:sp>
        <p:nvSpPr>
          <p:cNvPr id="3" name="コンテンツ プレースホルダー 2">
            <a:extLst>
              <a:ext uri="{FF2B5EF4-FFF2-40B4-BE49-F238E27FC236}">
                <a16:creationId xmlns:a16="http://schemas.microsoft.com/office/drawing/2014/main" id="{A21CF12B-DC93-57D0-A209-553DF2DA1DEF}"/>
              </a:ext>
            </a:extLst>
          </p:cNvPr>
          <p:cNvSpPr>
            <a:spLocks noGrp="1"/>
          </p:cNvSpPr>
          <p:nvPr>
            <p:ph idx="1"/>
          </p:nvPr>
        </p:nvSpPr>
        <p:spPr>
          <a:xfrm>
            <a:off x="1006359" y="4463640"/>
            <a:ext cx="7886700" cy="1581374"/>
          </a:xfrm>
        </p:spPr>
        <p:txBody>
          <a:bodyPr>
            <a:normAutofit/>
          </a:bodyPr>
          <a:lstStyle/>
          <a:p>
            <a:endParaRPr lang="en-US" altLang="ja-JP" sz="2000" dirty="0"/>
          </a:p>
          <a:p>
            <a:endParaRPr lang="en-US" altLang="ja-JP" sz="2000" dirty="0"/>
          </a:p>
          <a:p>
            <a:endParaRPr lang="en-US" altLang="ja-JP" sz="2000" dirty="0"/>
          </a:p>
          <a:p>
            <a:endParaRPr kumimoji="1" lang="ja-JP" altLang="en-US" sz="2000" dirty="0"/>
          </a:p>
        </p:txBody>
      </p:sp>
      <p:sp>
        <p:nvSpPr>
          <p:cNvPr id="4" name="スライド番号プレースホルダー 3">
            <a:extLst>
              <a:ext uri="{FF2B5EF4-FFF2-40B4-BE49-F238E27FC236}">
                <a16:creationId xmlns:a16="http://schemas.microsoft.com/office/drawing/2014/main" id="{E8773993-4856-BF70-FA34-AB210819E255}"/>
              </a:ext>
            </a:extLst>
          </p:cNvPr>
          <p:cNvSpPr>
            <a:spLocks noGrp="1"/>
          </p:cNvSpPr>
          <p:nvPr>
            <p:ph type="sldNum" sz="quarter" idx="12"/>
          </p:nvPr>
        </p:nvSpPr>
        <p:spPr/>
        <p:txBody>
          <a:bodyPr/>
          <a:lstStyle/>
          <a:p>
            <a:fld id="{F4F93977-CC68-4F92-83A3-0276DC4D9982}" type="slidenum">
              <a:rPr kumimoji="1" lang="ja-JP" altLang="en-US" smtClean="0"/>
              <a:pPr/>
              <a:t>14</a:t>
            </a:fld>
            <a:endParaRPr kumimoji="1" lang="ja-JP" altLang="en-US" dirty="0"/>
          </a:p>
        </p:txBody>
      </p:sp>
      <p:sp>
        <p:nvSpPr>
          <p:cNvPr id="15" name="正方形/長方形 14">
            <a:extLst>
              <a:ext uri="{FF2B5EF4-FFF2-40B4-BE49-F238E27FC236}">
                <a16:creationId xmlns:a16="http://schemas.microsoft.com/office/drawing/2014/main" id="{E7B70AC3-DED8-B06A-D3B3-D0AD100105DD}"/>
              </a:ext>
            </a:extLst>
          </p:cNvPr>
          <p:cNvSpPr/>
          <p:nvPr/>
        </p:nvSpPr>
        <p:spPr>
          <a:xfrm>
            <a:off x="313208" y="1532931"/>
            <a:ext cx="8487218" cy="2414852"/>
          </a:xfrm>
          <a:prstGeom prst="rect">
            <a:avLst/>
          </a:prstGeom>
          <a:noFill/>
          <a:ln w="5715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CE541DD-2889-6308-6343-F2225E101DA6}"/>
              </a:ext>
            </a:extLst>
          </p:cNvPr>
          <p:cNvSpPr txBox="1"/>
          <p:nvPr/>
        </p:nvSpPr>
        <p:spPr>
          <a:xfrm>
            <a:off x="343574" y="1558066"/>
            <a:ext cx="8549485" cy="2585323"/>
          </a:xfrm>
          <a:prstGeom prst="rect">
            <a:avLst/>
          </a:prstGeom>
          <a:noFill/>
        </p:spPr>
        <p:txBody>
          <a:bodyPr wrap="square" rtlCol="0">
            <a:spAutoFit/>
          </a:bodyPr>
          <a:lstStyle/>
          <a:p>
            <a:r>
              <a:rPr kumimoji="1" lang="ja-JP" altLang="en-US" sz="2400" dirty="0"/>
              <a:t>  </a:t>
            </a:r>
            <a:endParaRPr kumimoji="1" lang="en-US" altLang="ja-JP" sz="2400" dirty="0"/>
          </a:p>
          <a:p>
            <a:endParaRPr kumimoji="1" lang="en-US" altLang="ja-JP" dirty="0"/>
          </a:p>
          <a:p>
            <a:r>
              <a:rPr kumimoji="1" lang="ja-JP" altLang="en-US" sz="2000" dirty="0"/>
              <a:t>・</a:t>
            </a:r>
            <a:r>
              <a:rPr kumimoji="1" lang="en-US" altLang="ja-JP" sz="2000" dirty="0"/>
              <a:t>FED-PV</a:t>
            </a:r>
            <a:r>
              <a:rPr kumimoji="1" lang="ja-JP" altLang="en-US" sz="2000" dirty="0"/>
              <a:t>によって，</a:t>
            </a:r>
            <a:r>
              <a:rPr kumimoji="1" lang="ja-JP" altLang="en-US" sz="2000" b="1" dirty="0"/>
              <a:t>ベンチマーク</a:t>
            </a:r>
            <a:r>
              <a:rPr kumimoji="1" lang="ja-JP" altLang="en-US" sz="2000" dirty="0"/>
              <a:t>になりそうなデータセットの基盤を</a:t>
            </a:r>
            <a:endParaRPr kumimoji="1" lang="en-US" altLang="ja-JP" sz="2000" dirty="0"/>
          </a:p>
          <a:p>
            <a:r>
              <a:rPr kumimoji="1" lang="ja-JP" altLang="en-US" sz="2000" dirty="0"/>
              <a:t>　作成</a:t>
            </a:r>
            <a:endParaRPr kumimoji="1" lang="en-US" altLang="ja-JP" sz="2000" dirty="0"/>
          </a:p>
          <a:p>
            <a:endParaRPr kumimoji="1" lang="en-US" altLang="ja-JP" sz="2000" dirty="0"/>
          </a:p>
          <a:p>
            <a:r>
              <a:rPr lang="ja-JP" altLang="en-US" sz="2000" dirty="0"/>
              <a:t>・自作シミュレーションデータによる</a:t>
            </a:r>
            <a:r>
              <a:rPr lang="ja-JP" altLang="en-US" sz="2000" b="1" dirty="0"/>
              <a:t>評価システム</a:t>
            </a:r>
            <a:r>
              <a:rPr lang="ja-JP" altLang="en-US" sz="2000" dirty="0"/>
              <a:t>の構築ができ，既存　</a:t>
            </a:r>
            <a:endParaRPr lang="en-US" altLang="ja-JP" sz="2000" dirty="0"/>
          </a:p>
          <a:p>
            <a:r>
              <a:rPr lang="ja-JP" altLang="en-US" sz="2000" dirty="0"/>
              <a:t>　の手法で試すことができた</a:t>
            </a:r>
            <a:endParaRPr lang="en-US" altLang="ja-JP" sz="2000" dirty="0"/>
          </a:p>
          <a:p>
            <a:r>
              <a:rPr kumimoji="1" lang="ja-JP" altLang="en-US" sz="2000" dirty="0"/>
              <a:t>　</a:t>
            </a:r>
            <a:endParaRPr kumimoji="1" lang="en-US" altLang="ja-JP" sz="2000" dirty="0"/>
          </a:p>
        </p:txBody>
      </p:sp>
      <p:sp>
        <p:nvSpPr>
          <p:cNvPr id="36" name="正方形/長方形 35">
            <a:extLst>
              <a:ext uri="{FF2B5EF4-FFF2-40B4-BE49-F238E27FC236}">
                <a16:creationId xmlns:a16="http://schemas.microsoft.com/office/drawing/2014/main" id="{EF240D1C-992B-1D32-1EC6-83FA796196D2}"/>
              </a:ext>
            </a:extLst>
          </p:cNvPr>
          <p:cNvSpPr/>
          <p:nvPr/>
        </p:nvSpPr>
        <p:spPr>
          <a:xfrm>
            <a:off x="717785" y="4231970"/>
            <a:ext cx="2720358" cy="46334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今後の展望</a:t>
            </a:r>
          </a:p>
        </p:txBody>
      </p:sp>
      <p:sp>
        <p:nvSpPr>
          <p:cNvPr id="18" name="テキスト ボックス 17">
            <a:extLst>
              <a:ext uri="{FF2B5EF4-FFF2-40B4-BE49-F238E27FC236}">
                <a16:creationId xmlns:a16="http://schemas.microsoft.com/office/drawing/2014/main" id="{F3B75696-ECA9-7F37-0C3D-AAFAA328B117}"/>
              </a:ext>
            </a:extLst>
          </p:cNvPr>
          <p:cNvSpPr txBox="1"/>
          <p:nvPr/>
        </p:nvSpPr>
        <p:spPr>
          <a:xfrm>
            <a:off x="717785" y="1339441"/>
            <a:ext cx="1259062" cy="461665"/>
          </a:xfrm>
          <a:prstGeom prst="rect">
            <a:avLst/>
          </a:prstGeom>
          <a:noFill/>
        </p:spPr>
        <p:txBody>
          <a:bodyPr wrap="square" rtlCol="0">
            <a:spAutoFit/>
          </a:bodyPr>
          <a:lstStyle/>
          <a:p>
            <a:r>
              <a:rPr kumimoji="1" lang="ja-JP" altLang="en-US" sz="2400" dirty="0"/>
              <a:t>まとめ</a:t>
            </a:r>
          </a:p>
        </p:txBody>
      </p:sp>
      <p:sp>
        <p:nvSpPr>
          <p:cNvPr id="19" name="テキスト ボックス 18">
            <a:extLst>
              <a:ext uri="{FF2B5EF4-FFF2-40B4-BE49-F238E27FC236}">
                <a16:creationId xmlns:a16="http://schemas.microsoft.com/office/drawing/2014/main" id="{E1A7040A-01F9-BD89-6888-4F0C599F8DA6}"/>
              </a:ext>
            </a:extLst>
          </p:cNvPr>
          <p:cNvSpPr txBox="1"/>
          <p:nvPr/>
        </p:nvSpPr>
        <p:spPr>
          <a:xfrm>
            <a:off x="313206" y="4810673"/>
            <a:ext cx="8541913" cy="400110"/>
          </a:xfrm>
          <a:prstGeom prst="rect">
            <a:avLst/>
          </a:prstGeom>
          <a:noFill/>
        </p:spPr>
        <p:txBody>
          <a:bodyPr wrap="square" rtlCol="0">
            <a:spAutoFit/>
          </a:bodyPr>
          <a:lstStyle/>
          <a:p>
            <a:r>
              <a:rPr kumimoji="1" lang="ja-JP" altLang="en-US" sz="2000" dirty="0"/>
              <a:t>・</a:t>
            </a:r>
            <a:r>
              <a:rPr kumimoji="1" lang="en-US" altLang="ja-JP" sz="2000" dirty="0"/>
              <a:t>FED-PV</a:t>
            </a:r>
            <a:r>
              <a:rPr kumimoji="1" lang="ja-JP" altLang="en-US" sz="2000" dirty="0"/>
              <a:t>で目立つバグを修正</a:t>
            </a:r>
            <a:endParaRPr kumimoji="1" lang="en-US" altLang="ja-JP" sz="2000" dirty="0"/>
          </a:p>
        </p:txBody>
      </p:sp>
      <p:sp>
        <p:nvSpPr>
          <p:cNvPr id="20" name="テキスト ボックス 19">
            <a:extLst>
              <a:ext uri="{FF2B5EF4-FFF2-40B4-BE49-F238E27FC236}">
                <a16:creationId xmlns:a16="http://schemas.microsoft.com/office/drawing/2014/main" id="{E3FD8B52-41E9-9C7D-1058-D1C506056D47}"/>
              </a:ext>
            </a:extLst>
          </p:cNvPr>
          <p:cNvSpPr txBox="1"/>
          <p:nvPr/>
        </p:nvSpPr>
        <p:spPr>
          <a:xfrm>
            <a:off x="288881" y="5496930"/>
            <a:ext cx="7941391" cy="1323439"/>
          </a:xfrm>
          <a:prstGeom prst="rect">
            <a:avLst/>
          </a:prstGeom>
          <a:noFill/>
        </p:spPr>
        <p:txBody>
          <a:bodyPr wrap="square" rtlCol="0">
            <a:spAutoFit/>
          </a:bodyPr>
          <a:lstStyle/>
          <a:p>
            <a:r>
              <a:rPr kumimoji="1" lang="ja-JP" altLang="en-US" sz="2000" dirty="0"/>
              <a:t>・自作シミュレーションでは，粒子の重なりに関して表現しかでき</a:t>
            </a:r>
            <a:endParaRPr kumimoji="1" lang="en-US" altLang="ja-JP" sz="2000" dirty="0"/>
          </a:p>
          <a:p>
            <a:r>
              <a:rPr kumimoji="1" lang="ja-JP" altLang="en-US" sz="2000" dirty="0"/>
              <a:t>　ていないため，判定を実装する</a:t>
            </a:r>
            <a:endParaRPr kumimoji="1" lang="en-US" altLang="ja-JP" sz="2000" dirty="0"/>
          </a:p>
          <a:p>
            <a:endParaRPr kumimoji="1" lang="en-US" altLang="ja-JP" sz="2000" dirty="0"/>
          </a:p>
          <a:p>
            <a:r>
              <a:rPr kumimoji="1" lang="ja-JP" altLang="en-US" sz="2000" dirty="0"/>
              <a:t>・</a:t>
            </a:r>
            <a:r>
              <a:rPr kumimoji="1" lang="en-US" altLang="ja-JP" sz="2000" dirty="0"/>
              <a:t>GNN</a:t>
            </a:r>
            <a:r>
              <a:rPr kumimoji="1" lang="ja-JP" altLang="en-US" sz="2000" dirty="0"/>
              <a:t>を用いた新手法を継続して構築</a:t>
            </a:r>
          </a:p>
        </p:txBody>
      </p:sp>
    </p:spTree>
    <p:extLst>
      <p:ext uri="{BB962C8B-B14F-4D97-AF65-F5344CB8AC3E}">
        <p14:creationId xmlns:p14="http://schemas.microsoft.com/office/powerpoint/2010/main" val="2646337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E3A66A2-7091-DBFB-6C23-ED8BDA3CCFE3}"/>
              </a:ext>
            </a:extLst>
          </p:cNvPr>
          <p:cNvSpPr>
            <a:spLocks noGrp="1"/>
          </p:cNvSpPr>
          <p:nvPr>
            <p:ph type="sldNum" sz="quarter" idx="12"/>
          </p:nvPr>
        </p:nvSpPr>
        <p:spPr/>
        <p:txBody>
          <a:bodyPr/>
          <a:lstStyle/>
          <a:p>
            <a:fld id="{F4F93977-CC68-4F92-83A3-0276DC4D9982}" type="slidenum">
              <a:rPr kumimoji="1" lang="ja-JP" altLang="en-US" smtClean="0"/>
              <a:t>15</a:t>
            </a:fld>
            <a:endParaRPr kumimoji="1" lang="ja-JP" altLang="en-US"/>
          </a:p>
        </p:txBody>
      </p:sp>
      <p:sp>
        <p:nvSpPr>
          <p:cNvPr id="3" name="テキスト ボックス 2">
            <a:extLst>
              <a:ext uri="{FF2B5EF4-FFF2-40B4-BE49-F238E27FC236}">
                <a16:creationId xmlns:a16="http://schemas.microsoft.com/office/drawing/2014/main" id="{DF256127-FAFF-18FC-CC20-AAE20A4FEA94}"/>
              </a:ext>
            </a:extLst>
          </p:cNvPr>
          <p:cNvSpPr txBox="1"/>
          <p:nvPr/>
        </p:nvSpPr>
        <p:spPr>
          <a:xfrm>
            <a:off x="1563624" y="3136612"/>
            <a:ext cx="6282062" cy="584775"/>
          </a:xfrm>
          <a:prstGeom prst="rect">
            <a:avLst/>
          </a:prstGeom>
          <a:noFill/>
        </p:spPr>
        <p:txBody>
          <a:bodyPr wrap="square" rtlCol="0">
            <a:spAutoFit/>
          </a:bodyPr>
          <a:lstStyle/>
          <a:p>
            <a:r>
              <a:rPr kumimoji="1" lang="ja-JP" altLang="en-US" sz="3200" dirty="0"/>
              <a:t>ご清聴ありがとうございました</a:t>
            </a:r>
          </a:p>
        </p:txBody>
      </p:sp>
    </p:spTree>
    <p:extLst>
      <p:ext uri="{BB962C8B-B14F-4D97-AF65-F5344CB8AC3E}">
        <p14:creationId xmlns:p14="http://schemas.microsoft.com/office/powerpoint/2010/main" val="3679483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693583-8B0A-9C03-26DA-0934EF684294}"/>
              </a:ext>
            </a:extLst>
          </p:cNvPr>
          <p:cNvSpPr>
            <a:spLocks noGrp="1"/>
          </p:cNvSpPr>
          <p:nvPr>
            <p:ph type="title"/>
          </p:nvPr>
        </p:nvSpPr>
        <p:spPr/>
        <p:txBody>
          <a:bodyPr/>
          <a:lstStyle/>
          <a:p>
            <a:r>
              <a:rPr kumimoji="1" lang="ja-JP" altLang="en-US" dirty="0"/>
              <a:t>レーダー原理</a:t>
            </a:r>
            <a:r>
              <a:rPr kumimoji="1" lang="en-US" altLang="ja-JP" dirty="0"/>
              <a:t>(1/</a:t>
            </a:r>
            <a:r>
              <a:rPr lang="en-US" altLang="ja-JP" dirty="0"/>
              <a:t>4</a:t>
            </a:r>
            <a:r>
              <a:rPr kumimoji="1"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EC3389F4-59C2-0886-F1C7-31D28A5338D8}"/>
              </a:ext>
            </a:extLst>
          </p:cNvPr>
          <p:cNvSpPr>
            <a:spLocks noGrp="1"/>
          </p:cNvSpPr>
          <p:nvPr>
            <p:ph idx="1"/>
          </p:nvPr>
        </p:nvSpPr>
        <p:spPr>
          <a:xfrm>
            <a:off x="628650" y="953410"/>
            <a:ext cx="7886700" cy="4351338"/>
          </a:xfrm>
        </p:spPr>
        <p:txBody>
          <a:bodyPr>
            <a:normAutofit/>
          </a:bodyPr>
          <a:lstStyle/>
          <a:p>
            <a:r>
              <a:rPr kumimoji="1" lang="en-US" altLang="ja-JP" sz="2400" b="1" dirty="0"/>
              <a:t>IF</a:t>
            </a:r>
            <a:r>
              <a:rPr kumimoji="1" lang="ja-JP" altLang="en-US" sz="2400" b="1" dirty="0"/>
              <a:t>信号</a:t>
            </a:r>
            <a:r>
              <a:rPr lang="en-US" altLang="ja-JP" sz="2400" dirty="0"/>
              <a:t>(</a:t>
            </a:r>
            <a:r>
              <a:rPr lang="ja-JP" altLang="en-US" sz="2400" dirty="0"/>
              <a:t>中間周波数</a:t>
            </a:r>
            <a:r>
              <a:rPr lang="en-US" altLang="ja-JP" sz="2400" dirty="0"/>
              <a:t>)</a:t>
            </a:r>
            <a:endParaRPr kumimoji="1" lang="ja-JP" altLang="en-US" sz="2400" dirty="0"/>
          </a:p>
        </p:txBody>
      </p:sp>
      <p:sp>
        <p:nvSpPr>
          <p:cNvPr id="4" name="スライド番号プレースホルダー 3">
            <a:extLst>
              <a:ext uri="{FF2B5EF4-FFF2-40B4-BE49-F238E27FC236}">
                <a16:creationId xmlns:a16="http://schemas.microsoft.com/office/drawing/2014/main" id="{E932DE44-7DC2-ABF9-98A1-311C74F351EF}"/>
              </a:ext>
            </a:extLst>
          </p:cNvPr>
          <p:cNvSpPr>
            <a:spLocks noGrp="1"/>
          </p:cNvSpPr>
          <p:nvPr>
            <p:ph type="sldNum" sz="quarter" idx="12"/>
          </p:nvPr>
        </p:nvSpPr>
        <p:spPr/>
        <p:txBody>
          <a:bodyPr/>
          <a:lstStyle/>
          <a:p>
            <a:fld id="{F4F93977-CC68-4F92-83A3-0276DC4D9982}" type="slidenum">
              <a:rPr kumimoji="1" lang="ja-JP" altLang="en-US" smtClean="0"/>
              <a:pPr/>
              <a:t>16</a:t>
            </a:fld>
            <a:endParaRPr kumimoji="1" lang="ja-JP" altLang="en-US" dirty="0"/>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08FE9DE5-2F3F-30EE-9C03-E6EB8F506A00}"/>
                  </a:ext>
                </a:extLst>
              </p:cNvPr>
              <p:cNvSpPr txBox="1"/>
              <p:nvPr/>
            </p:nvSpPr>
            <p:spPr>
              <a:xfrm>
                <a:off x="389965" y="1553252"/>
                <a:ext cx="8364070" cy="646395"/>
              </a:xfrm>
              <a:prstGeom prst="rect">
                <a:avLst/>
              </a:prstGeom>
              <a:noFill/>
            </p:spPr>
            <p:txBody>
              <a:bodyPr wrap="square" rtlCol="0">
                <a:spAutoFit/>
              </a:bodyPr>
              <a:lstStyle/>
              <a:p>
                <a:r>
                  <a:rPr kumimoji="1" lang="ja-JP" altLang="en-US" dirty="0"/>
                  <a:t>ある二つの信号</a:t>
                </a:r>
                <a14:m>
                  <m:oMath xmlns:m="http://schemas.openxmlformats.org/officeDocument/2006/math">
                    <m:r>
                      <a:rPr kumimoji="1" lang="ja-JP" altLang="en-US" b="0" i="1" dirty="0">
                        <a:latin typeface="Cambria Math" panose="02040503050406030204" pitchFamily="18" charset="0"/>
                      </a:rPr>
                      <m:t>周波数を</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𝑅𝑋</m:t>
                        </m:r>
                      </m:sub>
                    </m:sSub>
                  </m:oMath>
                </a14:m>
                <a:r>
                  <a:rPr kumimoji="1" lang="ja-JP" altLang="en-US" dirty="0"/>
                  <a:t>と</a:t>
                </a:r>
                <a14:m>
                  <m:oMath xmlns:m="http://schemas.openxmlformats.org/officeDocument/2006/math">
                    <m:sSub>
                      <m:sSubPr>
                        <m:ctrlPr>
                          <a:rPr kumimoji="1" lang="en-US" altLang="ja-JP" i="1">
                            <a:latin typeface="Cambria Math" panose="02040503050406030204" pitchFamily="18" charset="0"/>
                          </a:rPr>
                        </m:ctrlPr>
                      </m:sSubPr>
                      <m:e>
                        <m:r>
                          <a:rPr kumimoji="1" lang="en-US" altLang="ja-JP" i="1">
                            <a:latin typeface="Cambria Math" panose="02040503050406030204" pitchFamily="18" charset="0"/>
                          </a:rPr>
                          <m:t>𝑓</m:t>
                        </m:r>
                      </m:e>
                      <m:sub>
                        <m:r>
                          <a:rPr kumimoji="1" lang="en-US" altLang="ja-JP" b="0" i="1" smtClean="0">
                            <a:latin typeface="Cambria Math" panose="02040503050406030204" pitchFamily="18" charset="0"/>
                          </a:rPr>
                          <m:t>𝐿𝑂</m:t>
                        </m:r>
                      </m:sub>
                    </m:sSub>
                  </m:oMath>
                </a14:m>
                <a:r>
                  <a:rPr kumimoji="1" lang="ja-JP" altLang="en-US" dirty="0"/>
                  <a:t>としたとき、二つの信号を混合</a:t>
                </a:r>
                <a:r>
                  <a:rPr kumimoji="1" lang="en-US" altLang="ja-JP" dirty="0"/>
                  <a:t>(</a:t>
                </a:r>
                <a:r>
                  <a:rPr kumimoji="1" lang="ja-JP" altLang="en-US" dirty="0"/>
                  <a:t>かけ合わせる</a:t>
                </a:r>
                <a:r>
                  <a:rPr kumimoji="1" lang="en-US" altLang="ja-JP" dirty="0"/>
                  <a:t>)</a:t>
                </a:r>
                <a:r>
                  <a:rPr kumimoji="1" lang="ja-JP" altLang="en-US" dirty="0"/>
                  <a:t>した際の出力</a:t>
                </a:r>
              </a:p>
            </p:txBody>
          </p:sp>
        </mc:Choice>
        <mc:Fallback xmlns="">
          <p:sp>
            <p:nvSpPr>
              <p:cNvPr id="5" name="テキスト ボックス 4">
                <a:extLst>
                  <a:ext uri="{FF2B5EF4-FFF2-40B4-BE49-F238E27FC236}">
                    <a16:creationId xmlns:a16="http://schemas.microsoft.com/office/drawing/2014/main" id="{08FE9DE5-2F3F-30EE-9C03-E6EB8F506A00}"/>
                  </a:ext>
                </a:extLst>
              </p:cNvPr>
              <p:cNvSpPr txBox="1">
                <a:spLocks noRot="1" noChangeAspect="1" noMove="1" noResize="1" noEditPoints="1" noAdjustHandles="1" noChangeArrowheads="1" noChangeShapeType="1" noTextEdit="1"/>
              </p:cNvSpPr>
              <p:nvPr/>
            </p:nvSpPr>
            <p:spPr>
              <a:xfrm>
                <a:off x="389965" y="1553252"/>
                <a:ext cx="8364070" cy="646395"/>
              </a:xfrm>
              <a:prstGeom prst="rect">
                <a:avLst/>
              </a:prstGeom>
              <a:blipFill>
                <a:blip r:embed="rId2"/>
                <a:stretch>
                  <a:fillRect l="-656" t="-3774" r="-510" b="-1509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1EAF02B2-31D8-F0E8-F355-026A0BFDA7AE}"/>
                  </a:ext>
                </a:extLst>
              </p:cNvPr>
              <p:cNvSpPr txBox="1"/>
              <p:nvPr/>
            </p:nvSpPr>
            <p:spPr>
              <a:xfrm>
                <a:off x="1976718" y="2530794"/>
                <a:ext cx="5190564" cy="332399"/>
              </a:xfrm>
              <a:prstGeom prst="rect">
                <a:avLst/>
              </a:prstGeom>
              <a:noFill/>
            </p:spPr>
            <p:txBody>
              <a:bodyPr wrap="square" lIns="0" tIns="0" rIns="0" bIns="0" rtlCol="0">
                <a:spAutoFit/>
              </a:bodyPr>
              <a:lstStyle/>
              <a:p>
                <a:pPr/>
                <a14:m>
                  <m:oMathPara xmlns:m="http://schemas.openxmlformats.org/officeDocument/2006/math">
                    <m:o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𝑓</m:t>
                          </m:r>
                        </m:e>
                        <m:sub>
                          <m:r>
                            <a:rPr kumimoji="1" lang="en-US" altLang="ja-JP" sz="2000" b="0" i="1" smtClean="0">
                              <a:latin typeface="Cambria Math" panose="02040503050406030204" pitchFamily="18" charset="0"/>
                            </a:rPr>
                            <m:t>𝑠𝑢𝑚</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𝑓</m:t>
                          </m:r>
                        </m:e>
                        <m:sub>
                          <m:r>
                            <a:rPr kumimoji="1" lang="en-US" altLang="ja-JP" sz="2000" b="0" i="1" smtClean="0">
                              <a:latin typeface="Cambria Math" panose="02040503050406030204" pitchFamily="18" charset="0"/>
                            </a:rPr>
                            <m:t>𝑅𝑋</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𝑓</m:t>
                          </m:r>
                        </m:e>
                        <m:sub>
                          <m:r>
                            <a:rPr kumimoji="1" lang="en-US" altLang="ja-JP" sz="2000" b="0" i="1" smtClean="0">
                              <a:latin typeface="Cambria Math" panose="02040503050406030204" pitchFamily="18" charset="0"/>
                            </a:rPr>
                            <m:t>𝐿𝑂</m:t>
                          </m:r>
                        </m:sub>
                      </m:sSub>
                      <m:r>
                        <a:rPr kumimoji="1" lang="en-US" altLang="ja-JP" sz="2000" b="0" i="1" smtClean="0">
                          <a:latin typeface="Cambria Math" panose="02040503050406030204" pitchFamily="18" charset="0"/>
                        </a:rPr>
                        <m:t>     ,       </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𝑓</m:t>
                          </m:r>
                        </m:e>
                        <m:sub>
                          <m:r>
                            <a:rPr kumimoji="1" lang="en-US" altLang="ja-JP" sz="2000" b="0" i="1" smtClean="0">
                              <a:latin typeface="Cambria Math" panose="02040503050406030204" pitchFamily="18" charset="0"/>
                            </a:rPr>
                            <m:t>𝑑𝑖𝑓𝑓</m:t>
                          </m:r>
                        </m:sub>
                      </m:sSub>
                      <m:r>
                        <a:rPr kumimoji="1" lang="en-US" altLang="ja-JP" sz="2000" b="0" i="1" smtClean="0">
                          <a:latin typeface="Cambria Math" panose="02040503050406030204" pitchFamily="18" charset="0"/>
                        </a:rPr>
                        <m:t>=</m:t>
                      </m:r>
                      <m:d>
                        <m:dPr>
                          <m:begChr m:val="|"/>
                          <m:endChr m:val="|"/>
                          <m:ctrlPr>
                            <a:rPr kumimoji="1" lang="en-US" altLang="ja-JP" sz="2000" b="0" i="1" smtClean="0">
                              <a:latin typeface="Cambria Math" panose="02040503050406030204" pitchFamily="18" charset="0"/>
                            </a:rPr>
                          </m:ctrlPr>
                        </m:dPr>
                        <m:e>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𝑓</m:t>
                              </m:r>
                            </m:e>
                            <m:sub>
                              <m:r>
                                <a:rPr kumimoji="1" lang="en-US" altLang="ja-JP" sz="2000" b="0" i="1" smtClean="0">
                                  <a:latin typeface="Cambria Math" panose="02040503050406030204" pitchFamily="18" charset="0"/>
                                </a:rPr>
                                <m:t>𝑅𝑋</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𝑓</m:t>
                              </m:r>
                            </m:e>
                            <m:sub>
                              <m:r>
                                <a:rPr kumimoji="1" lang="en-US" altLang="ja-JP" sz="2000" b="0" i="1" smtClean="0">
                                  <a:latin typeface="Cambria Math" panose="02040503050406030204" pitchFamily="18" charset="0"/>
                                </a:rPr>
                                <m:t>𝐿𝑂</m:t>
                              </m:r>
                            </m:sub>
                          </m:sSub>
                        </m:e>
                      </m:d>
                    </m:oMath>
                  </m:oMathPara>
                </a14:m>
                <a:endParaRPr kumimoji="1" lang="ja-JP" altLang="en-US" sz="2000" dirty="0"/>
              </a:p>
            </p:txBody>
          </p:sp>
        </mc:Choice>
        <mc:Fallback xmlns="">
          <p:sp>
            <p:nvSpPr>
              <p:cNvPr id="6" name="テキスト ボックス 5">
                <a:extLst>
                  <a:ext uri="{FF2B5EF4-FFF2-40B4-BE49-F238E27FC236}">
                    <a16:creationId xmlns:a16="http://schemas.microsoft.com/office/drawing/2014/main" id="{1EAF02B2-31D8-F0E8-F355-026A0BFDA7AE}"/>
                  </a:ext>
                </a:extLst>
              </p:cNvPr>
              <p:cNvSpPr txBox="1">
                <a:spLocks noRot="1" noChangeAspect="1" noMove="1" noResize="1" noEditPoints="1" noAdjustHandles="1" noChangeArrowheads="1" noChangeShapeType="1" noTextEdit="1"/>
              </p:cNvSpPr>
              <p:nvPr/>
            </p:nvSpPr>
            <p:spPr>
              <a:xfrm>
                <a:off x="1976718" y="2530794"/>
                <a:ext cx="5190564" cy="332399"/>
              </a:xfrm>
              <a:prstGeom prst="rect">
                <a:avLst/>
              </a:prstGeom>
              <a:blipFill>
                <a:blip r:embed="rId3"/>
                <a:stretch>
                  <a:fillRect l="-117" b="-23636"/>
                </a:stretch>
              </a:blipFill>
            </p:spPr>
            <p:txBody>
              <a:bodyPr/>
              <a:lstStyle/>
              <a:p>
                <a:r>
                  <a:rPr lang="ja-JP" altLang="en-US">
                    <a:noFill/>
                  </a:rPr>
                  <a:t> </a:t>
                </a:r>
              </a:p>
            </p:txBody>
          </p:sp>
        </mc:Fallback>
      </mc:AlternateContent>
      <p:sp>
        <p:nvSpPr>
          <p:cNvPr id="7" name="楕円 6">
            <a:extLst>
              <a:ext uri="{FF2B5EF4-FFF2-40B4-BE49-F238E27FC236}">
                <a16:creationId xmlns:a16="http://schemas.microsoft.com/office/drawing/2014/main" id="{9E536C62-9EFB-24F1-9697-AE177287F8EA}"/>
              </a:ext>
            </a:extLst>
          </p:cNvPr>
          <p:cNvSpPr/>
          <p:nvPr/>
        </p:nvSpPr>
        <p:spPr>
          <a:xfrm>
            <a:off x="4409782" y="2165912"/>
            <a:ext cx="3281083" cy="1075765"/>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0769FB6D-1E22-9619-CFBD-859FC6794C94}"/>
              </a:ext>
            </a:extLst>
          </p:cNvPr>
          <p:cNvSpPr/>
          <p:nvPr/>
        </p:nvSpPr>
        <p:spPr>
          <a:xfrm>
            <a:off x="726141" y="2509827"/>
            <a:ext cx="1011892" cy="3323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75856608-5C28-AC2B-144F-260D6BC8CD19}"/>
              </a:ext>
            </a:extLst>
          </p:cNvPr>
          <p:cNvSpPr txBox="1"/>
          <p:nvPr/>
        </p:nvSpPr>
        <p:spPr>
          <a:xfrm>
            <a:off x="5566410" y="3336391"/>
            <a:ext cx="3416225" cy="400110"/>
          </a:xfrm>
          <a:prstGeom prst="rect">
            <a:avLst/>
          </a:prstGeom>
          <a:noFill/>
        </p:spPr>
        <p:txBody>
          <a:bodyPr wrap="square" rtlCol="0">
            <a:spAutoFit/>
          </a:bodyPr>
          <a:lstStyle/>
          <a:p>
            <a:r>
              <a:rPr kumimoji="1" lang="en-US" altLang="ja-JP" sz="2000" b="1" dirty="0">
                <a:solidFill>
                  <a:schemeClr val="tx2"/>
                </a:solidFill>
              </a:rPr>
              <a:t>IF</a:t>
            </a:r>
            <a:r>
              <a:rPr kumimoji="1" lang="ja-JP" altLang="en-US" sz="2000" b="1" dirty="0">
                <a:solidFill>
                  <a:schemeClr val="tx2"/>
                </a:solidFill>
              </a:rPr>
              <a:t>信号</a:t>
            </a:r>
          </a:p>
        </p:txBody>
      </p:sp>
      <p:sp>
        <p:nvSpPr>
          <p:cNvPr id="11" name="テキスト ボックス 10">
            <a:extLst>
              <a:ext uri="{FF2B5EF4-FFF2-40B4-BE49-F238E27FC236}">
                <a16:creationId xmlns:a16="http://schemas.microsoft.com/office/drawing/2014/main" id="{F36B36D0-28EE-4E88-55BA-E58A5D055911}"/>
              </a:ext>
            </a:extLst>
          </p:cNvPr>
          <p:cNvSpPr txBox="1"/>
          <p:nvPr/>
        </p:nvSpPr>
        <p:spPr>
          <a:xfrm>
            <a:off x="1384192" y="4151776"/>
            <a:ext cx="7037027" cy="1200329"/>
          </a:xfrm>
          <a:prstGeom prst="rect">
            <a:avLst/>
          </a:prstGeom>
          <a:noFill/>
        </p:spPr>
        <p:txBody>
          <a:bodyPr wrap="square">
            <a:spAutoFit/>
          </a:bodyPr>
          <a:lstStyle/>
          <a:p>
            <a:pPr>
              <a:buNone/>
            </a:pPr>
            <a:r>
              <a:rPr lang="en-US" altLang="ja-JP" b="1" dirty="0"/>
              <a:t>IF</a:t>
            </a:r>
            <a:r>
              <a:rPr lang="ja-JP" altLang="en-US" b="1" dirty="0"/>
              <a:t>信号の特徴</a:t>
            </a:r>
            <a:endParaRPr lang="ja-JP" altLang="en-US" dirty="0"/>
          </a:p>
          <a:p>
            <a:pPr>
              <a:buFont typeface="Arial" panose="020B0604020202020204" pitchFamily="34" charset="0"/>
              <a:buChar char="•"/>
            </a:pPr>
            <a:r>
              <a:rPr lang="en-US" altLang="ja-JP" dirty="0"/>
              <a:t>RF</a:t>
            </a:r>
            <a:r>
              <a:rPr lang="ja-JP" altLang="en-US" dirty="0"/>
              <a:t>帯（数</a:t>
            </a:r>
            <a:r>
              <a:rPr lang="en-US" altLang="ja-JP" dirty="0"/>
              <a:t>GHz</a:t>
            </a:r>
            <a:r>
              <a:rPr lang="ja-JP" altLang="en-US" dirty="0"/>
              <a:t>）よりずっと低い（数十</a:t>
            </a:r>
            <a:r>
              <a:rPr lang="en-US" altLang="ja-JP" dirty="0"/>
              <a:t>MHz〜</a:t>
            </a:r>
            <a:r>
              <a:rPr lang="ja-JP" altLang="en-US" dirty="0"/>
              <a:t>数百</a:t>
            </a:r>
            <a:r>
              <a:rPr lang="en-US" altLang="ja-JP" dirty="0"/>
              <a:t>MHz</a:t>
            </a:r>
            <a:r>
              <a:rPr lang="ja-JP" altLang="en-US" dirty="0"/>
              <a:t>程度）</a:t>
            </a:r>
          </a:p>
          <a:p>
            <a:pPr>
              <a:buFont typeface="Arial" panose="020B0604020202020204" pitchFamily="34" charset="0"/>
              <a:buChar char="•"/>
            </a:pPr>
            <a:r>
              <a:rPr lang="ja-JP" altLang="en-US" dirty="0"/>
              <a:t>信号処理（増幅・フィルタリング・デジタル変換）が容易</a:t>
            </a:r>
          </a:p>
          <a:p>
            <a:pPr>
              <a:buFont typeface="Arial" panose="020B0604020202020204" pitchFamily="34" charset="0"/>
              <a:buChar char="•"/>
            </a:pPr>
            <a:r>
              <a:rPr lang="ja-JP" altLang="en-US" dirty="0"/>
              <a:t>信号の時間遅延やドップラーシフトなどの情報を保持している</a:t>
            </a:r>
          </a:p>
        </p:txBody>
      </p:sp>
      <p:sp>
        <p:nvSpPr>
          <p:cNvPr id="12" name="テキスト ボックス 11">
            <a:extLst>
              <a:ext uri="{FF2B5EF4-FFF2-40B4-BE49-F238E27FC236}">
                <a16:creationId xmlns:a16="http://schemas.microsoft.com/office/drawing/2014/main" id="{E8E06BFB-7107-E59A-EF53-679B8E24DD68}"/>
              </a:ext>
            </a:extLst>
          </p:cNvPr>
          <p:cNvSpPr txBox="1"/>
          <p:nvPr/>
        </p:nvSpPr>
        <p:spPr>
          <a:xfrm>
            <a:off x="2299278" y="5899711"/>
            <a:ext cx="4868003" cy="461665"/>
          </a:xfrm>
          <a:prstGeom prst="rect">
            <a:avLst/>
          </a:prstGeom>
          <a:solidFill>
            <a:schemeClr val="accent2">
              <a:lumMod val="20000"/>
              <a:lumOff val="80000"/>
            </a:schemeClr>
          </a:solidFill>
        </p:spPr>
        <p:txBody>
          <a:bodyPr wrap="square" rtlCol="0">
            <a:spAutoFit/>
          </a:bodyPr>
          <a:lstStyle/>
          <a:p>
            <a:r>
              <a:rPr kumimoji="1" lang="ja-JP" altLang="en-US" sz="2400" dirty="0"/>
              <a:t>二つの信号の周波数差分</a:t>
            </a:r>
            <a:r>
              <a:rPr kumimoji="1" lang="ja-JP" altLang="en-US" sz="2400"/>
              <a:t>のこと！</a:t>
            </a:r>
            <a:endParaRPr kumimoji="1" lang="ja-JP" altLang="en-US" sz="2400" dirty="0"/>
          </a:p>
        </p:txBody>
      </p:sp>
    </p:spTree>
    <p:extLst>
      <p:ext uri="{BB962C8B-B14F-4D97-AF65-F5344CB8AC3E}">
        <p14:creationId xmlns:p14="http://schemas.microsoft.com/office/powerpoint/2010/main" val="3705207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正方形/長方形 40">
            <a:extLst>
              <a:ext uri="{FF2B5EF4-FFF2-40B4-BE49-F238E27FC236}">
                <a16:creationId xmlns:a16="http://schemas.microsoft.com/office/drawing/2014/main" id="{0CF9E481-F3E7-DA84-483B-CCE4D4233869}"/>
              </a:ext>
            </a:extLst>
          </p:cNvPr>
          <p:cNvSpPr/>
          <p:nvPr/>
        </p:nvSpPr>
        <p:spPr>
          <a:xfrm>
            <a:off x="1438833" y="5760720"/>
            <a:ext cx="6324421" cy="758539"/>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7BA26FA0-DFA8-479F-C024-16611E168CCB}"/>
              </a:ext>
            </a:extLst>
          </p:cNvPr>
          <p:cNvSpPr>
            <a:spLocks noGrp="1"/>
          </p:cNvSpPr>
          <p:nvPr>
            <p:ph type="title"/>
          </p:nvPr>
        </p:nvSpPr>
        <p:spPr/>
        <p:txBody>
          <a:bodyPr/>
          <a:lstStyle/>
          <a:p>
            <a:r>
              <a:rPr lang="ja-JP" altLang="en-US" dirty="0"/>
              <a:t>レーダー原理</a:t>
            </a:r>
            <a:r>
              <a:rPr lang="en-US" altLang="ja-JP" dirty="0"/>
              <a:t>(2/4)</a:t>
            </a:r>
            <a:endParaRPr kumimoji="1" lang="ja-JP" altLang="en-US" dirty="0"/>
          </a:p>
        </p:txBody>
      </p:sp>
      <p:sp>
        <p:nvSpPr>
          <p:cNvPr id="3" name="コンテンツ プレースホルダー 2">
            <a:extLst>
              <a:ext uri="{FF2B5EF4-FFF2-40B4-BE49-F238E27FC236}">
                <a16:creationId xmlns:a16="http://schemas.microsoft.com/office/drawing/2014/main" id="{4A7E4CED-65CC-2622-C4F7-1C997A7F217C}"/>
              </a:ext>
            </a:extLst>
          </p:cNvPr>
          <p:cNvSpPr>
            <a:spLocks noGrp="1"/>
          </p:cNvSpPr>
          <p:nvPr>
            <p:ph idx="1"/>
          </p:nvPr>
        </p:nvSpPr>
        <p:spPr>
          <a:xfrm>
            <a:off x="628650" y="1083203"/>
            <a:ext cx="7886700" cy="4351338"/>
          </a:xfrm>
        </p:spPr>
        <p:txBody>
          <a:bodyPr/>
          <a:lstStyle/>
          <a:p>
            <a:r>
              <a:rPr lang="en-US" altLang="ja-JP" b="1" dirty="0"/>
              <a:t>FMCW</a:t>
            </a:r>
            <a:r>
              <a:rPr lang="ja-JP" altLang="en-US" b="1" dirty="0"/>
              <a:t>レーダー</a:t>
            </a:r>
            <a:endParaRPr kumimoji="1" lang="ja-JP" altLang="en-US" b="1" dirty="0"/>
          </a:p>
        </p:txBody>
      </p:sp>
      <p:sp>
        <p:nvSpPr>
          <p:cNvPr id="4" name="スライド番号プレースホルダー 3">
            <a:extLst>
              <a:ext uri="{FF2B5EF4-FFF2-40B4-BE49-F238E27FC236}">
                <a16:creationId xmlns:a16="http://schemas.microsoft.com/office/drawing/2014/main" id="{CFD67B79-4EC5-9515-3658-404BCEB2781C}"/>
              </a:ext>
            </a:extLst>
          </p:cNvPr>
          <p:cNvSpPr>
            <a:spLocks noGrp="1"/>
          </p:cNvSpPr>
          <p:nvPr>
            <p:ph type="sldNum" sz="quarter" idx="12"/>
          </p:nvPr>
        </p:nvSpPr>
        <p:spPr/>
        <p:txBody>
          <a:bodyPr/>
          <a:lstStyle/>
          <a:p>
            <a:fld id="{F4F93977-CC68-4F92-83A3-0276DC4D9982}" type="slidenum">
              <a:rPr kumimoji="1" lang="ja-JP" altLang="en-US" smtClean="0"/>
              <a:pPr/>
              <a:t>17</a:t>
            </a:fld>
            <a:endParaRPr kumimoji="1" lang="ja-JP" altLang="en-US" dirty="0"/>
          </a:p>
        </p:txBody>
      </p:sp>
      <p:sp>
        <p:nvSpPr>
          <p:cNvPr id="6" name="テキスト ボックス 5">
            <a:extLst>
              <a:ext uri="{FF2B5EF4-FFF2-40B4-BE49-F238E27FC236}">
                <a16:creationId xmlns:a16="http://schemas.microsoft.com/office/drawing/2014/main" id="{1450249E-77DD-9337-FE87-93A4F5E441BF}"/>
              </a:ext>
            </a:extLst>
          </p:cNvPr>
          <p:cNvSpPr txBox="1"/>
          <p:nvPr/>
        </p:nvSpPr>
        <p:spPr>
          <a:xfrm>
            <a:off x="766481" y="1582287"/>
            <a:ext cx="7748868" cy="707886"/>
          </a:xfrm>
          <a:prstGeom prst="rect">
            <a:avLst/>
          </a:prstGeom>
          <a:noFill/>
        </p:spPr>
        <p:txBody>
          <a:bodyPr wrap="square">
            <a:spAutoFit/>
          </a:bodyPr>
          <a:lstStyle/>
          <a:p>
            <a:r>
              <a:rPr lang="ja-JP" altLang="en-US" sz="2000" dirty="0"/>
              <a:t>周波数を時間的に線形変化させた電波（連続波）を送信し、反射波との周波数差から距離や速度を求める方式</a:t>
            </a:r>
          </a:p>
        </p:txBody>
      </p:sp>
      <p:cxnSp>
        <p:nvCxnSpPr>
          <p:cNvPr id="10" name="直線コネクタ 9">
            <a:extLst>
              <a:ext uri="{FF2B5EF4-FFF2-40B4-BE49-F238E27FC236}">
                <a16:creationId xmlns:a16="http://schemas.microsoft.com/office/drawing/2014/main" id="{AC4F51CB-8E40-190D-C1DD-E51216ED7DE8}"/>
              </a:ext>
            </a:extLst>
          </p:cNvPr>
          <p:cNvCxnSpPr>
            <a:cxnSpLocks/>
          </p:cNvCxnSpPr>
          <p:nvPr/>
        </p:nvCxnSpPr>
        <p:spPr>
          <a:xfrm flipV="1">
            <a:off x="871489" y="2550733"/>
            <a:ext cx="0" cy="2115396"/>
          </a:xfrm>
          <a:prstGeom prst="line">
            <a:avLst/>
          </a:prstGeom>
          <a:ln w="28575">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1" name="直線コネクタ 10">
            <a:extLst>
              <a:ext uri="{FF2B5EF4-FFF2-40B4-BE49-F238E27FC236}">
                <a16:creationId xmlns:a16="http://schemas.microsoft.com/office/drawing/2014/main" id="{CC2F618B-CD71-1C37-183C-A532C7364914}"/>
              </a:ext>
            </a:extLst>
          </p:cNvPr>
          <p:cNvCxnSpPr>
            <a:cxnSpLocks/>
          </p:cNvCxnSpPr>
          <p:nvPr/>
        </p:nvCxnSpPr>
        <p:spPr>
          <a:xfrm>
            <a:off x="871490" y="4666129"/>
            <a:ext cx="2510118" cy="0"/>
          </a:xfrm>
          <a:prstGeom prst="line">
            <a:avLst/>
          </a:prstGeom>
          <a:ln w="28575">
            <a:headEnd type="none" w="med" len="med"/>
            <a:tailEnd type="arrow" w="med" len="med"/>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DF74EB12-A3C0-719D-E746-DC04F96188EA}"/>
                  </a:ext>
                </a:extLst>
              </p:cNvPr>
              <p:cNvSpPr txBox="1"/>
              <p:nvPr/>
            </p:nvSpPr>
            <p:spPr>
              <a:xfrm>
                <a:off x="2731575" y="4614185"/>
                <a:ext cx="1889641" cy="369332"/>
              </a:xfrm>
              <a:prstGeom prst="rect">
                <a:avLst/>
              </a:prstGeom>
              <a:noFill/>
            </p:spPr>
            <p:txBody>
              <a:bodyPr wrap="square" rtlCol="0">
                <a:spAutoFit/>
              </a:bodyPr>
              <a:lstStyle/>
              <a:p>
                <a:pPr/>
                <a14:m>
                  <m:oMathPara xmlns:m="http://schemas.openxmlformats.org/officeDocument/2006/math">
                    <m:oMath>
                      <m:r>
                        <a:rPr kumimoji="1" lang="en-US" altLang="ja-JP" i="1" dirty="0" smtClean="0">
                          <a:latin typeface="Cambria Math" panose="02040503050406030204" pitchFamily="18" charset="0"/>
                        </a:rPr>
                        <m:t>𝑇</m:t>
                      </m:r>
                      <m:r>
                        <a:rPr kumimoji="1" lang="en-US" altLang="ja-JP" i="1" dirty="0" smtClean="0">
                          <a:latin typeface="Cambria Math" panose="02040503050406030204" pitchFamily="18" charset="0"/>
                        </a:rPr>
                        <m:t>(</m:t>
                      </m:r>
                      <m:r>
                        <a:rPr kumimoji="1" lang="en-US" altLang="ja-JP" i="1" dirty="0" smtClean="0">
                          <a:latin typeface="Cambria Math" panose="02040503050406030204" pitchFamily="18" charset="0"/>
                        </a:rPr>
                        <m:t>𝑠</m:t>
                      </m:r>
                      <m:r>
                        <a:rPr kumimoji="1" lang="en-US" altLang="ja-JP" i="1" dirty="0" smtClean="0">
                          <a:latin typeface="Cambria Math" panose="02040503050406030204" pitchFamily="18" charset="0"/>
                        </a:rPr>
                        <m:t>)</m:t>
                      </m:r>
                    </m:oMath>
                  </m:oMathPara>
                </a14:m>
                <a:endParaRPr/>
              </a:p>
            </p:txBody>
          </p:sp>
        </mc:Choice>
        <mc:Fallback xmlns="">
          <p:sp>
            <p:nvSpPr>
              <p:cNvPr id="15" name="テキスト ボックス 14">
                <a:extLst>
                  <a:ext uri="{FF2B5EF4-FFF2-40B4-BE49-F238E27FC236}">
                    <a16:creationId xmlns:a16="http://schemas.microsoft.com/office/drawing/2014/main" id="{DF74EB12-A3C0-719D-E746-DC04F96188EA}"/>
                  </a:ext>
                </a:extLst>
              </p:cNvPr>
              <p:cNvSpPr txBox="1">
                <a:spLocks noRot="1" noChangeAspect="1" noMove="1" noResize="1" noEditPoints="1" noAdjustHandles="1" noChangeArrowheads="1" noChangeShapeType="1" noTextEdit="1"/>
              </p:cNvSpPr>
              <p:nvPr/>
            </p:nvSpPr>
            <p:spPr>
              <a:xfrm>
                <a:off x="2731575" y="4614185"/>
                <a:ext cx="1889641" cy="369332"/>
              </a:xfrm>
              <a:prstGeom prst="rect">
                <a:avLst/>
              </a:prstGeom>
              <a:blipFill>
                <a:blip r:embed="rId2"/>
                <a:stretch>
                  <a:fillRect t="-11475" b="-2295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709DA767-5288-49C2-73E4-6104E1E6C69B}"/>
                  </a:ext>
                </a:extLst>
              </p:cNvPr>
              <p:cNvSpPr txBox="1"/>
              <p:nvPr/>
            </p:nvSpPr>
            <p:spPr>
              <a:xfrm>
                <a:off x="94128" y="2381781"/>
                <a:ext cx="1344705" cy="369332"/>
              </a:xfrm>
              <a:prstGeom prst="rect">
                <a:avLst/>
              </a:prstGeom>
              <a:noFill/>
            </p:spPr>
            <p:txBody>
              <a:bodyPr wrap="square" rtlCol="0">
                <a:spAutoFit/>
              </a:bodyPr>
              <a:lstStyle/>
              <a:p>
                <a14:m>
                  <m:oMath xmlns:m="http://schemas.openxmlformats.org/officeDocument/2006/math">
                    <m:r>
                      <a:rPr kumimoji="1" lang="en-US" altLang="ja-JP" i="1" dirty="0" smtClean="0">
                        <a:latin typeface="Cambria Math" panose="02040503050406030204" pitchFamily="18" charset="0"/>
                      </a:rPr>
                      <m:t>𝑓</m:t>
                    </m:r>
                  </m:oMath>
                </a14:m>
                <a:r>
                  <a:rPr kumimoji="1" lang="en-US" altLang="ja-JP" dirty="0"/>
                  <a:t>(Hz)</a:t>
                </a:r>
                <a:endParaRPr kumimoji="1" lang="ja-JP" altLang="en-US" dirty="0"/>
              </a:p>
            </p:txBody>
          </p:sp>
        </mc:Choice>
        <mc:Fallback xmlns="">
          <p:sp>
            <p:nvSpPr>
              <p:cNvPr id="16" name="テキスト ボックス 15">
                <a:extLst>
                  <a:ext uri="{FF2B5EF4-FFF2-40B4-BE49-F238E27FC236}">
                    <a16:creationId xmlns:a16="http://schemas.microsoft.com/office/drawing/2014/main" id="{709DA767-5288-49C2-73E4-6104E1E6C69B}"/>
                  </a:ext>
                </a:extLst>
              </p:cNvPr>
              <p:cNvSpPr txBox="1">
                <a:spLocks noRot="1" noChangeAspect="1" noMove="1" noResize="1" noEditPoints="1" noAdjustHandles="1" noChangeArrowheads="1" noChangeShapeType="1" noTextEdit="1"/>
              </p:cNvSpPr>
              <p:nvPr/>
            </p:nvSpPr>
            <p:spPr>
              <a:xfrm>
                <a:off x="94128" y="2381781"/>
                <a:ext cx="1344705" cy="369332"/>
              </a:xfrm>
              <a:prstGeom prst="rect">
                <a:avLst/>
              </a:prstGeom>
              <a:blipFill>
                <a:blip r:embed="rId3"/>
                <a:stretch>
                  <a:fillRect l="-1357" t="-6667" b="-30000"/>
                </a:stretch>
              </a:blipFill>
            </p:spPr>
            <p:txBody>
              <a:bodyPr/>
              <a:lstStyle/>
              <a:p>
                <a:r>
                  <a:rPr lang="ja-JP" altLang="en-US">
                    <a:noFill/>
                  </a:rPr>
                  <a:t> </a:t>
                </a:r>
              </a:p>
            </p:txBody>
          </p:sp>
        </mc:Fallback>
      </mc:AlternateContent>
      <p:cxnSp>
        <p:nvCxnSpPr>
          <p:cNvPr id="18" name="直線コネクタ 17">
            <a:extLst>
              <a:ext uri="{FF2B5EF4-FFF2-40B4-BE49-F238E27FC236}">
                <a16:creationId xmlns:a16="http://schemas.microsoft.com/office/drawing/2014/main" id="{E3F7E3BF-7184-14B3-229D-2E28C1FF15ED}"/>
              </a:ext>
            </a:extLst>
          </p:cNvPr>
          <p:cNvCxnSpPr/>
          <p:nvPr/>
        </p:nvCxnSpPr>
        <p:spPr>
          <a:xfrm flipV="1">
            <a:off x="871489" y="2735399"/>
            <a:ext cx="1427958" cy="193073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EF3B9685-4A12-AEB3-839C-7F8EC0234634}"/>
              </a:ext>
            </a:extLst>
          </p:cNvPr>
          <p:cNvCxnSpPr/>
          <p:nvPr/>
        </p:nvCxnSpPr>
        <p:spPr>
          <a:xfrm flipV="1">
            <a:off x="1598404" y="2720526"/>
            <a:ext cx="1427958" cy="1930730"/>
          </a:xfrm>
          <a:prstGeom prst="line">
            <a:avLst/>
          </a:prstGeom>
          <a:ln w="28575">
            <a:solidFill>
              <a:srgbClr val="0070C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D495FC2B-C4AC-4D1A-4929-DC14931C071D}"/>
                  </a:ext>
                </a:extLst>
              </p:cNvPr>
              <p:cNvSpPr txBox="1"/>
              <p:nvPr/>
            </p:nvSpPr>
            <p:spPr>
              <a:xfrm>
                <a:off x="1194550" y="2355884"/>
                <a:ext cx="1613343" cy="369332"/>
              </a:xfrm>
              <a:prstGeom prst="rect">
                <a:avLst/>
              </a:prstGeom>
              <a:noFill/>
            </p:spPr>
            <p:txBody>
              <a:bodyPr wrap="square" rtlCol="0">
                <a:spAutoFit/>
              </a:bodyPr>
              <a:lstStyle/>
              <a:p>
                <a:r>
                  <a:rPr kumimoji="1" lang="ja-JP" altLang="en-US" dirty="0">
                    <a:solidFill>
                      <a:srgbClr val="FF0000"/>
                    </a:solidFill>
                  </a:rPr>
                  <a:t>送信信号</a:t>
                </a:r>
                <a:r>
                  <a:rPr kumimoji="1" lang="en-US" altLang="ja-JP" dirty="0">
                    <a:solidFill>
                      <a:srgbClr val="FF0000"/>
                    </a:solidFill>
                  </a:rPr>
                  <a:t>:</a:t>
                </a:r>
                <a14:m>
                  <m:oMath xmlns:m="http://schemas.openxmlformats.org/officeDocument/2006/math">
                    <m:r>
                      <a:rPr kumimoji="1" lang="en-US" altLang="ja-JP" b="0" i="1" smtClean="0">
                        <a:solidFill>
                          <a:srgbClr val="FF0000"/>
                        </a:solidFill>
                        <a:latin typeface="Cambria Math" panose="02040503050406030204" pitchFamily="18" charset="0"/>
                      </a:rPr>
                      <m:t>𝑆𝑡</m:t>
                    </m:r>
                  </m:oMath>
                </a14:m>
                <a:endParaRPr kumimoji="1" lang="ja-JP" altLang="en-US" dirty="0">
                  <a:solidFill>
                    <a:srgbClr val="FF0000"/>
                  </a:solidFill>
                </a:endParaRPr>
              </a:p>
            </p:txBody>
          </p:sp>
        </mc:Choice>
        <mc:Fallback xmlns="">
          <p:sp>
            <p:nvSpPr>
              <p:cNvPr id="22" name="テキスト ボックス 21">
                <a:extLst>
                  <a:ext uri="{FF2B5EF4-FFF2-40B4-BE49-F238E27FC236}">
                    <a16:creationId xmlns:a16="http://schemas.microsoft.com/office/drawing/2014/main" id="{D495FC2B-C4AC-4D1A-4929-DC14931C071D}"/>
                  </a:ext>
                </a:extLst>
              </p:cNvPr>
              <p:cNvSpPr txBox="1">
                <a:spLocks noRot="1" noChangeAspect="1" noMove="1" noResize="1" noEditPoints="1" noAdjustHandles="1" noChangeArrowheads="1" noChangeShapeType="1" noTextEdit="1"/>
              </p:cNvSpPr>
              <p:nvPr/>
            </p:nvSpPr>
            <p:spPr>
              <a:xfrm>
                <a:off x="1194550" y="2355884"/>
                <a:ext cx="1613343" cy="369332"/>
              </a:xfrm>
              <a:prstGeom prst="rect">
                <a:avLst/>
              </a:prstGeom>
              <a:blipFill>
                <a:blip r:embed="rId4"/>
                <a:stretch>
                  <a:fillRect l="-3396" t="-4918" b="-27869"/>
                </a:stretch>
              </a:blipFill>
            </p:spPr>
            <p:txBody>
              <a:bodyPr/>
              <a:lstStyle/>
              <a:p>
                <a:r>
                  <a:rPr lang="ja-JP" altLang="en-US">
                    <a:noFill/>
                  </a:rPr>
                  <a:t> </a:t>
                </a:r>
              </a:p>
            </p:txBody>
          </p:sp>
        </mc:Fallback>
      </mc:AlternateContent>
      <p:sp>
        <p:nvSpPr>
          <p:cNvPr id="23" name="テキスト ボックス 22">
            <a:extLst>
              <a:ext uri="{FF2B5EF4-FFF2-40B4-BE49-F238E27FC236}">
                <a16:creationId xmlns:a16="http://schemas.microsoft.com/office/drawing/2014/main" id="{9C752CBE-F1F5-9E80-7107-9AF8986357E7}"/>
              </a:ext>
            </a:extLst>
          </p:cNvPr>
          <p:cNvSpPr txBox="1"/>
          <p:nvPr/>
        </p:nvSpPr>
        <p:spPr>
          <a:xfrm>
            <a:off x="2132927" y="3927466"/>
            <a:ext cx="1889642" cy="369332"/>
          </a:xfrm>
          <a:prstGeom prst="rect">
            <a:avLst/>
          </a:prstGeom>
          <a:noFill/>
        </p:spPr>
        <p:txBody>
          <a:bodyPr wrap="square" rtlCol="0">
            <a:spAutoFit/>
          </a:bodyPr>
          <a:lstStyle/>
          <a:p>
            <a:r>
              <a:rPr kumimoji="1" lang="ja-JP" altLang="en-US" dirty="0">
                <a:solidFill>
                  <a:schemeClr val="accent1"/>
                </a:solidFill>
              </a:rPr>
              <a:t>受信信号</a:t>
            </a:r>
            <a:r>
              <a:rPr kumimoji="1" lang="en-US" altLang="ja-JP" dirty="0">
                <a:solidFill>
                  <a:schemeClr val="accent1"/>
                </a:solidFill>
              </a:rPr>
              <a:t>(</a:t>
            </a:r>
            <a:r>
              <a:rPr kumimoji="1" lang="ja-JP" altLang="en-US" dirty="0">
                <a:solidFill>
                  <a:schemeClr val="accent1"/>
                </a:solidFill>
              </a:rPr>
              <a:t>反射</a:t>
            </a:r>
            <a:r>
              <a:rPr kumimoji="1" lang="en-US" altLang="ja-JP" dirty="0">
                <a:solidFill>
                  <a:schemeClr val="accent1"/>
                </a:solidFill>
              </a:rPr>
              <a:t>)</a:t>
            </a:r>
          </a:p>
        </p:txBody>
      </p:sp>
      <p:cxnSp>
        <p:nvCxnSpPr>
          <p:cNvPr id="25" name="直線矢印コネクタ 24">
            <a:extLst>
              <a:ext uri="{FF2B5EF4-FFF2-40B4-BE49-F238E27FC236}">
                <a16:creationId xmlns:a16="http://schemas.microsoft.com/office/drawing/2014/main" id="{60580C95-47B9-E126-4432-5257A0FF06AC}"/>
              </a:ext>
            </a:extLst>
          </p:cNvPr>
          <p:cNvCxnSpPr>
            <a:cxnSpLocks/>
          </p:cNvCxnSpPr>
          <p:nvPr/>
        </p:nvCxnSpPr>
        <p:spPr>
          <a:xfrm flipV="1">
            <a:off x="1719929" y="3594836"/>
            <a:ext cx="0" cy="815651"/>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C1041DE3-9B64-6D18-E9D8-AA356CE89C80}"/>
              </a:ext>
            </a:extLst>
          </p:cNvPr>
          <p:cNvCxnSpPr>
            <a:cxnSpLocks/>
          </p:cNvCxnSpPr>
          <p:nvPr/>
        </p:nvCxnSpPr>
        <p:spPr>
          <a:xfrm flipV="1">
            <a:off x="1579000" y="3700764"/>
            <a:ext cx="19404" cy="123325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DE6A38C1-E204-9C32-2E7C-411C8EDD29CB}"/>
                  </a:ext>
                </a:extLst>
              </p:cNvPr>
              <p:cNvSpPr txBox="1"/>
              <p:nvPr/>
            </p:nvSpPr>
            <p:spPr>
              <a:xfrm>
                <a:off x="5671654" y="2807469"/>
                <a:ext cx="1332112" cy="369332"/>
              </a:xfrm>
              <a:prstGeom prst="rect">
                <a:avLst/>
              </a:prstGeom>
              <a:noFill/>
            </p:spPr>
            <p:txBody>
              <a:bodyPr wrap="square" rtlCol="0">
                <a:spAutoFit/>
              </a:bodyPr>
              <a:lstStyle/>
              <a:p>
                <a:pPr/>
                <a14:m>
                  <m:oMathPara xmlns:m="http://schemas.openxmlformats.org/officeDocument/2006/math">
                    <m:oMath>
                      <m:sSub>
                        <m:sSubPr>
                          <m:ctrlPr>
                            <a:rPr kumimoji="1" lang="en-US" altLang="ja-JP" i="1">
                              <a:latin typeface="Cambria Math" panose="02040503050406030204" pitchFamily="18" charset="0"/>
                            </a:rPr>
                          </m:ctrlPr>
                        </m:sSubPr>
                        <m:e>
                          <m:r>
                            <a:rPr kumimoji="1" lang="en-US" altLang="ja-JP" i="1">
                              <a:latin typeface="Cambria Math" panose="02040503050406030204" pitchFamily="18" charset="0"/>
                            </a:rPr>
                            <m:t>𝑓</m:t>
                          </m:r>
                        </m:e>
                        <m:sub>
                          <m:r>
                            <a:rPr kumimoji="1" lang="en-US" altLang="ja-JP" i="1">
                              <a:latin typeface="Cambria Math" panose="02040503050406030204" pitchFamily="18" charset="0"/>
                            </a:rPr>
                            <m:t>𝑏</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𝑆𝑇</m:t>
                      </m:r>
                    </m:oMath>
                  </m:oMathPara>
                </a14:m>
                <a:endParaRPr kumimoji="1" lang="ja-JP" altLang="en-US" dirty="0"/>
              </a:p>
            </p:txBody>
          </p:sp>
        </mc:Choice>
        <mc:Fallback xmlns="">
          <p:sp>
            <p:nvSpPr>
              <p:cNvPr id="36" name="テキスト ボックス 35">
                <a:extLst>
                  <a:ext uri="{FF2B5EF4-FFF2-40B4-BE49-F238E27FC236}">
                    <a16:creationId xmlns:a16="http://schemas.microsoft.com/office/drawing/2014/main" id="{DE6A38C1-E204-9C32-2E7C-411C8EDD29CB}"/>
                  </a:ext>
                </a:extLst>
              </p:cNvPr>
              <p:cNvSpPr txBox="1">
                <a:spLocks noRot="1" noChangeAspect="1" noMove="1" noResize="1" noEditPoints="1" noAdjustHandles="1" noChangeArrowheads="1" noChangeShapeType="1" noTextEdit="1"/>
              </p:cNvSpPr>
              <p:nvPr/>
            </p:nvSpPr>
            <p:spPr>
              <a:xfrm>
                <a:off x="5671654" y="2807469"/>
                <a:ext cx="1332112" cy="369332"/>
              </a:xfrm>
              <a:prstGeom prst="rect">
                <a:avLst/>
              </a:prstGeom>
              <a:blipFill>
                <a:blip r:embed="rId5"/>
                <a:stretch>
                  <a:fillRect b="-10000"/>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95033D83-199C-8E3C-E2E9-4C52E572AAA0}"/>
              </a:ext>
            </a:extLst>
          </p:cNvPr>
          <p:cNvSpPr txBox="1"/>
          <p:nvPr/>
        </p:nvSpPr>
        <p:spPr>
          <a:xfrm>
            <a:off x="508627" y="5048952"/>
            <a:ext cx="1889641" cy="369332"/>
          </a:xfrm>
          <a:prstGeom prst="rect">
            <a:avLst/>
          </a:prstGeom>
          <a:noFill/>
        </p:spPr>
        <p:txBody>
          <a:bodyPr wrap="square" rtlCol="0">
            <a:spAutoFit/>
          </a:bodyPr>
          <a:lstStyle/>
          <a:p>
            <a:r>
              <a:rPr kumimoji="1" lang="en-US" altLang="ja-JP" dirty="0"/>
              <a:t>T(</a:t>
            </a:r>
            <a:r>
              <a:rPr kumimoji="1" lang="ja-JP" altLang="en-US" dirty="0"/>
              <a:t>遅延時間</a:t>
            </a:r>
            <a:r>
              <a:rPr kumimoji="1" lang="en-US" altLang="ja-JP" dirty="0"/>
              <a:t>)</a:t>
            </a:r>
            <a:endParaRPr kumimoji="1" lang="ja-JP" altLang="en-US" dirty="0"/>
          </a:p>
        </p:txBody>
      </p:sp>
      <p:cxnSp>
        <p:nvCxnSpPr>
          <p:cNvPr id="9" name="直線矢印コネクタ 8">
            <a:extLst>
              <a:ext uri="{FF2B5EF4-FFF2-40B4-BE49-F238E27FC236}">
                <a16:creationId xmlns:a16="http://schemas.microsoft.com/office/drawing/2014/main" id="{77B32190-9CAD-C9A1-EE62-1D835D439417}"/>
              </a:ext>
            </a:extLst>
          </p:cNvPr>
          <p:cNvCxnSpPr>
            <a:cxnSpLocks/>
          </p:cNvCxnSpPr>
          <p:nvPr/>
        </p:nvCxnSpPr>
        <p:spPr>
          <a:xfrm flipH="1">
            <a:off x="871489" y="4865669"/>
            <a:ext cx="646123" cy="0"/>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3A732F19-4EE5-85DA-A98C-CDC66359A9A1}"/>
                  </a:ext>
                </a:extLst>
              </p:cNvPr>
              <p:cNvSpPr txBox="1"/>
              <p:nvPr/>
            </p:nvSpPr>
            <p:spPr>
              <a:xfrm>
                <a:off x="4318436" y="2473615"/>
                <a:ext cx="3838011" cy="369332"/>
              </a:xfrm>
              <a:prstGeom prst="rect">
                <a:avLst/>
              </a:prstGeom>
              <a:noFill/>
            </p:spPr>
            <p:txBody>
              <a:bodyPr wrap="square" rtlCol="0">
                <a:spAutoFit/>
              </a:bodyPr>
              <a:lstStyle/>
              <a:p>
                <a:r>
                  <a:rPr kumimoji="1" lang="en-US" altLang="ja-JP" dirty="0"/>
                  <a:t>IF</a:t>
                </a:r>
                <a:r>
                  <a:rPr kumimoji="1" lang="ja-JP" altLang="en-US" dirty="0"/>
                  <a:t>信号</a:t>
                </a:r>
                <a:r>
                  <a:rPr kumimoji="1" lang="en-US" altLang="ja-JP" dirty="0"/>
                  <a:t>=  </a:t>
                </a:r>
                <a:r>
                  <a:rPr kumimoji="1" lang="ja-JP" altLang="en-US" dirty="0">
                    <a:solidFill>
                      <a:srgbClr val="FF0000"/>
                    </a:solidFill>
                  </a:rPr>
                  <a:t>送信信号</a:t>
                </a:r>
                <a:r>
                  <a:rPr kumimoji="1" lang="en-US" altLang="ja-JP" dirty="0"/>
                  <a:t>-</a:t>
                </a:r>
                <a:r>
                  <a:rPr kumimoji="1" lang="ja-JP" altLang="en-US" dirty="0">
                    <a:solidFill>
                      <a:schemeClr val="accent1"/>
                    </a:solidFill>
                  </a:rPr>
                  <a:t>受信信号 </a:t>
                </a:r>
                <a:r>
                  <a:rPr kumimoji="1" lang="en-US" altLang="ja-JP" dirty="0"/>
                  <a:t>=</a:t>
                </a:r>
                <a14:m>
                  <m:oMath xmlns:m="http://schemas.openxmlformats.org/officeDocument/2006/math">
                    <m:sSub>
                      <m:sSubPr>
                        <m:ctrlPr>
                          <a:rPr kumimoji="1" lang="en-US" altLang="ja-JP" i="1">
                            <a:latin typeface="Cambria Math" panose="02040503050406030204" pitchFamily="18" charset="0"/>
                          </a:rPr>
                        </m:ctrlPr>
                      </m:sSubPr>
                      <m:e>
                        <m:r>
                          <a:rPr kumimoji="1" lang="en-US" altLang="ja-JP" i="1">
                            <a:latin typeface="Cambria Math" panose="02040503050406030204" pitchFamily="18" charset="0"/>
                          </a:rPr>
                          <m:t>𝑓</m:t>
                        </m:r>
                      </m:e>
                      <m:sub>
                        <m:r>
                          <a:rPr kumimoji="1" lang="en-US" altLang="ja-JP" i="1">
                            <a:latin typeface="Cambria Math" panose="02040503050406030204" pitchFamily="18" charset="0"/>
                          </a:rPr>
                          <m:t>𝑏</m:t>
                        </m:r>
                      </m:sub>
                    </m:sSub>
                  </m:oMath>
                </a14:m>
                <a:r>
                  <a:rPr kumimoji="1" lang="en-US" altLang="ja-JP" dirty="0"/>
                  <a:t> </a:t>
                </a:r>
                <a:endParaRPr kumimoji="1" lang="ja-JP" altLang="en-US" dirty="0">
                  <a:solidFill>
                    <a:schemeClr val="accent1"/>
                  </a:solidFill>
                </a:endParaRPr>
              </a:p>
            </p:txBody>
          </p:sp>
        </mc:Choice>
        <mc:Fallback xmlns="">
          <p:sp>
            <p:nvSpPr>
              <p:cNvPr id="17" name="テキスト ボックス 16">
                <a:extLst>
                  <a:ext uri="{FF2B5EF4-FFF2-40B4-BE49-F238E27FC236}">
                    <a16:creationId xmlns:a16="http://schemas.microsoft.com/office/drawing/2014/main" id="{3A732F19-4EE5-85DA-A98C-CDC66359A9A1}"/>
                  </a:ext>
                </a:extLst>
              </p:cNvPr>
              <p:cNvSpPr txBox="1">
                <a:spLocks noRot="1" noChangeAspect="1" noMove="1" noResize="1" noEditPoints="1" noAdjustHandles="1" noChangeArrowheads="1" noChangeShapeType="1" noTextEdit="1"/>
              </p:cNvSpPr>
              <p:nvPr/>
            </p:nvSpPr>
            <p:spPr>
              <a:xfrm>
                <a:off x="4318436" y="2473615"/>
                <a:ext cx="3838011" cy="369332"/>
              </a:xfrm>
              <a:prstGeom prst="rect">
                <a:avLst/>
              </a:prstGeom>
              <a:blipFill>
                <a:blip r:embed="rId6"/>
                <a:stretch>
                  <a:fillRect l="-1270" t="-6667" b="-30000"/>
                </a:stretch>
              </a:blipFill>
            </p:spPr>
            <p:txBody>
              <a:bodyPr/>
              <a:lstStyle/>
              <a:p>
                <a:r>
                  <a:rPr lang="ja-JP" altLang="en-US">
                    <a:noFill/>
                  </a:rPr>
                  <a:t> </a:t>
                </a:r>
              </a:p>
            </p:txBody>
          </p:sp>
        </mc:Fallback>
      </mc:AlternateContent>
      <p:sp>
        <p:nvSpPr>
          <p:cNvPr id="20" name="テキスト ボックス 19">
            <a:extLst>
              <a:ext uri="{FF2B5EF4-FFF2-40B4-BE49-F238E27FC236}">
                <a16:creationId xmlns:a16="http://schemas.microsoft.com/office/drawing/2014/main" id="{2A179A27-9593-B131-A621-CA688EA9B183}"/>
              </a:ext>
            </a:extLst>
          </p:cNvPr>
          <p:cNvSpPr txBox="1"/>
          <p:nvPr/>
        </p:nvSpPr>
        <p:spPr>
          <a:xfrm>
            <a:off x="4280403" y="3225504"/>
            <a:ext cx="4817572" cy="369332"/>
          </a:xfrm>
          <a:prstGeom prst="rect">
            <a:avLst/>
          </a:prstGeom>
          <a:noFill/>
        </p:spPr>
        <p:txBody>
          <a:bodyPr wrap="square" rtlCol="0">
            <a:spAutoFit/>
          </a:bodyPr>
          <a:lstStyle/>
          <a:p>
            <a:r>
              <a:rPr kumimoji="1" lang="ja-JP" altLang="en-US" dirty="0"/>
              <a:t>電波が</a:t>
            </a:r>
            <a:r>
              <a:rPr kumimoji="1" lang="en-US" altLang="ja-JP" dirty="0"/>
              <a:t>T</a:t>
            </a:r>
            <a:r>
              <a:rPr kumimoji="1" lang="ja-JP" altLang="en-US" dirty="0"/>
              <a:t>秒で物体間キョリ</a:t>
            </a:r>
            <a:r>
              <a:rPr kumimoji="1" lang="en-US" altLang="ja-JP" dirty="0"/>
              <a:t>R</a:t>
            </a:r>
            <a:r>
              <a:rPr kumimoji="1" lang="ja-JP" altLang="en-US" dirty="0"/>
              <a:t>を往復したので、</a:t>
            </a:r>
          </a:p>
        </p:txBody>
      </p:sp>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DDEBB746-ABAF-00F8-3B94-53CD34C5DCC3}"/>
                  </a:ext>
                </a:extLst>
              </p:cNvPr>
              <p:cNvSpPr txBox="1"/>
              <p:nvPr/>
            </p:nvSpPr>
            <p:spPr>
              <a:xfrm>
                <a:off x="1686203" y="3658530"/>
                <a:ext cx="525444" cy="369397"/>
              </a:xfrm>
              <a:prstGeom prst="rect">
                <a:avLst/>
              </a:prstGeom>
              <a:noFill/>
            </p:spPr>
            <p:txBody>
              <a:bodyPr wrap="square" rtlCol="0">
                <a:spAutoFit/>
              </a:bodyPr>
              <a:lstStyle/>
              <a:p>
                <a:pPr/>
                <a14:m>
                  <m:oMathPara xmlns:m="http://schemas.openxmlformats.org/officeDocument/2006/math">
                    <m:o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𝑏</m:t>
                          </m:r>
                        </m:sub>
                      </m:sSub>
                    </m:oMath>
                  </m:oMathPara>
                </a14:m>
                <a:endParaRPr kumimoji="1" lang="ja-JP" altLang="en-US" dirty="0"/>
              </a:p>
            </p:txBody>
          </p:sp>
        </mc:Choice>
        <mc:Fallback xmlns="">
          <p:sp>
            <p:nvSpPr>
              <p:cNvPr id="24" name="テキスト ボックス 23">
                <a:extLst>
                  <a:ext uri="{FF2B5EF4-FFF2-40B4-BE49-F238E27FC236}">
                    <a16:creationId xmlns:a16="http://schemas.microsoft.com/office/drawing/2014/main" id="{DDEBB746-ABAF-00F8-3B94-53CD34C5DCC3}"/>
                  </a:ext>
                </a:extLst>
              </p:cNvPr>
              <p:cNvSpPr txBox="1">
                <a:spLocks noRot="1" noChangeAspect="1" noMove="1" noResize="1" noEditPoints="1" noAdjustHandles="1" noChangeArrowheads="1" noChangeShapeType="1" noTextEdit="1"/>
              </p:cNvSpPr>
              <p:nvPr/>
            </p:nvSpPr>
            <p:spPr>
              <a:xfrm>
                <a:off x="1686203" y="3658530"/>
                <a:ext cx="525444" cy="369397"/>
              </a:xfrm>
              <a:prstGeom prst="rect">
                <a:avLst/>
              </a:prstGeom>
              <a:blipFill>
                <a:blip r:embed="rId7"/>
                <a:stretch>
                  <a:fillRect b="-983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D6FBF6D6-8E66-D65B-6604-17C00A72BE94}"/>
                  </a:ext>
                </a:extLst>
              </p:cNvPr>
              <p:cNvSpPr txBox="1"/>
              <p:nvPr/>
            </p:nvSpPr>
            <p:spPr>
              <a:xfrm>
                <a:off x="4823217" y="3637372"/>
                <a:ext cx="2843784" cy="886076"/>
              </a:xfrm>
              <a:prstGeom prst="rect">
                <a:avLst/>
              </a:prstGeom>
              <a:noFill/>
            </p:spPr>
            <p:txBody>
              <a:bodyPr wrap="square" rtlCol="0">
                <a:spAutoFit/>
              </a:bodyPr>
              <a:lstStyle/>
              <a:p>
                <a:pPr/>
                <a14:m>
                  <m:oMathPara xmlns:m="http://schemas.openxmlformats.org/officeDocument/2006/math">
                    <m:oMath>
                      <m:r>
                        <a:rPr kumimoji="1" lang="en-US" altLang="ja-JP" b="0" i="1" smtClean="0">
                          <a:latin typeface="Cambria Math" panose="02040503050406030204" pitchFamily="18" charset="0"/>
                        </a:rPr>
                        <m:t>𝑅</m:t>
                      </m:r>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𝑐</m:t>
                          </m:r>
                          <m:r>
                            <a:rPr kumimoji="1" lang="en-US" altLang="ja-JP" i="1">
                              <a:latin typeface="Cambria Math" panose="02040503050406030204" pitchFamily="18" charset="0"/>
                            </a:rPr>
                            <m:t>×</m:t>
                          </m:r>
                          <m:r>
                            <a:rPr kumimoji="1" lang="en-US" altLang="ja-JP" b="0" i="1" smtClean="0">
                              <a:latin typeface="Cambria Math" panose="02040503050406030204" pitchFamily="18" charset="0"/>
                            </a:rPr>
                            <m:t>𝑇</m:t>
                          </m:r>
                        </m:num>
                        <m:den>
                          <m:r>
                            <a:rPr kumimoji="1" lang="en-US" altLang="ja-JP" b="0" i="1" smtClean="0">
                              <a:latin typeface="Cambria Math" panose="02040503050406030204" pitchFamily="18" charset="0"/>
                            </a:rPr>
                            <m:t>2</m:t>
                          </m:r>
                        </m:den>
                      </m:f>
                    </m:oMath>
                  </m:oMathPara>
                </a14:m>
                <a:endParaRPr kumimoji="1" lang="en-US" altLang="ja-JP" b="0" dirty="0"/>
              </a:p>
              <a:p>
                <a:endParaRPr kumimoji="1" lang="ja-JP" altLang="en-US" dirty="0"/>
              </a:p>
            </p:txBody>
          </p:sp>
        </mc:Choice>
        <mc:Fallback xmlns="">
          <p:sp>
            <p:nvSpPr>
              <p:cNvPr id="26" name="テキスト ボックス 25">
                <a:extLst>
                  <a:ext uri="{FF2B5EF4-FFF2-40B4-BE49-F238E27FC236}">
                    <a16:creationId xmlns:a16="http://schemas.microsoft.com/office/drawing/2014/main" id="{D6FBF6D6-8E66-D65B-6604-17C00A72BE94}"/>
                  </a:ext>
                </a:extLst>
              </p:cNvPr>
              <p:cNvSpPr txBox="1">
                <a:spLocks noRot="1" noChangeAspect="1" noMove="1" noResize="1" noEditPoints="1" noAdjustHandles="1" noChangeArrowheads="1" noChangeShapeType="1" noTextEdit="1"/>
              </p:cNvSpPr>
              <p:nvPr/>
            </p:nvSpPr>
            <p:spPr>
              <a:xfrm>
                <a:off x="4823217" y="3637372"/>
                <a:ext cx="2843784" cy="886076"/>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9B5DE872-9F36-5674-B51B-7A78B2D85DFD}"/>
                  </a:ext>
                </a:extLst>
              </p:cNvPr>
              <p:cNvSpPr txBox="1"/>
              <p:nvPr/>
            </p:nvSpPr>
            <p:spPr>
              <a:xfrm>
                <a:off x="3964900" y="4477427"/>
                <a:ext cx="4581144" cy="618952"/>
              </a:xfrm>
              <a:prstGeom prst="rect">
                <a:avLst/>
              </a:prstGeom>
              <a:noFill/>
            </p:spPr>
            <p:txBody>
              <a:bodyPr wrap="square">
                <a:spAutoFit/>
              </a:bodyPr>
              <a:lstStyle/>
              <a:p>
                <a:pPr/>
                <a14:m>
                  <m:oMathPara xmlns:m="http://schemas.openxmlformats.org/officeDocument/2006/math">
                    <m:oMath>
                      <m:r>
                        <a:rPr kumimoji="1" lang="en-US" altLang="ja-JP" b="0" i="1" smtClean="0">
                          <a:latin typeface="Cambria Math" panose="02040503050406030204" pitchFamily="18" charset="0"/>
                        </a:rPr>
                        <m:t>𝑅</m:t>
                      </m:r>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𝑐</m:t>
                          </m:r>
                          <m:r>
                            <a:rPr kumimoji="1" lang="en-US" altLang="ja-JP" i="1">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𝑏</m:t>
                              </m:r>
                            </m:sub>
                          </m:sSub>
                        </m:num>
                        <m:den>
                          <m:r>
                            <a:rPr kumimoji="1" lang="en-US" altLang="ja-JP" b="0" i="1" smtClean="0">
                              <a:latin typeface="Cambria Math" panose="02040503050406030204" pitchFamily="18" charset="0"/>
                            </a:rPr>
                            <m:t>2</m:t>
                          </m:r>
                          <m:r>
                            <a:rPr kumimoji="1" lang="en-US" altLang="ja-JP" b="0" i="1" smtClean="0">
                              <a:latin typeface="Cambria Math" panose="02040503050406030204" pitchFamily="18" charset="0"/>
                            </a:rPr>
                            <m:t>𝑆</m:t>
                          </m:r>
                        </m:den>
                      </m:f>
                    </m:oMath>
                  </m:oMathPara>
                </a14:m>
                <a:endParaRPr kumimoji="1" lang="en-US" altLang="ja-JP" b="0" dirty="0"/>
              </a:p>
            </p:txBody>
          </p:sp>
        </mc:Choice>
        <mc:Fallback xmlns="">
          <p:sp>
            <p:nvSpPr>
              <p:cNvPr id="30" name="テキスト ボックス 29">
                <a:extLst>
                  <a:ext uri="{FF2B5EF4-FFF2-40B4-BE49-F238E27FC236}">
                    <a16:creationId xmlns:a16="http://schemas.microsoft.com/office/drawing/2014/main" id="{9B5DE872-9F36-5674-B51B-7A78B2D85DFD}"/>
                  </a:ext>
                </a:extLst>
              </p:cNvPr>
              <p:cNvSpPr txBox="1">
                <a:spLocks noRot="1" noChangeAspect="1" noMove="1" noResize="1" noEditPoints="1" noAdjustHandles="1" noChangeArrowheads="1" noChangeShapeType="1" noTextEdit="1"/>
              </p:cNvSpPr>
              <p:nvPr/>
            </p:nvSpPr>
            <p:spPr>
              <a:xfrm>
                <a:off x="3964900" y="4477427"/>
                <a:ext cx="4581144" cy="618952"/>
              </a:xfrm>
              <a:prstGeom prst="rect">
                <a:avLst/>
              </a:prstGeom>
              <a:blipFill>
                <a:blip r:embed="rId9"/>
                <a:stretch>
                  <a:fillRect/>
                </a:stretch>
              </a:blipFill>
            </p:spPr>
            <p:txBody>
              <a:bodyPr/>
              <a:lstStyle/>
              <a:p>
                <a:r>
                  <a:rPr lang="ja-JP" altLang="en-US">
                    <a:noFill/>
                  </a:rPr>
                  <a:t> </a:t>
                </a:r>
              </a:p>
            </p:txBody>
          </p:sp>
        </mc:Fallback>
      </mc:AlternateContent>
      <p:sp>
        <p:nvSpPr>
          <p:cNvPr id="31" name="テキスト ボックス 30">
            <a:extLst>
              <a:ext uri="{FF2B5EF4-FFF2-40B4-BE49-F238E27FC236}">
                <a16:creationId xmlns:a16="http://schemas.microsoft.com/office/drawing/2014/main" id="{46D837BD-49A2-0B8D-77E8-E93A44BA22D4}"/>
              </a:ext>
            </a:extLst>
          </p:cNvPr>
          <p:cNvSpPr txBox="1"/>
          <p:nvPr/>
        </p:nvSpPr>
        <p:spPr>
          <a:xfrm>
            <a:off x="4318436" y="4120271"/>
            <a:ext cx="1114557" cy="369332"/>
          </a:xfrm>
          <a:prstGeom prst="rect">
            <a:avLst/>
          </a:prstGeom>
          <a:noFill/>
        </p:spPr>
        <p:txBody>
          <a:bodyPr wrap="square" rtlCol="0">
            <a:spAutoFit/>
          </a:bodyPr>
          <a:lstStyle/>
          <a:p>
            <a:r>
              <a:rPr kumimoji="1" lang="ja-JP" altLang="en-US" dirty="0"/>
              <a:t>よって</a:t>
            </a:r>
          </a:p>
        </p:txBody>
      </p:sp>
      <p:cxnSp>
        <p:nvCxnSpPr>
          <p:cNvPr id="34" name="直線コネクタ 33">
            <a:extLst>
              <a:ext uri="{FF2B5EF4-FFF2-40B4-BE49-F238E27FC236}">
                <a16:creationId xmlns:a16="http://schemas.microsoft.com/office/drawing/2014/main" id="{578619D5-34E3-E511-E48B-0DEF22DA21FA}"/>
              </a:ext>
            </a:extLst>
          </p:cNvPr>
          <p:cNvCxnSpPr>
            <a:cxnSpLocks/>
          </p:cNvCxnSpPr>
          <p:nvPr/>
        </p:nvCxnSpPr>
        <p:spPr>
          <a:xfrm>
            <a:off x="4142232" y="2290173"/>
            <a:ext cx="0" cy="330595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8" name="テキスト ボックス 37">
            <a:extLst>
              <a:ext uri="{FF2B5EF4-FFF2-40B4-BE49-F238E27FC236}">
                <a16:creationId xmlns:a16="http://schemas.microsoft.com/office/drawing/2014/main" id="{AD67FF4F-B2B5-6CA8-34FA-148E91ED3955}"/>
              </a:ext>
            </a:extLst>
          </p:cNvPr>
          <p:cNvSpPr txBox="1"/>
          <p:nvPr/>
        </p:nvSpPr>
        <p:spPr>
          <a:xfrm>
            <a:off x="1594630" y="5970513"/>
            <a:ext cx="2292604" cy="369332"/>
          </a:xfrm>
          <a:prstGeom prst="rect">
            <a:avLst/>
          </a:prstGeom>
          <a:noFill/>
        </p:spPr>
        <p:txBody>
          <a:bodyPr wrap="square" rtlCol="0">
            <a:spAutoFit/>
          </a:bodyPr>
          <a:lstStyle/>
          <a:p>
            <a:r>
              <a:rPr kumimoji="1" lang="en-US" altLang="ja-JP" dirty="0"/>
              <a:t>IF</a:t>
            </a:r>
            <a:r>
              <a:rPr kumimoji="1" lang="ja-JP" altLang="en-US" dirty="0"/>
              <a:t>信号の</a:t>
            </a:r>
            <a:r>
              <a:rPr kumimoji="1" lang="ja-JP" altLang="en-US" b="1" dirty="0"/>
              <a:t>周波数</a:t>
            </a:r>
            <a:r>
              <a:rPr kumimoji="1" lang="ja-JP" altLang="en-US" dirty="0"/>
              <a:t>成分</a:t>
            </a:r>
          </a:p>
        </p:txBody>
      </p:sp>
      <p:sp>
        <p:nvSpPr>
          <p:cNvPr id="39" name="矢印: 左右 38">
            <a:extLst>
              <a:ext uri="{FF2B5EF4-FFF2-40B4-BE49-F238E27FC236}">
                <a16:creationId xmlns:a16="http://schemas.microsoft.com/office/drawing/2014/main" id="{12ADD2F7-8720-1A71-D16A-3FC0AA6A6D2C}"/>
              </a:ext>
            </a:extLst>
          </p:cNvPr>
          <p:cNvSpPr/>
          <p:nvPr/>
        </p:nvSpPr>
        <p:spPr>
          <a:xfrm>
            <a:off x="3907002" y="5985723"/>
            <a:ext cx="732310" cy="276132"/>
          </a:xfrm>
          <a:prstGeom prst="lef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D188B0D5-5D0E-FC2D-BD7E-E2378AB2ACBF}"/>
              </a:ext>
            </a:extLst>
          </p:cNvPr>
          <p:cNvSpPr txBox="1"/>
          <p:nvPr/>
        </p:nvSpPr>
        <p:spPr>
          <a:xfrm>
            <a:off x="4639312" y="5972173"/>
            <a:ext cx="3396796" cy="369332"/>
          </a:xfrm>
          <a:prstGeom prst="rect">
            <a:avLst/>
          </a:prstGeom>
          <a:noFill/>
        </p:spPr>
        <p:txBody>
          <a:bodyPr wrap="square" rtlCol="0">
            <a:spAutoFit/>
          </a:bodyPr>
          <a:lstStyle/>
          <a:p>
            <a:r>
              <a:rPr kumimoji="1" lang="ja-JP" altLang="en-US" dirty="0"/>
              <a:t>ターゲットまでの</a:t>
            </a:r>
            <a:r>
              <a:rPr kumimoji="1" lang="ja-JP" altLang="en-US" b="1" dirty="0"/>
              <a:t>キョリ</a:t>
            </a:r>
            <a:r>
              <a:rPr kumimoji="1" lang="ja-JP" altLang="en-US" dirty="0"/>
              <a:t>情報</a:t>
            </a:r>
          </a:p>
        </p:txBody>
      </p:sp>
    </p:spTree>
    <p:extLst>
      <p:ext uri="{BB962C8B-B14F-4D97-AF65-F5344CB8AC3E}">
        <p14:creationId xmlns:p14="http://schemas.microsoft.com/office/powerpoint/2010/main" val="374750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17" grpId="0"/>
      <p:bldP spid="20" grpId="0"/>
      <p:bldP spid="26" grpId="0"/>
      <p:bldP spid="30" grpId="0"/>
      <p:bldP spid="3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5B48C4-F3A2-F32E-13AB-0777EBBBE36F}"/>
              </a:ext>
            </a:extLst>
          </p:cNvPr>
          <p:cNvSpPr>
            <a:spLocks noGrp="1"/>
          </p:cNvSpPr>
          <p:nvPr>
            <p:ph type="title"/>
          </p:nvPr>
        </p:nvSpPr>
        <p:spPr/>
        <p:txBody>
          <a:bodyPr/>
          <a:lstStyle/>
          <a:p>
            <a:r>
              <a:rPr lang="ja-JP" altLang="en-US" dirty="0"/>
              <a:t>レーダー原理</a:t>
            </a:r>
            <a:r>
              <a:rPr lang="en-US" altLang="ja-JP" dirty="0"/>
              <a:t>(3/4)</a:t>
            </a:r>
            <a:endParaRPr kumimoji="1" lang="ja-JP" altLang="en-US" dirty="0"/>
          </a:p>
        </p:txBody>
      </p:sp>
      <p:sp>
        <p:nvSpPr>
          <p:cNvPr id="4" name="スライド番号プレースホルダー 3">
            <a:extLst>
              <a:ext uri="{FF2B5EF4-FFF2-40B4-BE49-F238E27FC236}">
                <a16:creationId xmlns:a16="http://schemas.microsoft.com/office/drawing/2014/main" id="{A3DC8C47-D83F-E96F-15ED-F6F3944E2A56}"/>
              </a:ext>
            </a:extLst>
          </p:cNvPr>
          <p:cNvSpPr>
            <a:spLocks noGrp="1"/>
          </p:cNvSpPr>
          <p:nvPr>
            <p:ph type="sldNum" sz="quarter" idx="12"/>
          </p:nvPr>
        </p:nvSpPr>
        <p:spPr/>
        <p:txBody>
          <a:bodyPr/>
          <a:lstStyle/>
          <a:p>
            <a:fld id="{F4F93977-CC68-4F92-83A3-0276DC4D9982}" type="slidenum">
              <a:rPr kumimoji="1" lang="ja-JP" altLang="en-US" smtClean="0"/>
              <a:pPr/>
              <a:t>18</a:t>
            </a:fld>
            <a:endParaRPr kumimoji="1" lang="ja-JP" altLang="en-US" dirty="0"/>
          </a:p>
        </p:txBody>
      </p:sp>
      <p:sp>
        <p:nvSpPr>
          <p:cNvPr id="5" name="テキスト ボックス 4">
            <a:extLst>
              <a:ext uri="{FF2B5EF4-FFF2-40B4-BE49-F238E27FC236}">
                <a16:creationId xmlns:a16="http://schemas.microsoft.com/office/drawing/2014/main" id="{E698C252-C14C-3A79-3C68-4D6676143568}"/>
              </a:ext>
            </a:extLst>
          </p:cNvPr>
          <p:cNvSpPr txBox="1"/>
          <p:nvPr/>
        </p:nvSpPr>
        <p:spPr>
          <a:xfrm>
            <a:off x="638494" y="847916"/>
            <a:ext cx="6256082" cy="369332"/>
          </a:xfrm>
          <a:prstGeom prst="rect">
            <a:avLst/>
          </a:prstGeom>
          <a:noFill/>
        </p:spPr>
        <p:txBody>
          <a:bodyPr wrap="square" rtlCol="0">
            <a:spAutoFit/>
          </a:bodyPr>
          <a:lstStyle/>
          <a:p>
            <a:r>
              <a:rPr kumimoji="1" lang="ja-JP" altLang="en-US" dirty="0"/>
              <a:t>ただ一本のアンテナだと一次元のキョリしかわからない</a:t>
            </a:r>
            <a:r>
              <a:rPr kumimoji="1" lang="en-US" altLang="ja-JP" dirty="0"/>
              <a:t>. . . </a:t>
            </a:r>
            <a:endParaRPr kumimoji="1" lang="ja-JP" altLang="en-US" dirty="0"/>
          </a:p>
        </p:txBody>
      </p:sp>
      <p:sp>
        <p:nvSpPr>
          <p:cNvPr id="6" name="二等辺三角形 5">
            <a:extLst>
              <a:ext uri="{FF2B5EF4-FFF2-40B4-BE49-F238E27FC236}">
                <a16:creationId xmlns:a16="http://schemas.microsoft.com/office/drawing/2014/main" id="{7B035446-CD65-820B-9033-8CC162F02085}"/>
              </a:ext>
            </a:extLst>
          </p:cNvPr>
          <p:cNvSpPr/>
          <p:nvPr/>
        </p:nvSpPr>
        <p:spPr>
          <a:xfrm rot="10800000">
            <a:off x="1871844" y="2839399"/>
            <a:ext cx="438912" cy="603504"/>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D7C6938A-1B39-C198-B511-D894DD8C029F}"/>
              </a:ext>
            </a:extLst>
          </p:cNvPr>
          <p:cNvCxnSpPr>
            <a:cxnSpLocks/>
            <a:stCxn id="6" idx="3"/>
          </p:cNvCxnSpPr>
          <p:nvPr/>
        </p:nvCxnSpPr>
        <p:spPr>
          <a:xfrm>
            <a:off x="2091300" y="2839399"/>
            <a:ext cx="0" cy="99015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CC24794E-DAF6-4648-F620-C4B6B3DAF729}"/>
              </a:ext>
            </a:extLst>
          </p:cNvPr>
          <p:cNvCxnSpPr>
            <a:cxnSpLocks/>
            <a:stCxn id="6" idx="4"/>
          </p:cNvCxnSpPr>
          <p:nvPr/>
        </p:nvCxnSpPr>
        <p:spPr>
          <a:xfrm flipH="1" flipV="1">
            <a:off x="875148" y="1650679"/>
            <a:ext cx="996696" cy="1188720"/>
          </a:xfrm>
          <a:prstGeom prst="line">
            <a:avLst/>
          </a:prstGeom>
          <a:ln>
            <a:solidFill>
              <a:schemeClr val="accent1"/>
            </a:solidFill>
          </a:ln>
        </p:spPr>
        <p:style>
          <a:lnRef idx="2">
            <a:schemeClr val="dk1"/>
          </a:lnRef>
          <a:fillRef idx="0">
            <a:schemeClr val="dk1"/>
          </a:fillRef>
          <a:effectRef idx="1">
            <a:schemeClr val="dk1"/>
          </a:effectRef>
          <a:fontRef idx="minor">
            <a:schemeClr val="tx1"/>
          </a:fontRef>
        </p:style>
      </p:cxnSp>
      <p:cxnSp>
        <p:nvCxnSpPr>
          <p:cNvPr id="14" name="直線コネクタ 13">
            <a:extLst>
              <a:ext uri="{FF2B5EF4-FFF2-40B4-BE49-F238E27FC236}">
                <a16:creationId xmlns:a16="http://schemas.microsoft.com/office/drawing/2014/main" id="{C989EC79-6F77-DA52-198C-4833524055FA}"/>
              </a:ext>
            </a:extLst>
          </p:cNvPr>
          <p:cNvCxnSpPr>
            <a:cxnSpLocks/>
            <a:stCxn id="6" idx="2"/>
          </p:cNvCxnSpPr>
          <p:nvPr/>
        </p:nvCxnSpPr>
        <p:spPr>
          <a:xfrm flipV="1">
            <a:off x="2310756" y="1650679"/>
            <a:ext cx="996697" cy="1188720"/>
          </a:xfrm>
          <a:prstGeom prst="line">
            <a:avLst/>
          </a:prstGeom>
          <a:ln>
            <a:solidFill>
              <a:schemeClr val="accent1"/>
            </a:solidFill>
          </a:ln>
        </p:spPr>
        <p:style>
          <a:lnRef idx="2">
            <a:schemeClr val="dk1"/>
          </a:lnRef>
          <a:fillRef idx="0">
            <a:schemeClr val="dk1"/>
          </a:fillRef>
          <a:effectRef idx="1">
            <a:schemeClr val="dk1"/>
          </a:effectRef>
          <a:fontRef idx="minor">
            <a:schemeClr val="tx1"/>
          </a:fontRef>
        </p:style>
      </p:cxnSp>
      <p:sp>
        <p:nvSpPr>
          <p:cNvPr id="18" name="円弧 17">
            <a:extLst>
              <a:ext uri="{FF2B5EF4-FFF2-40B4-BE49-F238E27FC236}">
                <a16:creationId xmlns:a16="http://schemas.microsoft.com/office/drawing/2014/main" id="{B6249F49-A7C7-ED4D-91D6-6E18CEF547B8}"/>
              </a:ext>
            </a:extLst>
          </p:cNvPr>
          <p:cNvSpPr/>
          <p:nvPr/>
        </p:nvSpPr>
        <p:spPr>
          <a:xfrm rot="10800000" flipV="1">
            <a:off x="867094" y="1404887"/>
            <a:ext cx="2432305" cy="563853"/>
          </a:xfrm>
          <a:prstGeom prst="arc">
            <a:avLst>
              <a:gd name="adj1" fmla="val 10892891"/>
              <a:gd name="adj2" fmla="val 21491762"/>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9" name="フローチャート: 結合子 18">
            <a:extLst>
              <a:ext uri="{FF2B5EF4-FFF2-40B4-BE49-F238E27FC236}">
                <a16:creationId xmlns:a16="http://schemas.microsoft.com/office/drawing/2014/main" id="{09033C2B-55CC-013B-37EE-D50C10DD0F23}"/>
              </a:ext>
            </a:extLst>
          </p:cNvPr>
          <p:cNvSpPr/>
          <p:nvPr/>
        </p:nvSpPr>
        <p:spPr>
          <a:xfrm>
            <a:off x="1611240" y="1292385"/>
            <a:ext cx="260604" cy="251165"/>
          </a:xfrm>
          <a:prstGeom prst="flowChartConnector">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フローチャート: 結合子 19">
            <a:extLst>
              <a:ext uri="{FF2B5EF4-FFF2-40B4-BE49-F238E27FC236}">
                <a16:creationId xmlns:a16="http://schemas.microsoft.com/office/drawing/2014/main" id="{79A814CA-65AA-84FE-C8F7-FFB609973274}"/>
              </a:ext>
            </a:extLst>
          </p:cNvPr>
          <p:cNvSpPr/>
          <p:nvPr/>
        </p:nvSpPr>
        <p:spPr>
          <a:xfrm>
            <a:off x="2920574" y="1417361"/>
            <a:ext cx="260604" cy="251165"/>
          </a:xfrm>
          <a:prstGeom prst="flowChartConnector">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90434DE1-38D6-B4BF-04A9-211BFE19A671}"/>
              </a:ext>
            </a:extLst>
          </p:cNvPr>
          <p:cNvSpPr txBox="1"/>
          <p:nvPr/>
        </p:nvSpPr>
        <p:spPr>
          <a:xfrm>
            <a:off x="246993" y="2611173"/>
            <a:ext cx="1514266" cy="369332"/>
          </a:xfrm>
          <a:prstGeom prst="rect">
            <a:avLst/>
          </a:prstGeom>
          <a:noFill/>
        </p:spPr>
        <p:txBody>
          <a:bodyPr wrap="square" rtlCol="0">
            <a:spAutoFit/>
          </a:bodyPr>
          <a:lstStyle/>
          <a:p>
            <a:r>
              <a:rPr kumimoji="1" lang="ja-JP" altLang="en-US" dirty="0">
                <a:solidFill>
                  <a:schemeClr val="accent1"/>
                </a:solidFill>
              </a:rPr>
              <a:t>キョリ</a:t>
            </a:r>
            <a:r>
              <a:rPr kumimoji="1" lang="en-US" altLang="ja-JP" dirty="0">
                <a:solidFill>
                  <a:schemeClr val="accent1"/>
                </a:solidFill>
              </a:rPr>
              <a:t>R</a:t>
            </a:r>
            <a:endParaRPr kumimoji="1" lang="ja-JP" altLang="en-US" dirty="0">
              <a:solidFill>
                <a:schemeClr val="accent1"/>
              </a:solidFill>
            </a:endParaRPr>
          </a:p>
        </p:txBody>
      </p:sp>
      <p:cxnSp>
        <p:nvCxnSpPr>
          <p:cNvPr id="23" name="直線コネクタ 22">
            <a:extLst>
              <a:ext uri="{FF2B5EF4-FFF2-40B4-BE49-F238E27FC236}">
                <a16:creationId xmlns:a16="http://schemas.microsoft.com/office/drawing/2014/main" id="{9F6641BA-E918-B1BC-9772-BF067E2E8017}"/>
              </a:ext>
            </a:extLst>
          </p:cNvPr>
          <p:cNvCxnSpPr>
            <a:cxnSpLocks/>
            <a:stCxn id="18" idx="2"/>
          </p:cNvCxnSpPr>
          <p:nvPr/>
        </p:nvCxnSpPr>
        <p:spPr>
          <a:xfrm flipH="1">
            <a:off x="82296" y="1648859"/>
            <a:ext cx="795869" cy="59618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25" name="直線コネクタ 24">
            <a:extLst>
              <a:ext uri="{FF2B5EF4-FFF2-40B4-BE49-F238E27FC236}">
                <a16:creationId xmlns:a16="http://schemas.microsoft.com/office/drawing/2014/main" id="{D1858EC4-5A90-14BC-937D-4C826B7B51C8}"/>
              </a:ext>
            </a:extLst>
          </p:cNvPr>
          <p:cNvCxnSpPr>
            <a:cxnSpLocks/>
          </p:cNvCxnSpPr>
          <p:nvPr/>
        </p:nvCxnSpPr>
        <p:spPr>
          <a:xfrm flipH="1">
            <a:off x="1075975" y="2846724"/>
            <a:ext cx="795869" cy="59618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CD02AE74-919A-9B50-1277-AB9FC4B6BE1C}"/>
              </a:ext>
            </a:extLst>
          </p:cNvPr>
          <p:cNvCxnSpPr>
            <a:cxnSpLocks/>
          </p:cNvCxnSpPr>
          <p:nvPr/>
        </p:nvCxnSpPr>
        <p:spPr>
          <a:xfrm>
            <a:off x="661543" y="1902576"/>
            <a:ext cx="854195" cy="112881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1" name="矢印: 右 30">
            <a:extLst>
              <a:ext uri="{FF2B5EF4-FFF2-40B4-BE49-F238E27FC236}">
                <a16:creationId xmlns:a16="http://schemas.microsoft.com/office/drawing/2014/main" id="{E1800FB0-4490-1C68-E266-9187E1334A21}"/>
              </a:ext>
            </a:extLst>
          </p:cNvPr>
          <p:cNvSpPr/>
          <p:nvPr/>
        </p:nvSpPr>
        <p:spPr>
          <a:xfrm>
            <a:off x="3729167" y="2099806"/>
            <a:ext cx="842833" cy="369332"/>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BCD26361-E14B-2090-CAF7-374D40294A30}"/>
              </a:ext>
            </a:extLst>
          </p:cNvPr>
          <p:cNvSpPr txBox="1"/>
          <p:nvPr/>
        </p:nvSpPr>
        <p:spPr>
          <a:xfrm>
            <a:off x="1283219" y="1560624"/>
            <a:ext cx="1140903" cy="369332"/>
          </a:xfrm>
          <a:prstGeom prst="rect">
            <a:avLst/>
          </a:prstGeom>
          <a:noFill/>
        </p:spPr>
        <p:txBody>
          <a:bodyPr wrap="square" rtlCol="0">
            <a:spAutoFit/>
          </a:bodyPr>
          <a:lstStyle/>
          <a:p>
            <a:r>
              <a:rPr kumimoji="1" lang="ja-JP" altLang="en-US" dirty="0">
                <a:solidFill>
                  <a:srgbClr val="FF0000"/>
                </a:solidFill>
              </a:rPr>
              <a:t>物体</a:t>
            </a:r>
            <a:r>
              <a:rPr kumimoji="1" lang="en-US" altLang="ja-JP" dirty="0">
                <a:solidFill>
                  <a:srgbClr val="FF0000"/>
                </a:solidFill>
              </a:rPr>
              <a:t>A</a:t>
            </a:r>
            <a:endParaRPr kumimoji="1" lang="ja-JP" altLang="en-US" dirty="0">
              <a:solidFill>
                <a:srgbClr val="FF0000"/>
              </a:solidFill>
            </a:endParaRPr>
          </a:p>
        </p:txBody>
      </p:sp>
      <p:sp>
        <p:nvSpPr>
          <p:cNvPr id="33" name="テキスト ボックス 32">
            <a:extLst>
              <a:ext uri="{FF2B5EF4-FFF2-40B4-BE49-F238E27FC236}">
                <a16:creationId xmlns:a16="http://schemas.microsoft.com/office/drawing/2014/main" id="{DFF2A613-44C7-5C17-1D89-4E26E11423E6}"/>
              </a:ext>
            </a:extLst>
          </p:cNvPr>
          <p:cNvSpPr txBox="1"/>
          <p:nvPr/>
        </p:nvSpPr>
        <p:spPr>
          <a:xfrm>
            <a:off x="2276898" y="1683094"/>
            <a:ext cx="1140903" cy="369332"/>
          </a:xfrm>
          <a:prstGeom prst="rect">
            <a:avLst/>
          </a:prstGeom>
          <a:noFill/>
        </p:spPr>
        <p:txBody>
          <a:bodyPr wrap="square" rtlCol="0">
            <a:spAutoFit/>
          </a:bodyPr>
          <a:lstStyle/>
          <a:p>
            <a:r>
              <a:rPr kumimoji="1" lang="ja-JP" altLang="en-US" dirty="0">
                <a:solidFill>
                  <a:schemeClr val="accent6"/>
                </a:solidFill>
              </a:rPr>
              <a:t>物体</a:t>
            </a:r>
            <a:r>
              <a:rPr kumimoji="1" lang="en-US" altLang="ja-JP" dirty="0">
                <a:solidFill>
                  <a:schemeClr val="accent6"/>
                </a:solidFill>
              </a:rPr>
              <a:t>B</a:t>
            </a:r>
            <a:endParaRPr kumimoji="1" lang="ja-JP" altLang="en-US" dirty="0">
              <a:solidFill>
                <a:schemeClr val="accent6"/>
              </a:solidFill>
            </a:endParaRPr>
          </a:p>
        </p:txBody>
      </p:sp>
      <p:sp>
        <p:nvSpPr>
          <p:cNvPr id="38" name="テキスト ボックス 37">
            <a:extLst>
              <a:ext uri="{FF2B5EF4-FFF2-40B4-BE49-F238E27FC236}">
                <a16:creationId xmlns:a16="http://schemas.microsoft.com/office/drawing/2014/main" id="{9D9480ED-2106-92CE-FDAE-5047DC857A5E}"/>
              </a:ext>
            </a:extLst>
          </p:cNvPr>
          <p:cNvSpPr txBox="1"/>
          <p:nvPr/>
        </p:nvSpPr>
        <p:spPr>
          <a:xfrm>
            <a:off x="2131345" y="3401344"/>
            <a:ext cx="1388925" cy="369332"/>
          </a:xfrm>
          <a:prstGeom prst="rect">
            <a:avLst/>
          </a:prstGeom>
          <a:noFill/>
        </p:spPr>
        <p:txBody>
          <a:bodyPr wrap="square" rtlCol="0">
            <a:spAutoFit/>
          </a:bodyPr>
          <a:lstStyle/>
          <a:p>
            <a:r>
              <a:rPr kumimoji="1" lang="ja-JP" altLang="en-US" dirty="0"/>
              <a:t>アンテナ</a:t>
            </a:r>
          </a:p>
        </p:txBody>
      </p:sp>
      <p:sp>
        <p:nvSpPr>
          <p:cNvPr id="39" name="テキスト ボックス 38">
            <a:extLst>
              <a:ext uri="{FF2B5EF4-FFF2-40B4-BE49-F238E27FC236}">
                <a16:creationId xmlns:a16="http://schemas.microsoft.com/office/drawing/2014/main" id="{0CC53B02-C539-BD1F-9A51-0E5863B87773}"/>
              </a:ext>
            </a:extLst>
          </p:cNvPr>
          <p:cNvSpPr txBox="1"/>
          <p:nvPr/>
        </p:nvSpPr>
        <p:spPr>
          <a:xfrm>
            <a:off x="4734220" y="1986130"/>
            <a:ext cx="3394250" cy="646331"/>
          </a:xfrm>
          <a:prstGeom prst="rect">
            <a:avLst/>
          </a:prstGeom>
          <a:noFill/>
        </p:spPr>
        <p:txBody>
          <a:bodyPr wrap="square" rtlCol="0">
            <a:spAutoFit/>
          </a:bodyPr>
          <a:lstStyle/>
          <a:p>
            <a:r>
              <a:rPr kumimoji="1" lang="ja-JP" altLang="en-US" dirty="0"/>
              <a:t>等距離に複数物体があるとき、分離できない</a:t>
            </a:r>
          </a:p>
        </p:txBody>
      </p:sp>
      <p:cxnSp>
        <p:nvCxnSpPr>
          <p:cNvPr id="41" name="直線コネクタ 40">
            <a:extLst>
              <a:ext uri="{FF2B5EF4-FFF2-40B4-BE49-F238E27FC236}">
                <a16:creationId xmlns:a16="http://schemas.microsoft.com/office/drawing/2014/main" id="{816846F6-E3CE-523E-69B0-BDDC9386A1C4}"/>
              </a:ext>
            </a:extLst>
          </p:cNvPr>
          <p:cNvCxnSpPr>
            <a:cxnSpLocks/>
          </p:cNvCxnSpPr>
          <p:nvPr/>
        </p:nvCxnSpPr>
        <p:spPr>
          <a:xfrm>
            <a:off x="3113" y="3959352"/>
            <a:ext cx="92506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二等辺三角形 44">
            <a:extLst>
              <a:ext uri="{FF2B5EF4-FFF2-40B4-BE49-F238E27FC236}">
                <a16:creationId xmlns:a16="http://schemas.microsoft.com/office/drawing/2014/main" id="{32E8A28E-EF67-7743-45A7-FE4126F6E772}"/>
              </a:ext>
            </a:extLst>
          </p:cNvPr>
          <p:cNvSpPr/>
          <p:nvPr/>
        </p:nvSpPr>
        <p:spPr>
          <a:xfrm rot="10800000">
            <a:off x="1322347" y="5581504"/>
            <a:ext cx="438912" cy="603504"/>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直線コネクタ 45">
            <a:extLst>
              <a:ext uri="{FF2B5EF4-FFF2-40B4-BE49-F238E27FC236}">
                <a16:creationId xmlns:a16="http://schemas.microsoft.com/office/drawing/2014/main" id="{7B9F09A3-5C8D-FDE0-9306-887E53415626}"/>
              </a:ext>
            </a:extLst>
          </p:cNvPr>
          <p:cNvCxnSpPr>
            <a:cxnSpLocks/>
            <a:stCxn id="45" idx="3"/>
          </p:cNvCxnSpPr>
          <p:nvPr/>
        </p:nvCxnSpPr>
        <p:spPr>
          <a:xfrm>
            <a:off x="1541803" y="5581504"/>
            <a:ext cx="0" cy="99015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7" name="二等辺三角形 46">
            <a:extLst>
              <a:ext uri="{FF2B5EF4-FFF2-40B4-BE49-F238E27FC236}">
                <a16:creationId xmlns:a16="http://schemas.microsoft.com/office/drawing/2014/main" id="{8448712B-3BB9-A9E7-001D-D34C4668B8E4}"/>
              </a:ext>
            </a:extLst>
          </p:cNvPr>
          <p:cNvSpPr/>
          <p:nvPr/>
        </p:nvSpPr>
        <p:spPr>
          <a:xfrm rot="10800000">
            <a:off x="2579612" y="5583579"/>
            <a:ext cx="438912" cy="603504"/>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8" name="直線コネクタ 47">
            <a:extLst>
              <a:ext uri="{FF2B5EF4-FFF2-40B4-BE49-F238E27FC236}">
                <a16:creationId xmlns:a16="http://schemas.microsoft.com/office/drawing/2014/main" id="{91A65F8B-57DB-2F08-9C68-34277316B47B}"/>
              </a:ext>
            </a:extLst>
          </p:cNvPr>
          <p:cNvCxnSpPr>
            <a:cxnSpLocks/>
            <a:stCxn id="47" idx="3"/>
          </p:cNvCxnSpPr>
          <p:nvPr/>
        </p:nvCxnSpPr>
        <p:spPr>
          <a:xfrm>
            <a:off x="2799068" y="5583579"/>
            <a:ext cx="0" cy="99015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直線コネクタ 48">
            <a:extLst>
              <a:ext uri="{FF2B5EF4-FFF2-40B4-BE49-F238E27FC236}">
                <a16:creationId xmlns:a16="http://schemas.microsoft.com/office/drawing/2014/main" id="{817FF639-DDAD-28AA-6010-A226481F40CF}"/>
              </a:ext>
            </a:extLst>
          </p:cNvPr>
          <p:cNvCxnSpPr>
            <a:cxnSpLocks/>
          </p:cNvCxnSpPr>
          <p:nvPr/>
        </p:nvCxnSpPr>
        <p:spPr>
          <a:xfrm flipH="1" flipV="1">
            <a:off x="572835" y="4392783"/>
            <a:ext cx="996696" cy="1188720"/>
          </a:xfrm>
          <a:prstGeom prst="line">
            <a:avLst/>
          </a:prstGeom>
          <a:ln>
            <a:solidFill>
              <a:schemeClr val="accent1"/>
            </a:solidFill>
            <a:headEnd type="triangle" w="med" len="med"/>
            <a:tailEnd type="none" w="med" len="med"/>
          </a:ln>
        </p:spPr>
        <p:style>
          <a:lnRef idx="2">
            <a:schemeClr val="dk1"/>
          </a:lnRef>
          <a:fillRef idx="0">
            <a:schemeClr val="dk1"/>
          </a:fillRef>
          <a:effectRef idx="1">
            <a:schemeClr val="dk1"/>
          </a:effectRef>
          <a:fontRef idx="minor">
            <a:schemeClr val="tx1"/>
          </a:fontRef>
        </p:style>
      </p:cxnSp>
      <p:cxnSp>
        <p:nvCxnSpPr>
          <p:cNvPr id="50" name="直線コネクタ 49">
            <a:extLst>
              <a:ext uri="{FF2B5EF4-FFF2-40B4-BE49-F238E27FC236}">
                <a16:creationId xmlns:a16="http://schemas.microsoft.com/office/drawing/2014/main" id="{B404930E-D903-D564-701A-E41F824355F7}"/>
              </a:ext>
            </a:extLst>
          </p:cNvPr>
          <p:cNvCxnSpPr>
            <a:cxnSpLocks/>
          </p:cNvCxnSpPr>
          <p:nvPr/>
        </p:nvCxnSpPr>
        <p:spPr>
          <a:xfrm flipH="1" flipV="1">
            <a:off x="1812408" y="4376895"/>
            <a:ext cx="996696" cy="1188720"/>
          </a:xfrm>
          <a:prstGeom prst="line">
            <a:avLst/>
          </a:prstGeom>
          <a:ln>
            <a:solidFill>
              <a:schemeClr val="accent1"/>
            </a:solidFill>
            <a:headEnd type="triangle" w="med" len="med"/>
            <a:tailEnd type="none" w="med" len="med"/>
          </a:ln>
        </p:spPr>
        <p:style>
          <a:lnRef idx="2">
            <a:schemeClr val="dk1"/>
          </a:lnRef>
          <a:fillRef idx="0">
            <a:schemeClr val="dk1"/>
          </a:fillRef>
          <a:effectRef idx="1">
            <a:schemeClr val="dk1"/>
          </a:effectRef>
          <a:fontRef idx="minor">
            <a:schemeClr val="tx1"/>
          </a:fontRef>
        </p:style>
      </p:cxnSp>
      <p:cxnSp>
        <p:nvCxnSpPr>
          <p:cNvPr id="51" name="直線コネクタ 50">
            <a:extLst>
              <a:ext uri="{FF2B5EF4-FFF2-40B4-BE49-F238E27FC236}">
                <a16:creationId xmlns:a16="http://schemas.microsoft.com/office/drawing/2014/main" id="{929D9CF8-D0B2-C8A3-DD74-05CECAC1D36C}"/>
              </a:ext>
            </a:extLst>
          </p:cNvPr>
          <p:cNvCxnSpPr>
            <a:cxnSpLocks/>
          </p:cNvCxnSpPr>
          <p:nvPr/>
        </p:nvCxnSpPr>
        <p:spPr>
          <a:xfrm flipH="1">
            <a:off x="1547895" y="4971255"/>
            <a:ext cx="729003" cy="608982"/>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54" name="直線コネクタ 53">
            <a:extLst>
              <a:ext uri="{FF2B5EF4-FFF2-40B4-BE49-F238E27FC236}">
                <a16:creationId xmlns:a16="http://schemas.microsoft.com/office/drawing/2014/main" id="{82F6088A-FFAE-5A6F-8523-C4B1CF27CE52}"/>
              </a:ext>
            </a:extLst>
          </p:cNvPr>
          <p:cNvCxnSpPr>
            <a:cxnSpLocks/>
            <a:stCxn id="47" idx="3"/>
            <a:endCxn id="45" idx="3"/>
          </p:cNvCxnSpPr>
          <p:nvPr/>
        </p:nvCxnSpPr>
        <p:spPr>
          <a:xfrm flipH="1" flipV="1">
            <a:off x="1541803" y="5581504"/>
            <a:ext cx="1257265" cy="2075"/>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57" name="円弧 56">
            <a:extLst>
              <a:ext uri="{FF2B5EF4-FFF2-40B4-BE49-F238E27FC236}">
                <a16:creationId xmlns:a16="http://schemas.microsoft.com/office/drawing/2014/main" id="{7263AF13-AA8A-C9CE-6B1F-1F89B76D0FF1}"/>
              </a:ext>
            </a:extLst>
          </p:cNvPr>
          <p:cNvSpPr/>
          <p:nvPr/>
        </p:nvSpPr>
        <p:spPr>
          <a:xfrm>
            <a:off x="1322346" y="5267045"/>
            <a:ext cx="675788" cy="445585"/>
          </a:xfrm>
          <a:prstGeom prst="arc">
            <a:avLst>
              <a:gd name="adj1" fmla="val 19385249"/>
              <a:gd name="adj2" fmla="val 614507"/>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57204BB3-3855-DA35-B47B-27DAD46E76DC}"/>
                  </a:ext>
                </a:extLst>
              </p:cNvPr>
              <p:cNvSpPr txBox="1"/>
              <p:nvPr/>
            </p:nvSpPr>
            <p:spPr>
              <a:xfrm>
                <a:off x="1917240" y="5211538"/>
                <a:ext cx="332011" cy="369332"/>
              </a:xfrm>
              <a:prstGeom prst="rect">
                <a:avLst/>
              </a:prstGeom>
              <a:noFill/>
            </p:spPr>
            <p:txBody>
              <a:bodyPr wrap="square" rtlCol="0">
                <a:spAutoFit/>
              </a:bodyPr>
              <a:lstStyle/>
              <a:p>
                <a:pPr/>
                <a14:m>
                  <m:oMathPara xmlns:m="http://schemas.openxmlformats.org/officeDocument/2006/math">
                    <m:oMath>
                      <m:r>
                        <a:rPr kumimoji="1" lang="en-US" altLang="ja-JP" i="1" dirty="0" smtClean="0">
                          <a:latin typeface="Cambria Math" panose="02040503050406030204" pitchFamily="18" charset="0"/>
                        </a:rPr>
                        <m:t>𝜃</m:t>
                      </m:r>
                    </m:oMath>
                  </m:oMathPara>
                </a14:m>
                <a:endParaRPr/>
              </a:p>
            </p:txBody>
          </p:sp>
        </mc:Choice>
        <mc:Fallback xmlns="">
          <p:sp>
            <p:nvSpPr>
              <p:cNvPr id="58" name="テキスト ボックス 57">
                <a:extLst>
                  <a:ext uri="{FF2B5EF4-FFF2-40B4-BE49-F238E27FC236}">
                    <a16:creationId xmlns:a16="http://schemas.microsoft.com/office/drawing/2014/main" id="{57204BB3-3855-DA35-B47B-27DAD46E76DC}"/>
                  </a:ext>
                </a:extLst>
              </p:cNvPr>
              <p:cNvSpPr txBox="1">
                <a:spLocks noRot="1" noChangeAspect="1" noMove="1" noResize="1" noEditPoints="1" noAdjustHandles="1" noChangeArrowheads="1" noChangeShapeType="1" noTextEdit="1"/>
              </p:cNvSpPr>
              <p:nvPr/>
            </p:nvSpPr>
            <p:spPr>
              <a:xfrm>
                <a:off x="1917240" y="5211538"/>
                <a:ext cx="332011" cy="369332"/>
              </a:xfrm>
              <a:prstGeom prst="rect">
                <a:avLst/>
              </a:prstGeom>
              <a:blipFill>
                <a:blip r:embed="rId2"/>
                <a:stretch>
                  <a:fillRect t="-11667" r="-27778" b="-2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9" name="テキスト ボックス 58">
                <a:extLst>
                  <a:ext uri="{FF2B5EF4-FFF2-40B4-BE49-F238E27FC236}">
                    <a16:creationId xmlns:a16="http://schemas.microsoft.com/office/drawing/2014/main" id="{F7017C68-EB12-8B64-3DAE-725DE7A67A40}"/>
                  </a:ext>
                </a:extLst>
              </p:cNvPr>
              <p:cNvSpPr txBox="1"/>
              <p:nvPr/>
            </p:nvSpPr>
            <p:spPr>
              <a:xfrm>
                <a:off x="2034527" y="5596126"/>
                <a:ext cx="218906" cy="276999"/>
              </a:xfrm>
              <a:prstGeom prst="rect">
                <a:avLst/>
              </a:prstGeom>
              <a:noFill/>
            </p:spPr>
            <p:txBody>
              <a:bodyPr wrap="none" lIns="0" tIns="0" rIns="0" bIns="0" rtlCol="0">
                <a:spAutoFit/>
              </a:bodyPr>
              <a:lstStyle/>
              <a:p>
                <a:pPr/>
                <a14:m>
                  <m:oMathPara xmlns:m="http://schemas.openxmlformats.org/officeDocument/2006/math">
                    <m:oMath>
                      <m:r>
                        <a:rPr kumimoji="1" lang="en-US" altLang="ja-JP" b="0" i="1" smtClean="0">
                          <a:latin typeface="Cambria Math" panose="02040503050406030204" pitchFamily="18" charset="0"/>
                        </a:rPr>
                        <m:t>𝑑</m:t>
                      </m:r>
                    </m:oMath>
                  </m:oMathPara>
                </a14:m>
                <a:endParaRPr kumimoji="1" lang="ja-JP" altLang="en-US" dirty="0"/>
              </a:p>
            </p:txBody>
          </p:sp>
        </mc:Choice>
        <mc:Fallback xmlns="">
          <p:sp>
            <p:nvSpPr>
              <p:cNvPr id="59" name="テキスト ボックス 58">
                <a:extLst>
                  <a:ext uri="{FF2B5EF4-FFF2-40B4-BE49-F238E27FC236}">
                    <a16:creationId xmlns:a16="http://schemas.microsoft.com/office/drawing/2014/main" id="{F7017C68-EB12-8B64-3DAE-725DE7A67A40}"/>
                  </a:ext>
                </a:extLst>
              </p:cNvPr>
              <p:cNvSpPr txBox="1">
                <a:spLocks noRot="1" noChangeAspect="1" noMove="1" noResize="1" noEditPoints="1" noAdjustHandles="1" noChangeArrowheads="1" noChangeShapeType="1" noTextEdit="1"/>
              </p:cNvSpPr>
              <p:nvPr/>
            </p:nvSpPr>
            <p:spPr>
              <a:xfrm>
                <a:off x="2034527" y="5596126"/>
                <a:ext cx="218906" cy="276999"/>
              </a:xfrm>
              <a:prstGeom prst="rect">
                <a:avLst/>
              </a:prstGeom>
              <a:blipFill>
                <a:blip r:embed="rId3"/>
                <a:stretch>
                  <a:fillRect l="-22222" t="-2222" r="-16667" b="-4444"/>
                </a:stretch>
              </a:blipFill>
            </p:spPr>
            <p:txBody>
              <a:bodyPr/>
              <a:lstStyle/>
              <a:p>
                <a:r>
                  <a:rPr lang="ja-JP" altLang="en-US">
                    <a:noFill/>
                  </a:rPr>
                  <a:t> </a:t>
                </a:r>
              </a:p>
            </p:txBody>
          </p:sp>
        </mc:Fallback>
      </mc:AlternateContent>
      <p:cxnSp>
        <p:nvCxnSpPr>
          <p:cNvPr id="61" name="直線矢印コネクタ 60">
            <a:extLst>
              <a:ext uri="{FF2B5EF4-FFF2-40B4-BE49-F238E27FC236}">
                <a16:creationId xmlns:a16="http://schemas.microsoft.com/office/drawing/2014/main" id="{D4A28108-9B33-58FD-D27B-FF186559DEC6}"/>
              </a:ext>
            </a:extLst>
          </p:cNvPr>
          <p:cNvCxnSpPr>
            <a:cxnSpLocks/>
          </p:cNvCxnSpPr>
          <p:nvPr/>
        </p:nvCxnSpPr>
        <p:spPr>
          <a:xfrm>
            <a:off x="2378803" y="4882896"/>
            <a:ext cx="489814" cy="602093"/>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4" name="テキスト ボックス 63">
                <a:extLst>
                  <a:ext uri="{FF2B5EF4-FFF2-40B4-BE49-F238E27FC236}">
                    <a16:creationId xmlns:a16="http://schemas.microsoft.com/office/drawing/2014/main" id="{B928AC25-B0C3-5171-8750-BDDAF763AD5E}"/>
                  </a:ext>
                </a:extLst>
              </p:cNvPr>
              <p:cNvSpPr txBox="1"/>
              <p:nvPr/>
            </p:nvSpPr>
            <p:spPr>
              <a:xfrm>
                <a:off x="682629" y="4916912"/>
                <a:ext cx="4631436" cy="369332"/>
              </a:xfrm>
              <a:prstGeom prst="rect">
                <a:avLst/>
              </a:prstGeom>
              <a:noFill/>
            </p:spPr>
            <p:txBody>
              <a:bodyPr wrap="square">
                <a:spAutoFit/>
              </a:bodyPr>
              <a:lstStyle/>
              <a:p>
                <a:pPr/>
                <a14:m>
                  <m:oMathPara xmlns:m="http://schemas.openxmlformats.org/officeDocument/2006/math">
                    <m:oMath>
                      <m:r>
                        <a:rPr kumimoji="1" lang="en-US" altLang="ja-JP" b="0" i="1" smtClean="0">
                          <a:latin typeface="Cambria Math" panose="02040503050406030204" pitchFamily="18" charset="0"/>
                        </a:rPr>
                        <m:t>𝑑𝑠𝑖𝑛</m:t>
                      </m:r>
                      <m:r>
                        <a:rPr kumimoji="1" lang="ja-JP" altLang="en-US" b="0" i="1" smtClean="0">
                          <a:latin typeface="Cambria Math" panose="02040503050406030204" pitchFamily="18" charset="0"/>
                        </a:rPr>
                        <m:t>𝜃</m:t>
                      </m:r>
                    </m:oMath>
                  </m:oMathPara>
                </a14:m>
                <a:endParaRPr kumimoji="1" lang="ja-JP" altLang="en-US" dirty="0"/>
              </a:p>
            </p:txBody>
          </p:sp>
        </mc:Choice>
        <mc:Fallback xmlns="">
          <p:sp>
            <p:nvSpPr>
              <p:cNvPr id="64" name="テキスト ボックス 63">
                <a:extLst>
                  <a:ext uri="{FF2B5EF4-FFF2-40B4-BE49-F238E27FC236}">
                    <a16:creationId xmlns:a16="http://schemas.microsoft.com/office/drawing/2014/main" id="{B928AC25-B0C3-5171-8750-BDDAF763AD5E}"/>
                  </a:ext>
                </a:extLst>
              </p:cNvPr>
              <p:cNvSpPr txBox="1">
                <a:spLocks noRot="1" noChangeAspect="1" noMove="1" noResize="1" noEditPoints="1" noAdjustHandles="1" noChangeArrowheads="1" noChangeShapeType="1" noTextEdit="1"/>
              </p:cNvSpPr>
              <p:nvPr/>
            </p:nvSpPr>
            <p:spPr>
              <a:xfrm>
                <a:off x="682629" y="4916912"/>
                <a:ext cx="4631436" cy="369332"/>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5" name="テキスト ボックス 64">
                <a:extLst>
                  <a:ext uri="{FF2B5EF4-FFF2-40B4-BE49-F238E27FC236}">
                    <a16:creationId xmlns:a16="http://schemas.microsoft.com/office/drawing/2014/main" id="{2E2ADE87-F197-4AF2-BC9C-0934DC712968}"/>
                  </a:ext>
                </a:extLst>
              </p:cNvPr>
              <p:cNvSpPr txBox="1"/>
              <p:nvPr/>
            </p:nvSpPr>
            <p:spPr>
              <a:xfrm>
                <a:off x="3977640" y="4063182"/>
                <a:ext cx="4379976" cy="374654"/>
              </a:xfrm>
              <a:prstGeom prst="rect">
                <a:avLst/>
              </a:prstGeom>
              <a:noFill/>
            </p:spPr>
            <p:txBody>
              <a:bodyPr wrap="square" rtlCol="0">
                <a:spAutoFit/>
              </a:bodyPr>
              <a:lstStyle/>
              <a:p>
                <a:r>
                  <a:rPr kumimoji="1" lang="ja-JP" altLang="en-US" dirty="0"/>
                  <a:t>二つの受信波には位相差</a:t>
                </a:r>
                <a14:m>
                  <m:oMath xmlns:m="http://schemas.openxmlformats.org/officeDocument/2006/math">
                    <m:r>
                      <a:rPr kumimoji="1" lang="ja-JP" altLang="en-US" b="1" i="1" smtClean="0">
                        <a:latin typeface="Cambria Math" panose="02040503050406030204" pitchFamily="18" charset="0"/>
                      </a:rPr>
                      <m:t>∆</m:t>
                    </m:r>
                    <m:r>
                      <a:rPr kumimoji="1" lang="ja-JP" altLang="en-US" b="1" i="1" smtClean="0">
                        <a:latin typeface="Cambria Math" panose="02040503050406030204" pitchFamily="18" charset="0"/>
                      </a:rPr>
                      <m:t>𝝋</m:t>
                    </m:r>
                    <m:r>
                      <a:rPr kumimoji="1" lang="ja-JP" altLang="en-US" i="1">
                        <a:latin typeface="Cambria Math" panose="02040503050406030204" pitchFamily="18" charset="0"/>
                      </a:rPr>
                      <m:t>が</m:t>
                    </m:r>
                  </m:oMath>
                </a14:m>
                <a:r>
                  <a:rPr kumimoji="1" lang="ja-JP" altLang="en-US" dirty="0"/>
                  <a:t>存在</a:t>
                </a:r>
              </a:p>
            </p:txBody>
          </p:sp>
        </mc:Choice>
        <mc:Fallback xmlns="">
          <p:sp>
            <p:nvSpPr>
              <p:cNvPr id="65" name="テキスト ボックス 64">
                <a:extLst>
                  <a:ext uri="{FF2B5EF4-FFF2-40B4-BE49-F238E27FC236}">
                    <a16:creationId xmlns:a16="http://schemas.microsoft.com/office/drawing/2014/main" id="{2E2ADE87-F197-4AF2-BC9C-0934DC712968}"/>
                  </a:ext>
                </a:extLst>
              </p:cNvPr>
              <p:cNvSpPr txBox="1">
                <a:spLocks noRot="1" noChangeAspect="1" noMove="1" noResize="1" noEditPoints="1" noAdjustHandles="1" noChangeArrowheads="1" noChangeShapeType="1" noTextEdit="1"/>
              </p:cNvSpPr>
              <p:nvPr/>
            </p:nvSpPr>
            <p:spPr>
              <a:xfrm>
                <a:off x="3977640" y="4063182"/>
                <a:ext cx="4379976" cy="374654"/>
              </a:xfrm>
              <a:prstGeom prst="rect">
                <a:avLst/>
              </a:prstGeom>
              <a:blipFill>
                <a:blip r:embed="rId5"/>
                <a:stretch>
                  <a:fillRect l="-1253" t="-4918" b="-2950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6" name="テキスト ボックス 65">
                <a:extLst>
                  <a:ext uri="{FF2B5EF4-FFF2-40B4-BE49-F238E27FC236}">
                    <a16:creationId xmlns:a16="http://schemas.microsoft.com/office/drawing/2014/main" id="{504BDCBE-92ED-15EC-A74D-CED6D5FEDBEF}"/>
                  </a:ext>
                </a:extLst>
              </p:cNvPr>
              <p:cNvSpPr txBox="1"/>
              <p:nvPr/>
            </p:nvSpPr>
            <p:spPr>
              <a:xfrm>
                <a:off x="4385463" y="4437836"/>
                <a:ext cx="2699691" cy="629916"/>
              </a:xfrm>
              <a:prstGeom prst="rect">
                <a:avLst/>
              </a:prstGeom>
              <a:noFill/>
            </p:spPr>
            <p:txBody>
              <a:bodyPr wrap="square" rtlCol="0">
                <a:spAutoFit/>
              </a:bodyPr>
              <a:lstStyle/>
              <a:p>
                <a:pPr/>
                <a14:m>
                  <m:oMathPara xmlns:m="http://schemas.openxmlformats.org/officeDocument/2006/math">
                    <m:oMath>
                      <m:r>
                        <a:rPr kumimoji="1" lang="ja-JP" altLang="en-US" i="1" smtClean="0">
                          <a:latin typeface="Cambria Math" panose="02040503050406030204" pitchFamily="18" charset="0"/>
                        </a:rPr>
                        <m:t>∆</m:t>
                      </m:r>
                      <m:r>
                        <a:rPr kumimoji="1" lang="ja-JP" altLang="en-US" i="1" smtClean="0">
                          <a:latin typeface="Cambria Math" panose="02040503050406030204" pitchFamily="18" charset="0"/>
                        </a:rPr>
                        <m:t>𝜑</m:t>
                      </m:r>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2</m:t>
                          </m:r>
                          <m:r>
                            <a:rPr kumimoji="1" lang="ja-JP" altLang="en-US" b="0" i="1" smtClean="0">
                              <a:latin typeface="Cambria Math" panose="02040503050406030204" pitchFamily="18" charset="0"/>
                            </a:rPr>
                            <m:t>𝜋</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𝑑𝑠𝑖𝑛</m:t>
                              </m:r>
                              <m:r>
                                <a:rPr kumimoji="1" lang="ja-JP" altLang="en-US" b="0" i="1" smtClean="0">
                                  <a:latin typeface="Cambria Math" panose="02040503050406030204" pitchFamily="18" charset="0"/>
                                </a:rPr>
                                <m:t>𝜃</m:t>
                              </m:r>
                            </m:e>
                          </m:d>
                        </m:num>
                        <m:den>
                          <m:r>
                            <a:rPr kumimoji="1" lang="ja-JP" altLang="en-US" b="0" i="1" smtClean="0">
                              <a:latin typeface="Cambria Math" panose="02040503050406030204" pitchFamily="18" charset="0"/>
                            </a:rPr>
                            <m:t>𝜆</m:t>
                          </m:r>
                        </m:den>
                      </m:f>
                    </m:oMath>
                  </m:oMathPara>
                </a14:m>
                <a:endParaRPr kumimoji="1" lang="ja-JP" altLang="en-US" dirty="0"/>
              </a:p>
            </p:txBody>
          </p:sp>
        </mc:Choice>
        <mc:Fallback xmlns="">
          <p:sp>
            <p:nvSpPr>
              <p:cNvPr id="66" name="テキスト ボックス 65">
                <a:extLst>
                  <a:ext uri="{FF2B5EF4-FFF2-40B4-BE49-F238E27FC236}">
                    <a16:creationId xmlns:a16="http://schemas.microsoft.com/office/drawing/2014/main" id="{504BDCBE-92ED-15EC-A74D-CED6D5FEDBEF}"/>
                  </a:ext>
                </a:extLst>
              </p:cNvPr>
              <p:cNvSpPr txBox="1">
                <a:spLocks noRot="1" noChangeAspect="1" noMove="1" noResize="1" noEditPoints="1" noAdjustHandles="1" noChangeArrowheads="1" noChangeShapeType="1" noTextEdit="1"/>
              </p:cNvSpPr>
              <p:nvPr/>
            </p:nvSpPr>
            <p:spPr>
              <a:xfrm>
                <a:off x="4385463" y="4437836"/>
                <a:ext cx="2699691" cy="629916"/>
              </a:xfrm>
              <a:prstGeom prst="rect">
                <a:avLst/>
              </a:prstGeom>
              <a:blipFill>
                <a:blip r:embed="rId6"/>
                <a:stretch>
                  <a:fillRect/>
                </a:stretch>
              </a:blipFill>
            </p:spPr>
            <p:txBody>
              <a:bodyPr/>
              <a:lstStyle/>
              <a:p>
                <a:r>
                  <a:rPr lang="ja-JP" altLang="en-US">
                    <a:noFill/>
                  </a:rPr>
                  <a:t> </a:t>
                </a:r>
              </a:p>
            </p:txBody>
          </p:sp>
        </mc:Fallback>
      </mc:AlternateContent>
      <p:sp>
        <p:nvSpPr>
          <p:cNvPr id="68" name="テキスト ボックス 67">
            <a:extLst>
              <a:ext uri="{FF2B5EF4-FFF2-40B4-BE49-F238E27FC236}">
                <a16:creationId xmlns:a16="http://schemas.microsoft.com/office/drawing/2014/main" id="{454D7E81-F884-D62A-FF17-3ED8A60AD484}"/>
              </a:ext>
            </a:extLst>
          </p:cNvPr>
          <p:cNvSpPr txBox="1"/>
          <p:nvPr/>
        </p:nvSpPr>
        <p:spPr>
          <a:xfrm>
            <a:off x="1004126" y="6236504"/>
            <a:ext cx="509950" cy="369332"/>
          </a:xfrm>
          <a:prstGeom prst="rect">
            <a:avLst/>
          </a:prstGeom>
          <a:noFill/>
        </p:spPr>
        <p:txBody>
          <a:bodyPr wrap="square" rtlCol="0">
            <a:spAutoFit/>
          </a:bodyPr>
          <a:lstStyle/>
          <a:p>
            <a:r>
              <a:rPr kumimoji="1" lang="en-US" altLang="ja-JP" dirty="0"/>
              <a:t>m</a:t>
            </a:r>
            <a:endParaRPr kumimoji="1" lang="ja-JP" altLang="en-US" dirty="0"/>
          </a:p>
        </p:txBody>
      </p:sp>
      <p:sp>
        <p:nvSpPr>
          <p:cNvPr id="69" name="テキスト ボックス 68">
            <a:extLst>
              <a:ext uri="{FF2B5EF4-FFF2-40B4-BE49-F238E27FC236}">
                <a16:creationId xmlns:a16="http://schemas.microsoft.com/office/drawing/2014/main" id="{D089F33B-3FDA-11E1-148C-B65BDB0BD6B0}"/>
              </a:ext>
            </a:extLst>
          </p:cNvPr>
          <p:cNvSpPr txBox="1"/>
          <p:nvPr/>
        </p:nvSpPr>
        <p:spPr>
          <a:xfrm>
            <a:off x="2143980" y="6299752"/>
            <a:ext cx="874543" cy="369332"/>
          </a:xfrm>
          <a:prstGeom prst="rect">
            <a:avLst/>
          </a:prstGeom>
          <a:noFill/>
        </p:spPr>
        <p:txBody>
          <a:bodyPr wrap="square" rtlCol="0">
            <a:spAutoFit/>
          </a:bodyPr>
          <a:lstStyle/>
          <a:p>
            <a:r>
              <a:rPr kumimoji="1" lang="en-US" altLang="ja-JP" dirty="0"/>
              <a:t>m+1</a:t>
            </a:r>
            <a:endParaRPr kumimoji="1" lang="ja-JP" altLang="en-US" dirty="0"/>
          </a:p>
        </p:txBody>
      </p:sp>
      <p:sp>
        <p:nvSpPr>
          <p:cNvPr id="71" name="テキスト ボックス 70">
            <a:extLst>
              <a:ext uri="{FF2B5EF4-FFF2-40B4-BE49-F238E27FC236}">
                <a16:creationId xmlns:a16="http://schemas.microsoft.com/office/drawing/2014/main" id="{7C8E4DF5-C700-6F22-FE33-61AD61DEAD54}"/>
              </a:ext>
            </a:extLst>
          </p:cNvPr>
          <p:cNvSpPr txBox="1"/>
          <p:nvPr/>
        </p:nvSpPr>
        <p:spPr>
          <a:xfrm>
            <a:off x="3809759" y="5238437"/>
            <a:ext cx="4631436" cy="646331"/>
          </a:xfrm>
          <a:prstGeom prst="rect">
            <a:avLst/>
          </a:prstGeom>
          <a:noFill/>
        </p:spPr>
        <p:txBody>
          <a:bodyPr wrap="square">
            <a:spAutoFit/>
          </a:bodyPr>
          <a:lstStyle/>
          <a:p>
            <a:r>
              <a:rPr lang="ja-JP" altLang="en-US" dirty="0"/>
              <a:t>各アンテナに届いて処理される信号は，アンテナ番号を</a:t>
            </a:r>
            <a:r>
              <a:rPr lang="en-US" altLang="ja-JP" dirty="0"/>
              <a:t>m</a:t>
            </a:r>
            <a:r>
              <a:rPr lang="ja-JP" altLang="en-US" dirty="0"/>
              <a:t>としたとき</a:t>
            </a: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64240623-7F45-799F-BD93-63737DBC079A}"/>
                  </a:ext>
                </a:extLst>
              </p:cNvPr>
              <p:cNvSpPr txBox="1"/>
              <p:nvPr/>
            </p:nvSpPr>
            <p:spPr>
              <a:xfrm>
                <a:off x="4052774" y="6034315"/>
                <a:ext cx="3805517" cy="550792"/>
              </a:xfrm>
              <a:prstGeom prst="rect">
                <a:avLst/>
              </a:prstGeom>
              <a:noFill/>
            </p:spPr>
            <p:txBody>
              <a:bodyPr wrap="square" lIns="0" tIns="0" rIns="0" bIns="0" rtlCol="0">
                <a:spAutoFit/>
              </a:bodyPr>
              <a:lstStyle/>
              <a:p>
                <a:pPr/>
                <a14:m>
                  <m:oMathPara xmlns:m="http://schemas.openxmlformats.org/officeDocument/2006/math">
                    <m:o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𝑚</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𝐴</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𝑒</m:t>
                          </m:r>
                        </m:e>
                        <m:sup>
                          <m:r>
                            <a:rPr kumimoji="1" lang="en-US" altLang="ja-JP" sz="2400" b="0" i="1" smtClean="0">
                              <a:latin typeface="Cambria Math" panose="02040503050406030204" pitchFamily="18" charset="0"/>
                            </a:rPr>
                            <m:t>𝑗</m:t>
                          </m:r>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2</m:t>
                              </m:r>
                              <m:r>
                                <a:rPr kumimoji="1" lang="ja-JP" altLang="en-US" sz="2400" b="0" i="1" smtClean="0">
                                  <a:latin typeface="Cambria Math" panose="02040503050406030204" pitchFamily="18" charset="0"/>
                                </a:rPr>
                                <m:t>𝜋</m:t>
                              </m:r>
                              <m:r>
                                <a:rPr kumimoji="1" lang="en-US" altLang="ja-JP" sz="2400" b="0" i="1" smtClean="0">
                                  <a:latin typeface="Cambria Math" panose="02040503050406030204" pitchFamily="18" charset="0"/>
                                </a:rPr>
                                <m:t>𝑑</m:t>
                              </m:r>
                            </m:num>
                            <m:den>
                              <m:r>
                                <a:rPr kumimoji="1" lang="ja-JP" altLang="en-US" sz="2400" b="0" i="1" smtClean="0">
                                  <a:latin typeface="Cambria Math" panose="02040503050406030204" pitchFamily="18" charset="0"/>
                                </a:rPr>
                                <m:t>𝜆</m:t>
                              </m:r>
                            </m:den>
                          </m:f>
                          <m:r>
                            <a:rPr kumimoji="1" lang="en-US" altLang="ja-JP" sz="2400" b="0" i="1" smtClean="0">
                              <a:latin typeface="Cambria Math" panose="02040503050406030204" pitchFamily="18" charset="0"/>
                            </a:rPr>
                            <m:t>𝑚𝑠𝑖𝑛</m:t>
                          </m:r>
                          <m:r>
                            <a:rPr kumimoji="1" lang="ja-JP" altLang="en-US" sz="2400" b="0" i="1" smtClean="0">
                              <a:latin typeface="Cambria Math" panose="02040503050406030204" pitchFamily="18" charset="0"/>
                            </a:rPr>
                            <m:t>𝜃</m:t>
                          </m:r>
                          <m:r>
                            <a:rPr kumimoji="1" lang="en-US" altLang="ja-JP" sz="2400" b="0" i="1" smtClean="0">
                              <a:latin typeface="Cambria Math" panose="02040503050406030204" pitchFamily="18" charset="0"/>
                            </a:rPr>
                            <m:t>)</m:t>
                          </m:r>
                        </m:sup>
                      </m:sSup>
                    </m:oMath>
                  </m:oMathPara>
                </a14:m>
                <a:endParaRPr kumimoji="1" lang="ja-JP" altLang="en-US" sz="2400" dirty="0"/>
              </a:p>
            </p:txBody>
          </p:sp>
        </mc:Choice>
        <mc:Fallback xmlns="">
          <p:sp>
            <p:nvSpPr>
              <p:cNvPr id="3" name="テキスト ボックス 2">
                <a:extLst>
                  <a:ext uri="{FF2B5EF4-FFF2-40B4-BE49-F238E27FC236}">
                    <a16:creationId xmlns:a16="http://schemas.microsoft.com/office/drawing/2014/main" id="{64240623-7F45-799F-BD93-63737DBC079A}"/>
                  </a:ext>
                </a:extLst>
              </p:cNvPr>
              <p:cNvSpPr txBox="1">
                <a:spLocks noRot="1" noChangeAspect="1" noMove="1" noResize="1" noEditPoints="1" noAdjustHandles="1" noChangeArrowheads="1" noChangeShapeType="1" noTextEdit="1"/>
              </p:cNvSpPr>
              <p:nvPr/>
            </p:nvSpPr>
            <p:spPr>
              <a:xfrm>
                <a:off x="4052774" y="6034315"/>
                <a:ext cx="3805517" cy="550792"/>
              </a:xfrm>
              <a:prstGeom prst="rect">
                <a:avLst/>
              </a:prstGeom>
              <a:blipFill>
                <a:blip r:embed="rId7"/>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11224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32" grpId="0"/>
      <p:bldP spid="33" grpId="0"/>
      <p:bldP spid="39" grpId="0"/>
      <p:bldP spid="66" grpId="0"/>
      <p:bldP spid="7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E97695-EE82-D72E-2E48-18FE8B5ED4D3}"/>
              </a:ext>
            </a:extLst>
          </p:cNvPr>
          <p:cNvSpPr>
            <a:spLocks noGrp="1"/>
          </p:cNvSpPr>
          <p:nvPr>
            <p:ph type="title"/>
          </p:nvPr>
        </p:nvSpPr>
        <p:spPr/>
        <p:txBody>
          <a:bodyPr/>
          <a:lstStyle/>
          <a:p>
            <a:r>
              <a:rPr kumimoji="1" lang="ja-JP" altLang="en-US" dirty="0"/>
              <a:t>レーダー原理</a:t>
            </a:r>
            <a:r>
              <a:rPr kumimoji="1" lang="en-US" altLang="ja-JP" dirty="0"/>
              <a:t>(4/4)</a:t>
            </a:r>
            <a:endParaRPr kumimoji="1" lang="ja-JP" altLang="en-US" dirty="0"/>
          </a:p>
        </p:txBody>
      </p:sp>
      <p:sp>
        <p:nvSpPr>
          <p:cNvPr id="3" name="コンテンツ プレースホルダー 2">
            <a:extLst>
              <a:ext uri="{FF2B5EF4-FFF2-40B4-BE49-F238E27FC236}">
                <a16:creationId xmlns:a16="http://schemas.microsoft.com/office/drawing/2014/main" id="{6F561343-02C5-8543-5ECC-93F1A59056C8}"/>
              </a:ext>
            </a:extLst>
          </p:cNvPr>
          <p:cNvSpPr>
            <a:spLocks noGrp="1"/>
          </p:cNvSpPr>
          <p:nvPr>
            <p:ph idx="1"/>
          </p:nvPr>
        </p:nvSpPr>
        <p:spPr>
          <a:xfrm>
            <a:off x="466432" y="1110242"/>
            <a:ext cx="7886700" cy="4351338"/>
          </a:xfrm>
        </p:spPr>
        <p:txBody>
          <a:bodyPr>
            <a:normAutofit/>
          </a:bodyPr>
          <a:lstStyle/>
          <a:p>
            <a:r>
              <a:rPr lang="ja-JP" altLang="en-US" sz="2400" dirty="0"/>
              <a:t>各アンテナに到達する信号は</a:t>
            </a:r>
            <a:endParaRPr kumimoji="1" lang="ja-JP" altLang="en-US" sz="2400" dirty="0"/>
          </a:p>
        </p:txBody>
      </p:sp>
      <p:sp>
        <p:nvSpPr>
          <p:cNvPr id="4" name="スライド番号プレースホルダー 3">
            <a:extLst>
              <a:ext uri="{FF2B5EF4-FFF2-40B4-BE49-F238E27FC236}">
                <a16:creationId xmlns:a16="http://schemas.microsoft.com/office/drawing/2014/main" id="{81371147-403F-C3F1-35CB-B30A91DB7BB5}"/>
              </a:ext>
            </a:extLst>
          </p:cNvPr>
          <p:cNvSpPr>
            <a:spLocks noGrp="1"/>
          </p:cNvSpPr>
          <p:nvPr>
            <p:ph type="sldNum" sz="quarter" idx="12"/>
          </p:nvPr>
        </p:nvSpPr>
        <p:spPr/>
        <p:txBody>
          <a:bodyPr/>
          <a:lstStyle/>
          <a:p>
            <a:fld id="{F4F93977-CC68-4F92-83A3-0276DC4D9982}" type="slidenum">
              <a:rPr kumimoji="1" lang="ja-JP" altLang="en-US" smtClean="0"/>
              <a:pPr/>
              <a:t>19</a:t>
            </a:fld>
            <a:endParaRPr kumimoji="1" lang="ja-JP" altLang="en-US"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4E3B4D9C-BF79-BDD7-B476-F9DCBE07FB36}"/>
                  </a:ext>
                </a:extLst>
              </p:cNvPr>
              <p:cNvSpPr txBox="1"/>
              <p:nvPr/>
            </p:nvSpPr>
            <p:spPr>
              <a:xfrm>
                <a:off x="2353236" y="2030105"/>
                <a:ext cx="3805517" cy="550792"/>
              </a:xfrm>
              <a:prstGeom prst="rect">
                <a:avLst/>
              </a:prstGeom>
              <a:noFill/>
            </p:spPr>
            <p:txBody>
              <a:bodyPr wrap="square" lIns="0" tIns="0" rIns="0" bIns="0" rtlCol="0">
                <a:spAutoFit/>
              </a:bodyPr>
              <a:lstStyle/>
              <a:p>
                <a:pPr/>
                <a14:m>
                  <m:oMathPara xmlns:m="http://schemas.openxmlformats.org/officeDocument/2006/math">
                    <m:o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𝑚</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𝐴</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𝑒</m:t>
                          </m:r>
                        </m:e>
                        <m:sup>
                          <m:r>
                            <a:rPr kumimoji="1" lang="en-US" altLang="ja-JP" sz="2400" b="0" i="1" smtClean="0">
                              <a:latin typeface="Cambria Math" panose="02040503050406030204" pitchFamily="18" charset="0"/>
                            </a:rPr>
                            <m:t>𝑗</m:t>
                          </m:r>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r>
                                <a:rPr kumimoji="1" lang="en-US" altLang="ja-JP" sz="2400" b="0" i="1" smtClean="0">
                                  <a:latin typeface="Cambria Math" panose="02040503050406030204" pitchFamily="18" charset="0"/>
                                </a:rPr>
                                <m:t>2</m:t>
                              </m:r>
                              <m:r>
                                <a:rPr kumimoji="1" lang="ja-JP" altLang="en-US" sz="2400" b="0" i="1" smtClean="0">
                                  <a:latin typeface="Cambria Math" panose="02040503050406030204" pitchFamily="18" charset="0"/>
                                </a:rPr>
                                <m:t>𝜋</m:t>
                              </m:r>
                              <m:r>
                                <a:rPr kumimoji="1" lang="en-US" altLang="ja-JP" sz="2400" b="0" i="1" smtClean="0">
                                  <a:latin typeface="Cambria Math" panose="02040503050406030204" pitchFamily="18" charset="0"/>
                                </a:rPr>
                                <m:t>𝑑</m:t>
                              </m:r>
                            </m:num>
                            <m:den>
                              <m:r>
                                <a:rPr kumimoji="1" lang="ja-JP" altLang="en-US" sz="2400" b="0" i="1" smtClean="0">
                                  <a:latin typeface="Cambria Math" panose="02040503050406030204" pitchFamily="18" charset="0"/>
                                </a:rPr>
                                <m:t>𝜆</m:t>
                              </m:r>
                            </m:den>
                          </m:f>
                          <m:r>
                            <a:rPr kumimoji="1" lang="en-US" altLang="ja-JP" sz="2400" b="0" i="1" smtClean="0">
                              <a:latin typeface="Cambria Math" panose="02040503050406030204" pitchFamily="18" charset="0"/>
                            </a:rPr>
                            <m:t>𝑚𝑠𝑖𝑛</m:t>
                          </m:r>
                          <m:r>
                            <a:rPr kumimoji="1" lang="ja-JP" altLang="en-US" sz="2400" b="0" i="1" smtClean="0">
                              <a:latin typeface="Cambria Math" panose="02040503050406030204" pitchFamily="18" charset="0"/>
                            </a:rPr>
                            <m:t>𝜃</m:t>
                          </m:r>
                          <m:r>
                            <a:rPr kumimoji="1" lang="en-US" altLang="ja-JP" sz="2400" b="0" i="1" smtClean="0">
                              <a:latin typeface="Cambria Math" panose="02040503050406030204" pitchFamily="18" charset="0"/>
                            </a:rPr>
                            <m:t>)</m:t>
                          </m:r>
                        </m:sup>
                      </m:sSup>
                    </m:oMath>
                  </m:oMathPara>
                </a14:m>
                <a:endParaRPr kumimoji="1" lang="ja-JP" altLang="en-US" sz="2400" dirty="0"/>
              </a:p>
            </p:txBody>
          </p:sp>
        </mc:Choice>
        <mc:Fallback xmlns="">
          <p:sp>
            <p:nvSpPr>
              <p:cNvPr id="6" name="テキスト ボックス 5">
                <a:extLst>
                  <a:ext uri="{FF2B5EF4-FFF2-40B4-BE49-F238E27FC236}">
                    <a16:creationId xmlns:a16="http://schemas.microsoft.com/office/drawing/2014/main" id="{4E3B4D9C-BF79-BDD7-B476-F9DCBE07FB36}"/>
                  </a:ext>
                </a:extLst>
              </p:cNvPr>
              <p:cNvSpPr txBox="1">
                <a:spLocks noRot="1" noChangeAspect="1" noMove="1" noResize="1" noEditPoints="1" noAdjustHandles="1" noChangeArrowheads="1" noChangeShapeType="1" noTextEdit="1"/>
              </p:cNvSpPr>
              <p:nvPr/>
            </p:nvSpPr>
            <p:spPr>
              <a:xfrm>
                <a:off x="2353236" y="2030105"/>
                <a:ext cx="3805517" cy="550792"/>
              </a:xfrm>
              <a:prstGeom prst="rect">
                <a:avLst/>
              </a:prstGeom>
              <a:blipFill>
                <a:blip r:embed="rId2"/>
                <a:stretch>
                  <a:fillRect/>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F5913A9A-35C7-C965-D25E-6940DA70FD4F}"/>
              </a:ext>
            </a:extLst>
          </p:cNvPr>
          <p:cNvSpPr txBox="1"/>
          <p:nvPr/>
        </p:nvSpPr>
        <p:spPr>
          <a:xfrm>
            <a:off x="1177902" y="4051552"/>
            <a:ext cx="7052370" cy="707886"/>
          </a:xfrm>
          <a:prstGeom prst="rect">
            <a:avLst/>
          </a:prstGeom>
          <a:noFill/>
        </p:spPr>
        <p:txBody>
          <a:bodyPr wrap="square" rtlCol="0">
            <a:spAutoFit/>
          </a:bodyPr>
          <a:lstStyle/>
          <a:p>
            <a:r>
              <a:rPr kumimoji="1" lang="ja-JP" altLang="en-US" sz="2000" dirty="0"/>
              <a:t>アンテナ番号</a:t>
            </a:r>
            <a:r>
              <a:rPr kumimoji="1" lang="en-US" altLang="ja-JP" sz="2000" dirty="0"/>
              <a:t>m</a:t>
            </a:r>
            <a:r>
              <a:rPr kumimoji="1" lang="ja-JP" altLang="en-US" sz="2000" dirty="0"/>
              <a:t>に沿って、位相差が空間方向に波形のようになっている</a:t>
            </a:r>
          </a:p>
        </p:txBody>
      </p:sp>
      <p:sp>
        <p:nvSpPr>
          <p:cNvPr id="8" name="矢印: 右 7">
            <a:extLst>
              <a:ext uri="{FF2B5EF4-FFF2-40B4-BE49-F238E27FC236}">
                <a16:creationId xmlns:a16="http://schemas.microsoft.com/office/drawing/2014/main" id="{FE75CABF-7137-1E11-753A-719D68DECBE2}"/>
              </a:ext>
            </a:extLst>
          </p:cNvPr>
          <p:cNvSpPr/>
          <p:nvPr/>
        </p:nvSpPr>
        <p:spPr>
          <a:xfrm>
            <a:off x="353416" y="4051552"/>
            <a:ext cx="824486" cy="3462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D1605581-0E66-EFE0-97D8-EDBBFC22386E}"/>
                  </a:ext>
                </a:extLst>
              </p:cNvPr>
              <p:cNvSpPr txBox="1"/>
              <p:nvPr/>
            </p:nvSpPr>
            <p:spPr>
              <a:xfrm>
                <a:off x="2353236" y="5061470"/>
                <a:ext cx="4407141" cy="400110"/>
              </a:xfrm>
              <a:prstGeom prst="rect">
                <a:avLst/>
              </a:prstGeom>
              <a:solidFill>
                <a:schemeClr val="accent2">
                  <a:lumMod val="20000"/>
                  <a:lumOff val="80000"/>
                </a:schemeClr>
              </a:solidFill>
            </p:spPr>
            <p:txBody>
              <a:bodyPr wrap="square" rtlCol="0">
                <a:spAutoFit/>
              </a:bodyPr>
              <a:lstStyle/>
              <a:p>
                <a:r>
                  <a:rPr kumimoji="1" lang="en-US" altLang="ja-JP" sz="2000" dirty="0"/>
                  <a:t>m</a:t>
                </a:r>
                <a:r>
                  <a:rPr kumimoji="1" lang="ja-JP" altLang="en-US" sz="2000" dirty="0"/>
                  <a:t>に対する空間周波数が角度</a:t>
                </a:r>
                <a14:m>
                  <m:oMath xmlns:m="http://schemas.openxmlformats.org/officeDocument/2006/math">
                    <m:r>
                      <a:rPr kumimoji="1" lang="ja-JP" altLang="en-US" sz="2000" i="1" smtClean="0">
                        <a:latin typeface="Cambria Math" panose="02040503050406030204" pitchFamily="18" charset="0"/>
                      </a:rPr>
                      <m:t>𝜃</m:t>
                    </m:r>
                    <m:r>
                      <a:rPr kumimoji="1" lang="ja-JP" altLang="en-US" sz="2000" i="1">
                        <a:latin typeface="Cambria Math" panose="02040503050406030204" pitchFamily="18" charset="0"/>
                      </a:rPr>
                      <m:t>に対応</m:t>
                    </m:r>
                  </m:oMath>
                </a14:m>
                <a:endParaRPr kumimoji="1" lang="ja-JP" altLang="en-US" sz="2000" dirty="0"/>
              </a:p>
            </p:txBody>
          </p:sp>
        </mc:Choice>
        <mc:Fallback xmlns="">
          <p:sp>
            <p:nvSpPr>
              <p:cNvPr id="9" name="テキスト ボックス 8">
                <a:extLst>
                  <a:ext uri="{FF2B5EF4-FFF2-40B4-BE49-F238E27FC236}">
                    <a16:creationId xmlns:a16="http://schemas.microsoft.com/office/drawing/2014/main" id="{D1605581-0E66-EFE0-97D8-EDBBFC22386E}"/>
                  </a:ext>
                </a:extLst>
              </p:cNvPr>
              <p:cNvSpPr txBox="1">
                <a:spLocks noRot="1" noChangeAspect="1" noMove="1" noResize="1" noEditPoints="1" noAdjustHandles="1" noChangeArrowheads="1" noChangeShapeType="1" noTextEdit="1"/>
              </p:cNvSpPr>
              <p:nvPr/>
            </p:nvSpPr>
            <p:spPr>
              <a:xfrm>
                <a:off x="2353236" y="5061470"/>
                <a:ext cx="4407141" cy="400110"/>
              </a:xfrm>
              <a:prstGeom prst="rect">
                <a:avLst/>
              </a:prstGeom>
              <a:blipFill>
                <a:blip r:embed="rId3"/>
                <a:stretch>
                  <a:fillRect l="-1383" t="-6061" r="-553" b="-27273"/>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6CD0695A-F3BC-A5E0-51C1-3E376C506B0F}"/>
              </a:ext>
            </a:extLst>
          </p:cNvPr>
          <p:cNvSpPr txBox="1"/>
          <p:nvPr/>
        </p:nvSpPr>
        <p:spPr>
          <a:xfrm>
            <a:off x="1877465" y="2859302"/>
            <a:ext cx="4757057" cy="400110"/>
          </a:xfrm>
          <a:prstGeom prst="rect">
            <a:avLst/>
          </a:prstGeom>
          <a:noFill/>
        </p:spPr>
        <p:txBody>
          <a:bodyPr wrap="square" rtlCol="0">
            <a:spAutoFit/>
          </a:bodyPr>
          <a:lstStyle/>
          <a:p>
            <a:r>
              <a:rPr kumimoji="1" lang="en-US" altLang="ja-JP" sz="2000" dirty="0"/>
              <a:t>※</a:t>
            </a:r>
            <a:r>
              <a:rPr kumimoji="1" lang="ja-JP" altLang="en-US" sz="2000" dirty="0"/>
              <a:t>複素信号なら，波の方向を表現できる</a:t>
            </a:r>
          </a:p>
        </p:txBody>
      </p:sp>
    </p:spTree>
    <p:extLst>
      <p:ext uri="{BB962C8B-B14F-4D97-AF65-F5344CB8AC3E}">
        <p14:creationId xmlns:p14="http://schemas.microsoft.com/office/powerpoint/2010/main" val="7992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D2F3FF-A876-11CD-1CB5-EBAD8718B06C}"/>
              </a:ext>
            </a:extLst>
          </p:cNvPr>
          <p:cNvSpPr>
            <a:spLocks noGrp="1"/>
          </p:cNvSpPr>
          <p:nvPr>
            <p:ph type="title"/>
          </p:nvPr>
        </p:nvSpPr>
        <p:spPr/>
        <p:txBody>
          <a:bodyPr/>
          <a:lstStyle/>
          <a:p>
            <a:r>
              <a:rPr lang="ja-JP" altLang="en-US" dirty="0"/>
              <a:t>従来法</a:t>
            </a:r>
            <a:r>
              <a:rPr lang="en-US" altLang="ja-JP" dirty="0"/>
              <a:t>(GPR</a:t>
            </a:r>
            <a:r>
              <a:rPr lang="ja-JP" altLang="en-US" dirty="0"/>
              <a:t>追跡</a:t>
            </a:r>
            <a:r>
              <a:rPr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70F76EFE-BC5C-F997-5C67-1D53A72D8100}"/>
              </a:ext>
            </a:extLst>
          </p:cNvPr>
          <p:cNvSpPr>
            <a:spLocks noGrp="1"/>
          </p:cNvSpPr>
          <p:nvPr>
            <p:ph type="sldNum" sz="quarter" idx="12"/>
          </p:nvPr>
        </p:nvSpPr>
        <p:spPr/>
        <p:txBody>
          <a:bodyPr/>
          <a:lstStyle/>
          <a:p>
            <a:fld id="{F4F93977-CC68-4F92-83A3-0276DC4D9982}" type="slidenum">
              <a:rPr kumimoji="1" lang="ja-JP" altLang="en-US" smtClean="0"/>
              <a:pPr/>
              <a:t>20</a:t>
            </a:fld>
            <a:endParaRPr kumimoji="1" lang="ja-JP" altLang="en-US"/>
          </a:p>
        </p:txBody>
      </p:sp>
      <p:sp>
        <p:nvSpPr>
          <p:cNvPr id="5" name="フローチャート: 処理 4">
            <a:extLst>
              <a:ext uri="{FF2B5EF4-FFF2-40B4-BE49-F238E27FC236}">
                <a16:creationId xmlns:a16="http://schemas.microsoft.com/office/drawing/2014/main" id="{6D759D47-58CE-B26E-9683-E617C349E7FC}"/>
              </a:ext>
            </a:extLst>
          </p:cNvPr>
          <p:cNvSpPr/>
          <p:nvPr/>
        </p:nvSpPr>
        <p:spPr>
          <a:xfrm>
            <a:off x="1635524" y="4275178"/>
            <a:ext cx="2379213" cy="229954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CB65B3A9-10FD-F604-41BF-C160BD5A9728}"/>
              </a:ext>
            </a:extLst>
          </p:cNvPr>
          <p:cNvSpPr/>
          <p:nvPr/>
        </p:nvSpPr>
        <p:spPr>
          <a:xfrm>
            <a:off x="2744070" y="5233610"/>
            <a:ext cx="210207" cy="210207"/>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C7244AE7-70AF-8F75-F871-8012F749246E}"/>
              </a:ext>
            </a:extLst>
          </p:cNvPr>
          <p:cNvSpPr/>
          <p:nvPr/>
        </p:nvSpPr>
        <p:spPr>
          <a:xfrm>
            <a:off x="2379784" y="4783411"/>
            <a:ext cx="714703" cy="735724"/>
          </a:xfrm>
          <a:prstGeom prst="ellipse">
            <a:avLst/>
          </a:prstGeom>
          <a:no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右 10">
            <a:extLst>
              <a:ext uri="{FF2B5EF4-FFF2-40B4-BE49-F238E27FC236}">
                <a16:creationId xmlns:a16="http://schemas.microsoft.com/office/drawing/2014/main" id="{4364B224-CDFE-0D3F-796A-B2A6EC23AB6F}"/>
              </a:ext>
            </a:extLst>
          </p:cNvPr>
          <p:cNvSpPr/>
          <p:nvPr/>
        </p:nvSpPr>
        <p:spPr>
          <a:xfrm>
            <a:off x="1988961" y="5046170"/>
            <a:ext cx="781025" cy="21020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4D2DD1F0-3D93-A4AD-1953-3EAF30A4899E}"/>
              </a:ext>
            </a:extLst>
          </p:cNvPr>
          <p:cNvCxnSpPr>
            <a:cxnSpLocks/>
            <a:stCxn id="11" idx="1"/>
            <a:endCxn id="25" idx="2"/>
          </p:cNvCxnSpPr>
          <p:nvPr/>
        </p:nvCxnSpPr>
        <p:spPr>
          <a:xfrm flipV="1">
            <a:off x="1988961" y="4676837"/>
            <a:ext cx="801173" cy="474437"/>
          </a:xfrm>
          <a:prstGeom prst="line">
            <a:avLst/>
          </a:prstGeom>
        </p:spPr>
        <p:style>
          <a:lnRef idx="2">
            <a:schemeClr val="accent1"/>
          </a:lnRef>
          <a:fillRef idx="0">
            <a:schemeClr val="accent1"/>
          </a:fillRef>
          <a:effectRef idx="1">
            <a:schemeClr val="accent1"/>
          </a:effectRef>
          <a:fontRef idx="minor">
            <a:schemeClr val="tx1"/>
          </a:fontRef>
        </p:style>
      </p:cxnSp>
      <p:sp>
        <p:nvSpPr>
          <p:cNvPr id="13" name="フローチャート: 処理 12">
            <a:extLst>
              <a:ext uri="{FF2B5EF4-FFF2-40B4-BE49-F238E27FC236}">
                <a16:creationId xmlns:a16="http://schemas.microsoft.com/office/drawing/2014/main" id="{68818F36-B3F7-77B9-69AB-5E87FEE1355B}"/>
              </a:ext>
            </a:extLst>
          </p:cNvPr>
          <p:cNvSpPr/>
          <p:nvPr/>
        </p:nvSpPr>
        <p:spPr>
          <a:xfrm>
            <a:off x="5047064" y="4275178"/>
            <a:ext cx="2379213" cy="229954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9D5A3977-F327-0387-1BCE-1CA8967C7CFF}"/>
              </a:ext>
            </a:extLst>
          </p:cNvPr>
          <p:cNvSpPr/>
          <p:nvPr/>
        </p:nvSpPr>
        <p:spPr>
          <a:xfrm>
            <a:off x="6242569" y="5481309"/>
            <a:ext cx="210207" cy="210207"/>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851B9216-B5C6-E4A0-3D81-C1188638EEDC}"/>
              </a:ext>
            </a:extLst>
          </p:cNvPr>
          <p:cNvSpPr/>
          <p:nvPr/>
        </p:nvSpPr>
        <p:spPr>
          <a:xfrm>
            <a:off x="5821456" y="4751068"/>
            <a:ext cx="714703" cy="735724"/>
          </a:xfrm>
          <a:prstGeom prst="ellipse">
            <a:avLst/>
          </a:prstGeom>
          <a:no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矢印: 右 15">
            <a:extLst>
              <a:ext uri="{FF2B5EF4-FFF2-40B4-BE49-F238E27FC236}">
                <a16:creationId xmlns:a16="http://schemas.microsoft.com/office/drawing/2014/main" id="{00CA489A-0CD1-DE3E-5A4C-BE544594AED9}"/>
              </a:ext>
            </a:extLst>
          </p:cNvPr>
          <p:cNvSpPr/>
          <p:nvPr/>
        </p:nvSpPr>
        <p:spPr>
          <a:xfrm>
            <a:off x="5430633" y="5024588"/>
            <a:ext cx="714703" cy="210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648C4195-B947-38A0-5271-7218FE9F901A}"/>
              </a:ext>
            </a:extLst>
          </p:cNvPr>
          <p:cNvSpPr/>
          <p:nvPr/>
        </p:nvSpPr>
        <p:spPr>
          <a:xfrm>
            <a:off x="5580338" y="4512909"/>
            <a:ext cx="1196938" cy="124292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2D721998-7F80-A014-7D14-DCDF30D46D8D}"/>
              </a:ext>
            </a:extLst>
          </p:cNvPr>
          <p:cNvSpPr txBox="1"/>
          <p:nvPr/>
        </p:nvSpPr>
        <p:spPr>
          <a:xfrm>
            <a:off x="6237927" y="5980609"/>
            <a:ext cx="1196938" cy="369332"/>
          </a:xfrm>
          <a:prstGeom prst="rect">
            <a:avLst/>
          </a:prstGeom>
          <a:noFill/>
          <a:ln>
            <a:solidFill>
              <a:srgbClr val="FF0000"/>
            </a:solidFill>
          </a:ln>
        </p:spPr>
        <p:txBody>
          <a:bodyPr wrap="square" rtlCol="0">
            <a:spAutoFit/>
          </a:bodyPr>
          <a:lstStyle/>
          <a:p>
            <a:r>
              <a:rPr kumimoji="1" lang="ja-JP" altLang="en-US">
                <a:solidFill>
                  <a:srgbClr val="FF0000"/>
                </a:solidFill>
              </a:rPr>
              <a:t>拡張範囲</a:t>
            </a:r>
          </a:p>
        </p:txBody>
      </p:sp>
      <p:cxnSp>
        <p:nvCxnSpPr>
          <p:cNvPr id="21" name="直線コネクタ 20">
            <a:extLst>
              <a:ext uri="{FF2B5EF4-FFF2-40B4-BE49-F238E27FC236}">
                <a16:creationId xmlns:a16="http://schemas.microsoft.com/office/drawing/2014/main" id="{F081BFEF-CFF4-E097-35DE-1E1E73D8AD03}"/>
              </a:ext>
            </a:extLst>
          </p:cNvPr>
          <p:cNvCxnSpPr>
            <a:cxnSpLocks/>
            <a:stCxn id="17" idx="5"/>
            <a:endCxn id="20" idx="0"/>
          </p:cNvCxnSpPr>
          <p:nvPr/>
        </p:nvCxnSpPr>
        <p:spPr>
          <a:xfrm>
            <a:off x="6601988" y="5573810"/>
            <a:ext cx="234408" cy="40679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2" name="テキスト ボックス 21">
            <a:extLst>
              <a:ext uri="{FF2B5EF4-FFF2-40B4-BE49-F238E27FC236}">
                <a16:creationId xmlns:a16="http://schemas.microsoft.com/office/drawing/2014/main" id="{9750C9A4-ABEB-A26C-9997-6D56BFD94D36}"/>
              </a:ext>
            </a:extLst>
          </p:cNvPr>
          <p:cNvSpPr txBox="1"/>
          <p:nvPr/>
        </p:nvSpPr>
        <p:spPr>
          <a:xfrm>
            <a:off x="2164818" y="5582022"/>
            <a:ext cx="1277764" cy="369332"/>
          </a:xfrm>
          <a:prstGeom prst="rect">
            <a:avLst/>
          </a:prstGeom>
          <a:noFill/>
          <a:ln>
            <a:solidFill>
              <a:schemeClr val="accent3"/>
            </a:solidFill>
          </a:ln>
        </p:spPr>
        <p:txBody>
          <a:bodyPr wrap="square">
            <a:spAutoFit/>
          </a:bodyPr>
          <a:lstStyle/>
          <a:p>
            <a:r>
              <a:rPr kumimoji="1" lang="ja-JP" altLang="en-US">
                <a:solidFill>
                  <a:schemeClr val="accent3">
                    <a:lumMod val="75000"/>
                  </a:schemeClr>
                </a:solidFill>
              </a:rPr>
              <a:t>探索範囲</a:t>
            </a:r>
            <a:r>
              <a:rPr kumimoji="1" lang="en-US" altLang="ja-JP">
                <a:solidFill>
                  <a:schemeClr val="accent3">
                    <a:lumMod val="75000"/>
                  </a:schemeClr>
                </a:solidFill>
              </a:rPr>
              <a:t>R</a:t>
            </a:r>
            <a:endParaRPr kumimoji="1" lang="ja-JP" altLang="en-US">
              <a:solidFill>
                <a:schemeClr val="accent3">
                  <a:lumMod val="75000"/>
                </a:schemeClr>
              </a:solidFill>
            </a:endParaRPr>
          </a:p>
        </p:txBody>
      </p:sp>
      <p:sp>
        <p:nvSpPr>
          <p:cNvPr id="23" name="楕円 22">
            <a:extLst>
              <a:ext uri="{FF2B5EF4-FFF2-40B4-BE49-F238E27FC236}">
                <a16:creationId xmlns:a16="http://schemas.microsoft.com/office/drawing/2014/main" id="{B843B573-1D50-C6B8-6DC0-06A915298BA0}"/>
              </a:ext>
            </a:extLst>
          </p:cNvPr>
          <p:cNvSpPr/>
          <p:nvPr/>
        </p:nvSpPr>
        <p:spPr>
          <a:xfrm>
            <a:off x="1711863" y="5046169"/>
            <a:ext cx="210207" cy="210207"/>
          </a:xfrm>
          <a:prstGeom prst="ellipse">
            <a:avLst/>
          </a:prstGeom>
          <a:noFill/>
          <a:ln w="28575">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0D30E663-F634-6B35-721D-DE5C69253E32}"/>
              </a:ext>
            </a:extLst>
          </p:cNvPr>
          <p:cNvSpPr/>
          <p:nvPr/>
        </p:nvSpPr>
        <p:spPr>
          <a:xfrm>
            <a:off x="5099867" y="5036056"/>
            <a:ext cx="210207" cy="210207"/>
          </a:xfrm>
          <a:prstGeom prst="ellipse">
            <a:avLst/>
          </a:prstGeom>
          <a:noFill/>
          <a:ln w="28575">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92A90197-F1A3-2E3E-412E-0F9CB5BF98F6}"/>
              </a:ext>
            </a:extLst>
          </p:cNvPr>
          <p:cNvSpPr txBox="1"/>
          <p:nvPr/>
        </p:nvSpPr>
        <p:spPr>
          <a:xfrm>
            <a:off x="1667433" y="4307505"/>
            <a:ext cx="2245402" cy="369332"/>
          </a:xfrm>
          <a:prstGeom prst="rect">
            <a:avLst/>
          </a:prstGeom>
          <a:noFill/>
          <a:ln>
            <a:solidFill>
              <a:schemeClr val="accent1"/>
            </a:solidFill>
          </a:ln>
        </p:spPr>
        <p:txBody>
          <a:bodyPr wrap="square" rtlCol="0">
            <a:spAutoFit/>
          </a:bodyPr>
          <a:lstStyle/>
          <a:p>
            <a:r>
              <a:rPr kumimoji="1" lang="en-US" altLang="ja-JP">
                <a:solidFill>
                  <a:srgbClr val="0070C0"/>
                </a:solidFill>
              </a:rPr>
              <a:t>GPR</a:t>
            </a:r>
            <a:r>
              <a:rPr kumimoji="1" lang="ja-JP" altLang="en-US">
                <a:solidFill>
                  <a:srgbClr val="0070C0"/>
                </a:solidFill>
              </a:rPr>
              <a:t>での予測速度</a:t>
            </a:r>
            <a:r>
              <a:rPr kumimoji="1" lang="en-US" altLang="ja-JP">
                <a:solidFill>
                  <a:srgbClr val="0070C0"/>
                </a:solidFill>
              </a:rPr>
              <a:t>V</a:t>
            </a:r>
            <a:endParaRPr kumimoji="1" lang="ja-JP" altLang="en-US">
              <a:solidFill>
                <a:srgbClr val="0070C0"/>
              </a:solidFill>
            </a:endParaRPr>
          </a:p>
        </p:txBody>
      </p:sp>
      <p:sp>
        <p:nvSpPr>
          <p:cNvPr id="27" name="フローチャート: 処理 26">
            <a:extLst>
              <a:ext uri="{FF2B5EF4-FFF2-40B4-BE49-F238E27FC236}">
                <a16:creationId xmlns:a16="http://schemas.microsoft.com/office/drawing/2014/main" id="{5ADD9F4D-779E-6BCA-6154-2FD5EA9F2788}"/>
              </a:ext>
            </a:extLst>
          </p:cNvPr>
          <p:cNvSpPr/>
          <p:nvPr/>
        </p:nvSpPr>
        <p:spPr>
          <a:xfrm>
            <a:off x="2604505" y="1151151"/>
            <a:ext cx="3746730" cy="2612821"/>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D3CD1003-7B89-9272-F211-B3A8C29089DC}"/>
              </a:ext>
            </a:extLst>
          </p:cNvPr>
          <p:cNvSpPr/>
          <p:nvPr/>
        </p:nvSpPr>
        <p:spPr>
          <a:xfrm>
            <a:off x="4961989" y="2253984"/>
            <a:ext cx="210207" cy="210207"/>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9" name="直線矢印コネクタ 28">
            <a:extLst>
              <a:ext uri="{FF2B5EF4-FFF2-40B4-BE49-F238E27FC236}">
                <a16:creationId xmlns:a16="http://schemas.microsoft.com/office/drawing/2014/main" id="{13B04D13-41F9-9B3C-C3A7-2B0D2920F132}"/>
              </a:ext>
            </a:extLst>
          </p:cNvPr>
          <p:cNvCxnSpPr>
            <a:cxnSpLocks/>
          </p:cNvCxnSpPr>
          <p:nvPr/>
        </p:nvCxnSpPr>
        <p:spPr>
          <a:xfrm>
            <a:off x="4087185" y="2262328"/>
            <a:ext cx="838882" cy="3187"/>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30" name="楕円 29">
            <a:extLst>
              <a:ext uri="{FF2B5EF4-FFF2-40B4-BE49-F238E27FC236}">
                <a16:creationId xmlns:a16="http://schemas.microsoft.com/office/drawing/2014/main" id="{13D3C7A1-F369-8C0A-187A-CF7ED427A80C}"/>
              </a:ext>
            </a:extLst>
          </p:cNvPr>
          <p:cNvSpPr/>
          <p:nvPr/>
        </p:nvSpPr>
        <p:spPr>
          <a:xfrm>
            <a:off x="4512822" y="1779256"/>
            <a:ext cx="1055463" cy="1029335"/>
          </a:xfrm>
          <a:prstGeom prst="ellipse">
            <a:avLst/>
          </a:prstGeom>
          <a:noFill/>
          <a:ln w="28575">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C00C76F7-F36E-5E38-38D0-20A5C9EDC55F}"/>
              </a:ext>
            </a:extLst>
          </p:cNvPr>
          <p:cNvSpPr txBox="1"/>
          <p:nvPr/>
        </p:nvSpPr>
        <p:spPr>
          <a:xfrm>
            <a:off x="4133822" y="1275604"/>
            <a:ext cx="1117643" cy="369332"/>
          </a:xfrm>
          <a:prstGeom prst="rect">
            <a:avLst/>
          </a:prstGeom>
          <a:noFill/>
          <a:ln>
            <a:solidFill>
              <a:schemeClr val="accent1"/>
            </a:solidFill>
          </a:ln>
        </p:spPr>
        <p:txBody>
          <a:bodyPr wrap="square" rtlCol="0">
            <a:spAutoFit/>
          </a:bodyPr>
          <a:lstStyle/>
          <a:p>
            <a:r>
              <a:rPr kumimoji="1" lang="ja-JP" altLang="en-US">
                <a:solidFill>
                  <a:srgbClr val="0070C0"/>
                </a:solidFill>
              </a:rPr>
              <a:t>予測速度</a:t>
            </a:r>
          </a:p>
        </p:txBody>
      </p:sp>
      <p:sp>
        <p:nvSpPr>
          <p:cNvPr id="32" name="テキスト ボックス 31">
            <a:extLst>
              <a:ext uri="{FF2B5EF4-FFF2-40B4-BE49-F238E27FC236}">
                <a16:creationId xmlns:a16="http://schemas.microsoft.com/office/drawing/2014/main" id="{C5EA3CEE-075C-4A2C-8FFB-0FB261F93B44}"/>
              </a:ext>
            </a:extLst>
          </p:cNvPr>
          <p:cNvSpPr txBox="1"/>
          <p:nvPr/>
        </p:nvSpPr>
        <p:spPr>
          <a:xfrm>
            <a:off x="4463896" y="2953053"/>
            <a:ext cx="1309893" cy="369332"/>
          </a:xfrm>
          <a:prstGeom prst="rect">
            <a:avLst/>
          </a:prstGeom>
          <a:noFill/>
          <a:ln>
            <a:solidFill>
              <a:schemeClr val="accent3">
                <a:lumMod val="75000"/>
              </a:schemeClr>
            </a:solidFill>
          </a:ln>
        </p:spPr>
        <p:txBody>
          <a:bodyPr wrap="square" rtlCol="0">
            <a:spAutoFit/>
          </a:bodyPr>
          <a:lstStyle/>
          <a:p>
            <a:r>
              <a:rPr kumimoji="1" lang="ja-JP" altLang="en-US">
                <a:solidFill>
                  <a:schemeClr val="accent3">
                    <a:lumMod val="75000"/>
                  </a:schemeClr>
                </a:solidFill>
              </a:rPr>
              <a:t>探索範囲</a:t>
            </a:r>
            <a:r>
              <a:rPr kumimoji="1" lang="en-US" altLang="ja-JP">
                <a:solidFill>
                  <a:schemeClr val="accent3">
                    <a:lumMod val="75000"/>
                  </a:schemeClr>
                </a:solidFill>
              </a:rPr>
              <a:t>R</a:t>
            </a:r>
            <a:endParaRPr kumimoji="1" lang="ja-JP" altLang="en-US">
              <a:solidFill>
                <a:schemeClr val="accent3">
                  <a:lumMod val="75000"/>
                </a:schemeClr>
              </a:solidFill>
            </a:endParaRPr>
          </a:p>
        </p:txBody>
      </p:sp>
      <p:sp>
        <p:nvSpPr>
          <p:cNvPr id="33" name="テキスト ボックス 32">
            <a:extLst>
              <a:ext uri="{FF2B5EF4-FFF2-40B4-BE49-F238E27FC236}">
                <a16:creationId xmlns:a16="http://schemas.microsoft.com/office/drawing/2014/main" id="{69D7ABB1-FF00-0ED0-71B4-2F99DD01983B}"/>
              </a:ext>
            </a:extLst>
          </p:cNvPr>
          <p:cNvSpPr txBox="1"/>
          <p:nvPr/>
        </p:nvSpPr>
        <p:spPr>
          <a:xfrm>
            <a:off x="5554150" y="1717324"/>
            <a:ext cx="742070" cy="369332"/>
          </a:xfrm>
          <a:prstGeom prst="rect">
            <a:avLst/>
          </a:prstGeom>
          <a:noFill/>
          <a:ln>
            <a:noFill/>
          </a:ln>
        </p:spPr>
        <p:txBody>
          <a:bodyPr wrap="square" rtlCol="0">
            <a:spAutoFit/>
          </a:bodyPr>
          <a:lstStyle/>
          <a:p>
            <a:r>
              <a:rPr kumimoji="1" lang="ja-JP" altLang="en-US">
                <a:solidFill>
                  <a:schemeClr val="tx1">
                    <a:lumMod val="50000"/>
                    <a:lumOff val="50000"/>
                  </a:schemeClr>
                </a:solidFill>
              </a:rPr>
              <a:t>粒子</a:t>
            </a:r>
          </a:p>
        </p:txBody>
      </p:sp>
      <p:cxnSp>
        <p:nvCxnSpPr>
          <p:cNvPr id="34" name="直線コネクタ 33">
            <a:extLst>
              <a:ext uri="{FF2B5EF4-FFF2-40B4-BE49-F238E27FC236}">
                <a16:creationId xmlns:a16="http://schemas.microsoft.com/office/drawing/2014/main" id="{EFF48880-F7C8-292D-8D22-AFD5C9B69832}"/>
              </a:ext>
            </a:extLst>
          </p:cNvPr>
          <p:cNvCxnSpPr>
            <a:cxnSpLocks/>
            <a:stCxn id="28" idx="7"/>
            <a:endCxn id="35" idx="4"/>
          </p:cNvCxnSpPr>
          <p:nvPr/>
        </p:nvCxnSpPr>
        <p:spPr>
          <a:xfrm flipV="1">
            <a:off x="5141412" y="2037740"/>
            <a:ext cx="689558" cy="247028"/>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5" name="楕円 34">
            <a:extLst>
              <a:ext uri="{FF2B5EF4-FFF2-40B4-BE49-F238E27FC236}">
                <a16:creationId xmlns:a16="http://schemas.microsoft.com/office/drawing/2014/main" id="{BF26B2DE-3CE8-CCB5-9EAA-A9486360C8FF}"/>
              </a:ext>
            </a:extLst>
          </p:cNvPr>
          <p:cNvSpPr/>
          <p:nvPr/>
        </p:nvSpPr>
        <p:spPr>
          <a:xfrm>
            <a:off x="5361519" y="1637211"/>
            <a:ext cx="938901" cy="400529"/>
          </a:xfrm>
          <a:prstGeom prst="ellipse">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B499BCA2-ECB5-F13C-8498-0F1D32B4A942}"/>
              </a:ext>
            </a:extLst>
          </p:cNvPr>
          <p:cNvSpPr/>
          <p:nvPr/>
        </p:nvSpPr>
        <p:spPr>
          <a:xfrm>
            <a:off x="3772248" y="2161254"/>
            <a:ext cx="210207" cy="210207"/>
          </a:xfrm>
          <a:prstGeom prst="ellipse">
            <a:avLst/>
          </a:prstGeom>
          <a:noFill/>
          <a:ln w="28575">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矢印コネクタ 36">
            <a:extLst>
              <a:ext uri="{FF2B5EF4-FFF2-40B4-BE49-F238E27FC236}">
                <a16:creationId xmlns:a16="http://schemas.microsoft.com/office/drawing/2014/main" id="{F73E62A1-22CF-1117-1C86-0FFE7D626B8E}"/>
              </a:ext>
            </a:extLst>
          </p:cNvPr>
          <p:cNvCxnSpPr>
            <a:cxnSpLocks/>
          </p:cNvCxnSpPr>
          <p:nvPr/>
        </p:nvCxnSpPr>
        <p:spPr>
          <a:xfrm>
            <a:off x="2901025" y="2271386"/>
            <a:ext cx="838882" cy="3187"/>
          </a:xfrm>
          <a:prstGeom prst="straightConnector1">
            <a:avLst/>
          </a:prstGeom>
          <a:ln w="57150">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F07CF7DB-18D1-5E56-0AA3-5E8DD0976BDC}"/>
              </a:ext>
            </a:extLst>
          </p:cNvPr>
          <p:cNvCxnSpPr>
            <a:cxnSpLocks/>
            <a:endCxn id="31" idx="2"/>
          </p:cNvCxnSpPr>
          <p:nvPr/>
        </p:nvCxnSpPr>
        <p:spPr>
          <a:xfrm flipV="1">
            <a:off x="4440502" y="1644936"/>
            <a:ext cx="252142" cy="596025"/>
          </a:xfrm>
          <a:prstGeom prst="line">
            <a:avLst/>
          </a:prstGeom>
          <a:ln w="28575"/>
        </p:spPr>
        <p:style>
          <a:lnRef idx="2">
            <a:schemeClr val="accent1"/>
          </a:lnRef>
          <a:fillRef idx="0">
            <a:schemeClr val="accent1"/>
          </a:fillRef>
          <a:effectRef idx="1">
            <a:schemeClr val="accent1"/>
          </a:effectRef>
          <a:fontRef idx="minor">
            <a:schemeClr val="tx1"/>
          </a:fontRef>
        </p:style>
      </p:cxnSp>
      <p:sp>
        <p:nvSpPr>
          <p:cNvPr id="39" name="楕円 38">
            <a:extLst>
              <a:ext uri="{FF2B5EF4-FFF2-40B4-BE49-F238E27FC236}">
                <a16:creationId xmlns:a16="http://schemas.microsoft.com/office/drawing/2014/main" id="{79B0E112-5234-779B-CF76-84C8CB4923F6}"/>
              </a:ext>
            </a:extLst>
          </p:cNvPr>
          <p:cNvSpPr/>
          <p:nvPr/>
        </p:nvSpPr>
        <p:spPr>
          <a:xfrm>
            <a:off x="2643898" y="2157224"/>
            <a:ext cx="210207" cy="210207"/>
          </a:xfrm>
          <a:prstGeom prst="ellipse">
            <a:avLst/>
          </a:prstGeom>
          <a:noFill/>
          <a:ln w="28575">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13F8F941-DFC9-7D44-5162-8999F7C995BE}"/>
              </a:ext>
            </a:extLst>
          </p:cNvPr>
          <p:cNvSpPr txBox="1"/>
          <p:nvPr/>
        </p:nvSpPr>
        <p:spPr>
          <a:xfrm>
            <a:off x="2643898" y="1276686"/>
            <a:ext cx="1117643" cy="369332"/>
          </a:xfrm>
          <a:prstGeom prst="rect">
            <a:avLst/>
          </a:prstGeom>
          <a:noFill/>
          <a:ln>
            <a:solidFill>
              <a:schemeClr val="accent1"/>
            </a:solidFill>
          </a:ln>
        </p:spPr>
        <p:txBody>
          <a:bodyPr wrap="square" rtlCol="0">
            <a:spAutoFit/>
          </a:bodyPr>
          <a:lstStyle/>
          <a:p>
            <a:r>
              <a:rPr kumimoji="1" lang="ja-JP" altLang="en-US">
                <a:solidFill>
                  <a:srgbClr val="0070C0"/>
                </a:solidFill>
              </a:rPr>
              <a:t>位置差分</a:t>
            </a:r>
          </a:p>
        </p:txBody>
      </p:sp>
      <p:cxnSp>
        <p:nvCxnSpPr>
          <p:cNvPr id="41" name="直線コネクタ 40">
            <a:extLst>
              <a:ext uri="{FF2B5EF4-FFF2-40B4-BE49-F238E27FC236}">
                <a16:creationId xmlns:a16="http://schemas.microsoft.com/office/drawing/2014/main" id="{5823649F-26AD-EB00-6802-983E8DADE790}"/>
              </a:ext>
            </a:extLst>
          </p:cNvPr>
          <p:cNvCxnSpPr>
            <a:cxnSpLocks/>
          </p:cNvCxnSpPr>
          <p:nvPr/>
        </p:nvCxnSpPr>
        <p:spPr>
          <a:xfrm flipH="1" flipV="1">
            <a:off x="3224132" y="1643663"/>
            <a:ext cx="135118" cy="650260"/>
          </a:xfrm>
          <a:prstGeom prst="line">
            <a:avLst/>
          </a:prstGeom>
          <a:ln w="28575"/>
        </p:spPr>
        <p:style>
          <a:lnRef idx="2">
            <a:schemeClr val="accent1"/>
          </a:lnRef>
          <a:fillRef idx="0">
            <a:schemeClr val="accent1"/>
          </a:fillRef>
          <a:effectRef idx="1">
            <a:schemeClr val="accent1"/>
          </a:effectRef>
          <a:fontRef idx="minor">
            <a:schemeClr val="tx1"/>
          </a:fontRef>
        </p:style>
      </p:cxnSp>
      <p:sp>
        <p:nvSpPr>
          <p:cNvPr id="42" name="次の値と等しい 41">
            <a:extLst>
              <a:ext uri="{FF2B5EF4-FFF2-40B4-BE49-F238E27FC236}">
                <a16:creationId xmlns:a16="http://schemas.microsoft.com/office/drawing/2014/main" id="{65310934-AF5C-74E2-6D18-D0FD0DB97150}"/>
              </a:ext>
            </a:extLst>
          </p:cNvPr>
          <p:cNvSpPr/>
          <p:nvPr/>
        </p:nvSpPr>
        <p:spPr>
          <a:xfrm>
            <a:off x="3747196" y="1294138"/>
            <a:ext cx="419094" cy="311528"/>
          </a:xfrm>
          <a:prstGeom prst="mathEqual">
            <a:avLst>
              <a:gd name="adj1" fmla="val 14714"/>
              <a:gd name="adj2" fmla="val 1763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6" name="テキスト ボックス 45">
            <a:extLst>
              <a:ext uri="{FF2B5EF4-FFF2-40B4-BE49-F238E27FC236}">
                <a16:creationId xmlns:a16="http://schemas.microsoft.com/office/drawing/2014/main" id="{802F0D51-76DA-A1B8-7379-6D23B5C0E21C}"/>
              </a:ext>
            </a:extLst>
          </p:cNvPr>
          <p:cNvSpPr txBox="1"/>
          <p:nvPr/>
        </p:nvSpPr>
        <p:spPr>
          <a:xfrm>
            <a:off x="2512162" y="768865"/>
            <a:ext cx="4258725" cy="369332"/>
          </a:xfrm>
          <a:prstGeom prst="rect">
            <a:avLst/>
          </a:prstGeom>
          <a:noFill/>
        </p:spPr>
        <p:txBody>
          <a:bodyPr wrap="square" rtlCol="0">
            <a:spAutoFit/>
          </a:bodyPr>
          <a:lstStyle/>
          <a:p>
            <a:r>
              <a:rPr kumimoji="1" lang="ja-JP" altLang="en-US" dirty="0"/>
              <a:t>時系列ベースのトラッキング</a:t>
            </a:r>
            <a:r>
              <a:rPr kumimoji="1" lang="en-US" altLang="ja-JP" dirty="0"/>
              <a:t>(</a:t>
            </a:r>
            <a:r>
              <a:rPr kumimoji="1" lang="ja-JP" altLang="en-US" dirty="0"/>
              <a:t>関連法</a:t>
            </a:r>
            <a:r>
              <a:rPr kumimoji="1" lang="en-US" altLang="ja-JP" dirty="0"/>
              <a:t>)</a:t>
            </a:r>
            <a:endParaRPr kumimoji="1" lang="ja-JP" altLang="en-US" dirty="0"/>
          </a:p>
        </p:txBody>
      </p:sp>
      <p:sp>
        <p:nvSpPr>
          <p:cNvPr id="47" name="正方形/長方形 46">
            <a:extLst>
              <a:ext uri="{FF2B5EF4-FFF2-40B4-BE49-F238E27FC236}">
                <a16:creationId xmlns:a16="http://schemas.microsoft.com/office/drawing/2014/main" id="{3DBDF982-1DCF-FB53-0B16-096E6E40AD88}"/>
              </a:ext>
            </a:extLst>
          </p:cNvPr>
          <p:cNvSpPr/>
          <p:nvPr/>
        </p:nvSpPr>
        <p:spPr>
          <a:xfrm>
            <a:off x="60292" y="3825904"/>
            <a:ext cx="9034271" cy="291334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4F68B9A3-B4D6-CE1C-1C81-2FA122FF28B5}"/>
              </a:ext>
            </a:extLst>
          </p:cNvPr>
          <p:cNvSpPr txBox="1"/>
          <p:nvPr/>
        </p:nvSpPr>
        <p:spPr>
          <a:xfrm>
            <a:off x="1966242" y="3888644"/>
            <a:ext cx="2847557" cy="369332"/>
          </a:xfrm>
          <a:prstGeom prst="rect">
            <a:avLst/>
          </a:prstGeom>
          <a:noFill/>
        </p:spPr>
        <p:txBody>
          <a:bodyPr wrap="square" rtlCol="0">
            <a:spAutoFit/>
          </a:bodyPr>
          <a:lstStyle/>
          <a:p>
            <a:r>
              <a:rPr kumimoji="1" lang="ja-JP" altLang="en-US"/>
              <a:t>不確かさ　</a:t>
            </a:r>
            <a:r>
              <a:rPr kumimoji="1" lang="ja-JP" altLang="en-US" b="1"/>
              <a:t>低</a:t>
            </a:r>
          </a:p>
        </p:txBody>
      </p:sp>
      <p:sp>
        <p:nvSpPr>
          <p:cNvPr id="64" name="テキスト ボックス 63">
            <a:extLst>
              <a:ext uri="{FF2B5EF4-FFF2-40B4-BE49-F238E27FC236}">
                <a16:creationId xmlns:a16="http://schemas.microsoft.com/office/drawing/2014/main" id="{DF641D32-6731-0CE9-CD0D-337FF9848DA4}"/>
              </a:ext>
            </a:extLst>
          </p:cNvPr>
          <p:cNvSpPr txBox="1"/>
          <p:nvPr/>
        </p:nvSpPr>
        <p:spPr>
          <a:xfrm>
            <a:off x="5382715" y="3897156"/>
            <a:ext cx="2847557" cy="369332"/>
          </a:xfrm>
          <a:prstGeom prst="rect">
            <a:avLst/>
          </a:prstGeom>
          <a:noFill/>
        </p:spPr>
        <p:txBody>
          <a:bodyPr wrap="square" rtlCol="0">
            <a:spAutoFit/>
          </a:bodyPr>
          <a:lstStyle/>
          <a:p>
            <a:r>
              <a:rPr kumimoji="1" lang="ja-JP" altLang="en-US"/>
              <a:t>不確かさ　</a:t>
            </a:r>
            <a:r>
              <a:rPr kumimoji="1" lang="ja-JP" altLang="en-US" b="1"/>
              <a:t>高</a:t>
            </a:r>
          </a:p>
        </p:txBody>
      </p:sp>
      <p:sp>
        <p:nvSpPr>
          <p:cNvPr id="90" name="テキスト ボックス 89">
            <a:extLst>
              <a:ext uri="{FF2B5EF4-FFF2-40B4-BE49-F238E27FC236}">
                <a16:creationId xmlns:a16="http://schemas.microsoft.com/office/drawing/2014/main" id="{3240B14C-F6CE-7A1A-68CB-3C4B30FD2444}"/>
              </a:ext>
            </a:extLst>
          </p:cNvPr>
          <p:cNvSpPr txBox="1"/>
          <p:nvPr/>
        </p:nvSpPr>
        <p:spPr>
          <a:xfrm>
            <a:off x="49437" y="3456572"/>
            <a:ext cx="890611" cy="369332"/>
          </a:xfrm>
          <a:prstGeom prst="rect">
            <a:avLst/>
          </a:prstGeom>
          <a:solidFill>
            <a:schemeClr val="accent1"/>
          </a:solidFill>
        </p:spPr>
        <p:txBody>
          <a:bodyPr wrap="square" rtlCol="0">
            <a:spAutoFit/>
          </a:bodyPr>
          <a:lstStyle/>
          <a:p>
            <a:r>
              <a:rPr kumimoji="1" lang="ja-JP" altLang="en-US" b="1" dirty="0">
                <a:solidFill>
                  <a:schemeClr val="bg1"/>
                </a:solidFill>
              </a:rPr>
              <a:t>従来法</a:t>
            </a:r>
          </a:p>
        </p:txBody>
      </p:sp>
    </p:spTree>
    <p:extLst>
      <p:ext uri="{BB962C8B-B14F-4D97-AF65-F5344CB8AC3E}">
        <p14:creationId xmlns:p14="http://schemas.microsoft.com/office/powerpoint/2010/main" val="3942788845"/>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ユーザー定義 1">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27131</TotalTime>
  <Words>1845</Words>
  <Application>Microsoft Office PowerPoint</Application>
  <PresentationFormat>画面に合わせる (4:3)</PresentationFormat>
  <Paragraphs>256</Paragraphs>
  <Slides>21</Slides>
  <Notes>12</Notes>
  <HiddenSlides>0</HiddenSlides>
  <MMClips>2</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21</vt:i4>
      </vt:variant>
    </vt:vector>
  </HeadingPairs>
  <TitlesOfParts>
    <vt:vector size="27" baseType="lpstr">
      <vt:lpstr>メイリオ</vt:lpstr>
      <vt:lpstr>游ゴシック</vt:lpstr>
      <vt:lpstr>Arial</vt:lpstr>
      <vt:lpstr>Cambria Math</vt:lpstr>
      <vt:lpstr>Segoe UI</vt:lpstr>
      <vt:lpstr>Office テーマ</vt:lpstr>
      <vt:lpstr>進捗報告 11月 </vt:lpstr>
      <vt:lpstr>先月行ったこと</vt:lpstr>
      <vt:lpstr>今月行ったこと</vt:lpstr>
      <vt:lpstr>研究背景(1/2)</vt:lpstr>
      <vt:lpstr>研究背景(2/2)</vt:lpstr>
      <vt:lpstr>研究目的</vt:lpstr>
      <vt:lpstr>FED-PV</vt:lpstr>
      <vt:lpstr>シミュレーションデータ</vt:lpstr>
      <vt:lpstr>シミュレーションデータ</vt:lpstr>
      <vt:lpstr>シミュレーションデータ</vt:lpstr>
      <vt:lpstr>シミュレーションデータ</vt:lpstr>
      <vt:lpstr>シミュレーションデータ</vt:lpstr>
      <vt:lpstr>従来法(GPR追跡)</vt:lpstr>
      <vt:lpstr>シミュレーション結果</vt:lpstr>
      <vt:lpstr>まとめ・課題</vt:lpstr>
      <vt:lpstr>PowerPoint プレゼンテーション</vt:lpstr>
      <vt:lpstr>レーダー原理(1/4)</vt:lpstr>
      <vt:lpstr>レーダー原理(2/4)</vt:lpstr>
      <vt:lpstr>レーダー原理(3/4)</vt:lpstr>
      <vt:lpstr>レーダー原理(4/4)</vt:lpstr>
      <vt:lpstr>従来法(GPR追跡)</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yasushi udagawa</dc:creator>
  <cp:lastModifiedBy>泰 宇田川</cp:lastModifiedBy>
  <cp:revision>59</cp:revision>
  <dcterms:created xsi:type="dcterms:W3CDTF">2025-07-07T00:46:49Z</dcterms:created>
  <dcterms:modified xsi:type="dcterms:W3CDTF">2026-09-11T02:31:23Z</dcterms:modified>
</cp:coreProperties>
</file>